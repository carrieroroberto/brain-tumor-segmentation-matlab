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8" r:id="rId2"/>
    <p:sldId id="257" r:id="rId3"/>
    <p:sldId id="280" r:id="rId4"/>
    <p:sldId id="284" r:id="rId5"/>
    <p:sldId id="307" r:id="rId6"/>
    <p:sldId id="285" r:id="rId7"/>
    <p:sldId id="286" r:id="rId8"/>
    <p:sldId id="288" r:id="rId9"/>
    <p:sldId id="287" r:id="rId10"/>
    <p:sldId id="289" r:id="rId11"/>
    <p:sldId id="291" r:id="rId12"/>
    <p:sldId id="292" r:id="rId13"/>
    <p:sldId id="293" r:id="rId14"/>
    <p:sldId id="294" r:id="rId15"/>
    <p:sldId id="295" r:id="rId16"/>
    <p:sldId id="296" r:id="rId17"/>
    <p:sldId id="306" r:id="rId18"/>
    <p:sldId id="300" r:id="rId19"/>
    <p:sldId id="303" r:id="rId20"/>
    <p:sldId id="301" r:id="rId21"/>
    <p:sldId id="302" r:id="rId22"/>
    <p:sldId id="304" r:id="rId2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80940" autoAdjust="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>
        <p:guide orient="horz" pos="2880"/>
        <p:guide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20/04/2026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7AD-854C-687B-023D-405B6B48F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6B974-5BDD-37E1-750A-4E37A133C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632B5D5-3F34-1BC7-BB23-E5F81C77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CB2B3B-131F-F00F-05E5-737E59A0A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97268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1134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887228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71657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Obiettivi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08" y="1484287"/>
            <a:ext cx="1080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dei tumori </a:t>
            </a:r>
            <a:r>
              <a:rPr lang="it-IT" sz="2800" b="1" dirty="0">
                <a:latin typeface="Aptos" panose="020B0004020202020204" pitchFamily="34" charset="0"/>
              </a:rPr>
              <a:t>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Bordi</a:t>
            </a:r>
            <a:r>
              <a:rPr lang="it-IT" sz="2800" dirty="0">
                <a:latin typeface="Aptos" panose="020B0004020202020204" pitchFamily="34" charset="0"/>
              </a:rPr>
              <a:t> dei gliomi </a:t>
            </a:r>
            <a:r>
              <a:rPr lang="it-IT" sz="2800" b="1" dirty="0">
                <a:latin typeface="Aptos" panose="020B0004020202020204" pitchFamily="34" charset="0"/>
              </a:rPr>
              <a:t>sfumati</a:t>
            </a:r>
            <a:r>
              <a:rPr lang="it-IT" sz="2800" dirty="0">
                <a:latin typeface="Aptos" panose="020B0004020202020204" pitchFamily="34" charset="0"/>
              </a:rPr>
              <a:t>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  <a:p>
            <a:pPr algn="just"/>
            <a:endParaRPr lang="it-IT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Implementazione in </a:t>
            </a:r>
            <a:r>
              <a:rPr lang="it-IT" sz="2800" b="1" dirty="0">
                <a:latin typeface="Aptos" panose="020B0004020202020204" pitchFamily="34" charset="0"/>
              </a:rPr>
              <a:t>MATLAB</a:t>
            </a:r>
            <a:r>
              <a:rPr lang="it-IT" sz="2800" dirty="0">
                <a:latin typeface="Aptos" panose="020B0004020202020204" pitchFamily="34" charset="0"/>
              </a:rPr>
              <a:t> di una pipeline di </a:t>
            </a:r>
            <a:r>
              <a:rPr lang="it-IT" sz="2800" b="1" dirty="0">
                <a:latin typeface="Aptos" panose="020B0004020202020204" pitchFamily="34" charset="0"/>
              </a:rPr>
              <a:t>segmentazione binaria 2D </a:t>
            </a:r>
            <a:r>
              <a:rPr lang="it-IT" sz="2800" dirty="0">
                <a:latin typeface="Aptos" panose="020B0004020202020204" pitchFamily="34" charset="0"/>
              </a:rPr>
              <a:t>con </a:t>
            </a:r>
            <a:r>
              <a:rPr lang="it-IT" sz="2800" b="1" dirty="0">
                <a:latin typeface="Aptos" panose="020B0004020202020204" pitchFamily="34" charset="0"/>
              </a:rPr>
              <a:t>tecniche tradizionali </a:t>
            </a:r>
            <a:r>
              <a:rPr lang="it-IT" sz="2800" dirty="0">
                <a:latin typeface="Aptos" panose="020B0004020202020204" pitchFamily="34" charset="0"/>
              </a:rPr>
              <a:t>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Valutazione delle </a:t>
            </a:r>
            <a:r>
              <a:rPr lang="it-IT" sz="2800" b="1" dirty="0">
                <a:latin typeface="Aptos" panose="020B0004020202020204" pitchFamily="34" charset="0"/>
              </a:rPr>
              <a:t>diverse configurazioni </a:t>
            </a:r>
            <a:r>
              <a:rPr lang="it-IT" sz="2800" dirty="0">
                <a:latin typeface="Aptos" panose="020B0004020202020204" pitchFamily="34" charset="0"/>
              </a:rPr>
              <a:t>con </a:t>
            </a:r>
            <a:r>
              <a:rPr lang="it-IT" sz="2800" b="1" dirty="0">
                <a:latin typeface="Aptos" panose="020B0004020202020204" pitchFamily="34" charset="0"/>
              </a:rPr>
              <a:t>metriche standard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6005" y="4508948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Ground truth </a:t>
            </a:r>
            <a:r>
              <a:rPr lang="it-IT" sz="2800" dirty="0">
                <a:latin typeface="Aptos" panose="020B0004020202020204" pitchFamily="34" charset="0"/>
              </a:rPr>
              <a:t>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</a:t>
            </a:r>
            <a:r>
              <a:rPr lang="it-IT" sz="2800" b="1" dirty="0" err="1">
                <a:latin typeface="Aptos" panose="020B0004020202020204" pitchFamily="34" charset="0"/>
              </a:rPr>
              <a:t>NIfTI</a:t>
            </a:r>
            <a:r>
              <a:rPr lang="it-IT" sz="2800" dirty="0">
                <a:latin typeface="Aptos" panose="020B0004020202020204" pitchFamily="34" charset="0"/>
              </a:rPr>
              <a:t> (.nii.gz)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b="1" dirty="0" err="1">
                <a:latin typeface="Aptos" panose="020B0004020202020204" pitchFamily="34" charset="0"/>
              </a:rPr>
              <a:t>skull-stripped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49" y="1435571"/>
            <a:ext cx="5033760" cy="126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o 6">
            <a:extLst>
              <a:ext uri="{FF2B5EF4-FFF2-40B4-BE49-F238E27FC236}">
                <a16:creationId xmlns:a16="http://schemas.microsoft.com/office/drawing/2014/main" id="{BC47B990-02D0-69D0-4CE4-A4202C9D1931}"/>
              </a:ext>
            </a:extLst>
          </p:cNvPr>
          <p:cNvGrpSpPr/>
          <p:nvPr/>
        </p:nvGrpSpPr>
        <p:grpSpPr>
          <a:xfrm>
            <a:off x="600269" y="1450978"/>
            <a:ext cx="2182901" cy="4834811"/>
            <a:chOff x="600269" y="1450978"/>
            <a:chExt cx="2182901" cy="4834811"/>
          </a:xfrm>
        </p:grpSpPr>
        <p:pic>
          <p:nvPicPr>
            <p:cNvPr id="15" name="Immagine 14">
              <a:extLst>
                <a:ext uri="{FF2B5EF4-FFF2-40B4-BE49-F238E27FC236}">
                  <a16:creationId xmlns:a16="http://schemas.microsoft.com/office/drawing/2014/main" id="{80DFBCBD-A969-AF48-B67B-A0EA361DC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53" t="8701" r="50196" b="62449"/>
            <a:stretch>
              <a:fillRect/>
            </a:stretch>
          </p:blipFill>
          <p:spPr>
            <a:xfrm>
              <a:off x="600269" y="1450978"/>
              <a:ext cx="2182901" cy="2403899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7670DA32-E1FF-C82B-73CC-91B7B01DA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793" t="8701" r="29732" b="62449"/>
            <a:stretch>
              <a:fillRect/>
            </a:stretch>
          </p:blipFill>
          <p:spPr>
            <a:xfrm>
              <a:off x="609600" y="3870355"/>
              <a:ext cx="2154908" cy="2415434"/>
            </a:xfrm>
            <a:prstGeom prst="rect">
              <a:avLst/>
            </a:prstGeom>
          </p:spPr>
        </p:pic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3075341" y="1857637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generale, </a:t>
            </a:r>
            <a:r>
              <a:rPr lang="it-IT" sz="2800" dirty="0">
                <a:latin typeface="Aptos" panose="020B0004020202020204" pitchFamily="34" charset="0"/>
              </a:rPr>
              <a:t>ma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CC56C40-5A41-3696-63F1-7C72D104A425}"/>
              </a:ext>
            </a:extLst>
          </p:cNvPr>
          <p:cNvSpPr txBox="1">
            <a:spLocks/>
          </p:cNvSpPr>
          <p:nvPr/>
        </p:nvSpPr>
        <p:spPr>
          <a:xfrm>
            <a:off x="3066010" y="4241303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 </a:t>
            </a:r>
            <a:r>
              <a:rPr lang="it-IT" sz="2800" dirty="0">
                <a:latin typeface="Aptos" panose="020B0004020202020204" pitchFamily="34" charset="0"/>
              </a:rPr>
              <a:t>ma non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C80F0D-B3D0-310D-01C5-0942969C1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o 8">
            <a:extLst>
              <a:ext uri="{FF2B5EF4-FFF2-40B4-BE49-F238E27FC236}">
                <a16:creationId xmlns:a16="http://schemas.microsoft.com/office/drawing/2014/main" id="{E491DE2E-ECB7-AB7C-C6BA-24376B57BDD2}"/>
              </a:ext>
            </a:extLst>
          </p:cNvPr>
          <p:cNvGrpSpPr/>
          <p:nvPr/>
        </p:nvGrpSpPr>
        <p:grpSpPr>
          <a:xfrm>
            <a:off x="600269" y="1475787"/>
            <a:ext cx="2179530" cy="4821998"/>
            <a:chOff x="600269" y="1475787"/>
            <a:chExt cx="2179530" cy="482199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68098492-46F2-5C72-32A4-A17F04DCD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02" t="8701" r="70923" b="62449"/>
            <a:stretch>
              <a:fillRect/>
            </a:stretch>
          </p:blipFill>
          <p:spPr>
            <a:xfrm>
              <a:off x="604912" y="1475787"/>
              <a:ext cx="2136292" cy="2394568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469B5344-1006-68CB-6552-7E04CEB2B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355" t="8701" r="9021" b="62449"/>
            <a:stretch>
              <a:fillRect/>
            </a:stretch>
          </p:blipFill>
          <p:spPr>
            <a:xfrm>
              <a:off x="600269" y="3877946"/>
              <a:ext cx="2179530" cy="2419839"/>
            </a:xfrm>
            <a:prstGeom prst="rect">
              <a:avLst/>
            </a:prstGeom>
          </p:spPr>
        </p:pic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3056679" y="1904590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 </a:t>
            </a:r>
            <a:r>
              <a:rPr lang="it-IT" sz="2800" dirty="0">
                <a:latin typeface="Aptos" panose="020B0004020202020204" pitchFamily="34" charset="0"/>
              </a:rPr>
              <a:t>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C0FF6F8-6546-51D6-A3D0-F49415D8F07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1C6D524-C01F-C4C0-0FEC-E37EE101D15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23C383D-E09A-4E05-B0A4-5FEC52B162B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56262AA-CE01-62E0-C67E-AD2B04ECA63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B3E5A8D-7C63-279B-441C-0C027236262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B11D9F8-E9EC-2AB6-D691-D4FFF4CB694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EA403A8-C5D2-82BB-4414-3FD96781C079}"/>
              </a:ext>
            </a:extLst>
          </p:cNvPr>
          <p:cNvSpPr txBox="1">
            <a:spLocks/>
          </p:cNvSpPr>
          <p:nvPr/>
        </p:nvSpPr>
        <p:spPr>
          <a:xfrm>
            <a:off x="3056679" y="4271281"/>
            <a:ext cx="8567291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regioni </a:t>
            </a:r>
            <a:r>
              <a:rPr lang="it-IT" sz="2800" b="1" dirty="0" err="1">
                <a:latin typeface="Aptos" panose="020B0004020202020204" pitchFamily="34" charset="0"/>
              </a:rPr>
              <a:t>iperintense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</p:spTree>
    <p:extLst>
      <p:ext uri="{BB962C8B-B14F-4D97-AF65-F5344CB8AC3E}">
        <p14:creationId xmlns:p14="http://schemas.microsoft.com/office/powerpoint/2010/main" val="4279166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44B361DA-5D62-F27A-B9C2-7EBABB43D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662" y="1723382"/>
            <a:ext cx="11412677" cy="138318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389661" y="3429000"/>
            <a:ext cx="11552212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delle sequenze per la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Applicazione delle tecniche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della maschera di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250127" y="5788816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Volume di Esempio: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17816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82011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</a:t>
            </a:r>
            <a:r>
              <a:rPr lang="it-IT" sz="2800" b="1" dirty="0">
                <a:latin typeface="Aptos" panose="020B0004020202020204" pitchFamily="34" charset="0"/>
              </a:rPr>
              <a:t>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quali modalità sono più informative </a:t>
            </a:r>
            <a:r>
              <a:rPr lang="it-IT" sz="2800" dirty="0">
                <a:latin typeface="Aptos" panose="020B0004020202020204" pitchFamily="34" charset="0"/>
              </a:rPr>
              <a:t>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12193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392299" y="1630818"/>
            <a:ext cx="503811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con CLAHE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</a:t>
            </a:r>
            <a:r>
              <a:rPr lang="it-IT" sz="2800" b="1" dirty="0">
                <a:latin typeface="Aptos" panose="020B0004020202020204" pitchFamily="34" charset="0"/>
              </a:rPr>
              <a:t>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applicata nella pipeline (artefatti </a:t>
            </a:r>
            <a:r>
              <a:rPr lang="it-IT" sz="2800" b="1" dirty="0">
                <a:latin typeface="Aptos" panose="020B0004020202020204" pitchFamily="34" charset="0"/>
              </a:rPr>
              <a:t>peggiorano la segmentazione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733138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Ottimale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Slice con la </a:t>
            </a:r>
            <a:r>
              <a:rPr lang="it-IT" sz="2800" b="1" dirty="0">
                <a:latin typeface="Aptos" panose="020B0004020202020204" pitchFamily="34" charset="0"/>
              </a:rPr>
              <a:t>massima estensione </a:t>
            </a:r>
            <a:r>
              <a:rPr lang="it-IT" sz="2800" dirty="0">
                <a:latin typeface="Aptos" panose="020B0004020202020204" pitchFamily="34" charset="0"/>
              </a:rPr>
              <a:t>tumorale nella </a:t>
            </a:r>
            <a:r>
              <a:rPr lang="it-IT" sz="2800" b="1" dirty="0">
                <a:latin typeface="Aptos" panose="020B0004020202020204" pitchFamily="34" charset="0"/>
              </a:rPr>
              <a:t>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da </a:t>
            </a:r>
            <a:r>
              <a:rPr lang="it-IT" sz="2800" b="1" dirty="0">
                <a:latin typeface="Aptos" panose="020B0004020202020204" pitchFamily="34" charset="0"/>
              </a:rPr>
              <a:t>3D </a:t>
            </a:r>
            <a:r>
              <a:rPr lang="it-IT" sz="2800" dirty="0">
                <a:latin typeface="Aptos" panose="020B0004020202020204" pitchFamily="34" charset="0"/>
              </a:rPr>
              <a:t>a </a:t>
            </a:r>
            <a:r>
              <a:rPr lang="it-IT" sz="2800" b="1" dirty="0">
                <a:latin typeface="Aptos" panose="020B0004020202020204" pitchFamily="34" charset="0"/>
              </a:rPr>
              <a:t>2D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733138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50" y="1937323"/>
            <a:ext cx="583901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</a:t>
            </a:r>
            <a:r>
              <a:rPr lang="it-IT" sz="2800" b="1" dirty="0">
                <a:latin typeface="Aptos" panose="020B0004020202020204" pitchFamily="34" charset="0"/>
              </a:rPr>
              <a:t>confrontabili le intensità</a:t>
            </a:r>
            <a:r>
              <a:rPr lang="it-IT" sz="2800" dirty="0">
                <a:latin typeface="Aptos" panose="020B0004020202020204" pitchFamily="34" charset="0"/>
              </a:rPr>
              <a:t> tra pazienti e sequenze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Z-score</a:t>
            </a:r>
            <a:r>
              <a:rPr lang="it-IT" sz="2800" dirty="0">
                <a:latin typeface="Aptos" panose="020B0004020202020204" pitchFamily="34" charset="0"/>
              </a:rPr>
              <a:t> all’interno della </a:t>
            </a:r>
            <a:r>
              <a:rPr lang="it-IT" sz="2800" b="1" dirty="0">
                <a:latin typeface="Aptos" panose="020B0004020202020204" pitchFamily="34" charset="0"/>
              </a:rPr>
              <a:t>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</a:t>
            </a:r>
            <a:r>
              <a:rPr lang="it-IT" sz="2800" b="1" dirty="0">
                <a:latin typeface="Aptos" panose="020B0004020202020204" pitchFamily="34" charset="0"/>
              </a:rPr>
              <a:t>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Mappatura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599" y="1974647"/>
            <a:ext cx="55625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</a:t>
            </a:r>
            <a:r>
              <a:rPr lang="it-IT" sz="2800" b="1" dirty="0">
                <a:latin typeface="Aptos" panose="020B0004020202020204" pitchFamily="34" charset="0"/>
              </a:rPr>
              <a:t>preservando i contorni </a:t>
            </a:r>
            <a:r>
              <a:rPr lang="it-IT" sz="2800" dirty="0">
                <a:latin typeface="Aptos" panose="020B0004020202020204" pitchFamily="34" charset="0"/>
              </a:rPr>
              <a:t>principali della lesione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Filtro spaziale </a:t>
            </a:r>
            <a:r>
              <a:rPr lang="it-IT" sz="2800" b="1" dirty="0">
                <a:latin typeface="Aptos" panose="020B0004020202020204" pitchFamily="34" charset="0"/>
              </a:rPr>
              <a:t>non-lineare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</a:t>
            </a:r>
            <a:r>
              <a:rPr lang="it-IT" sz="2800" b="1" dirty="0">
                <a:latin typeface="Aptos" panose="020B0004020202020204" pitchFamily="34" charset="0"/>
              </a:rPr>
              <a:t>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</a:t>
            </a:r>
            <a:r>
              <a:rPr lang="it-IT" sz="2800" b="1" dirty="0">
                <a:latin typeface="Aptos" panose="020B0004020202020204" pitchFamily="34" charset="0"/>
              </a:rPr>
              <a:t>rumore impulsivo</a:t>
            </a:r>
          </a:p>
        </p:txBody>
      </p: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421232" y="1621106"/>
            <a:ext cx="602622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Fusione Multimodale (Fus2 e Fus3)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</a:t>
            </a:r>
            <a:r>
              <a:rPr lang="it-IT" sz="2800" b="1" dirty="0">
                <a:latin typeface="Aptos" panose="020B0004020202020204" pitchFamily="34" charset="0"/>
              </a:rPr>
              <a:t>informazioni complementari </a:t>
            </a:r>
            <a:r>
              <a:rPr lang="it-IT" sz="2800" dirty="0">
                <a:latin typeface="Aptos" panose="020B0004020202020204" pitchFamily="34" charset="0"/>
              </a:rPr>
              <a:t>delle sequenze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</a:t>
            </a:r>
            <a:r>
              <a:rPr lang="it-IT" sz="2800" b="1" dirty="0">
                <a:latin typeface="Aptos" panose="020B0004020202020204" pitchFamily="34" charset="0"/>
              </a:rPr>
              <a:t>estensione</a:t>
            </a:r>
            <a:r>
              <a:rPr lang="it-IT" sz="2800" dirty="0">
                <a:latin typeface="Aptos" panose="020B0004020202020204" pitchFamily="34" charset="0"/>
              </a:rPr>
              <a:t> della lesione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</a:t>
            </a:r>
            <a:r>
              <a:rPr lang="it-IT" sz="2800" b="1" dirty="0">
                <a:latin typeface="Aptos" panose="020B0004020202020204" pitchFamily="34" charset="0"/>
              </a:rPr>
              <a:t>componente attiva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</a:t>
            </a:r>
            <a:r>
              <a:rPr lang="it-IT" sz="2800" b="1" dirty="0">
                <a:latin typeface="Aptos" panose="020B0004020202020204" pitchFamily="34" charset="0"/>
              </a:rPr>
              <a:t>localizzazione</a:t>
            </a:r>
            <a:r>
              <a:rPr lang="it-IT" sz="2800" dirty="0">
                <a:latin typeface="Aptos" panose="020B0004020202020204" pitchFamily="34" charset="0"/>
              </a:rPr>
              <a:t> della regione tumorale</a:t>
            </a:r>
          </a:p>
        </p:txBody>
      </p: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49" y="1584752"/>
            <a:ext cx="633198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per guidare il </a:t>
            </a:r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endParaRPr lang="it-IT" sz="2800" b="1" dirty="0">
              <a:latin typeface="Aptos" panose="020B0004020202020204" pitchFamily="34" charset="0"/>
            </a:endParaRP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</a:t>
            </a:r>
            <a:r>
              <a:rPr lang="it-IT" sz="2800" b="1" dirty="0">
                <a:latin typeface="Aptos" panose="020B0004020202020204" pitchFamily="34" charset="0"/>
              </a:rPr>
              <a:t>Fusion3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Influenza del rumore</a:t>
            </a:r>
            <a:r>
              <a:rPr lang="it-IT" sz="2800" dirty="0">
                <a:latin typeface="Aptos" panose="020B0004020202020204" pitchFamily="34" charset="0"/>
              </a:rPr>
              <a:t> ridotta con </a:t>
            </a:r>
            <a:r>
              <a:rPr lang="it-IT" sz="2800" b="1" dirty="0">
                <a:latin typeface="Aptos" panose="020B0004020202020204" pitchFamily="34" charset="0"/>
              </a:rPr>
              <a:t>filtro gaussiano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Seme come coordinate del </a:t>
            </a:r>
            <a:r>
              <a:rPr lang="it-IT" sz="2800" b="1" dirty="0">
                <a:latin typeface="Aptos" panose="020B0004020202020204" pitchFamily="34" charset="0"/>
              </a:rPr>
              <a:t>pixel più intenso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600" y="1917855"/>
            <a:ext cx="709612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Segmentazione </a:t>
            </a:r>
            <a:r>
              <a:rPr lang="it-IT" sz="2800" dirty="0">
                <a:latin typeface="Aptos" panose="020B0004020202020204" pitchFamily="34" charset="0"/>
              </a:rPr>
              <a:t>basata su </a:t>
            </a:r>
            <a:r>
              <a:rPr lang="it-IT" sz="2800" b="1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</a:t>
            </a:r>
            <a:r>
              <a:rPr lang="it-IT" sz="2800" b="1" dirty="0">
                <a:latin typeface="Aptos" panose="020B0004020202020204" pitchFamily="34" charset="0"/>
              </a:rPr>
              <a:t>varianza inter-classe </a:t>
            </a:r>
            <a:r>
              <a:rPr lang="it-IT" sz="2800" dirty="0">
                <a:latin typeface="Aptos" panose="020B0004020202020204" pitchFamily="34" charset="0"/>
              </a:rPr>
              <a:t>e minimizzando quella </a:t>
            </a:r>
            <a:r>
              <a:rPr lang="it-IT" sz="2800" b="1" dirty="0">
                <a:latin typeface="Aptos" panose="020B0004020202020204" pitchFamily="34" charset="0"/>
              </a:rPr>
              <a:t>intra-classe </a:t>
            </a:r>
            <a:r>
              <a:rPr lang="it-IT" sz="2800" dirty="0">
                <a:latin typeface="Aptos" panose="020B0004020202020204" pitchFamily="34" charset="0"/>
              </a:rPr>
              <a:t>dall’istogramma</a:t>
            </a:r>
            <a:endParaRPr lang="it-IT" sz="2800" b="1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</a:t>
            </a:r>
            <a:r>
              <a:rPr lang="it-IT" sz="2800" b="1" dirty="0">
                <a:latin typeface="Aptos" panose="020B0004020202020204" pitchFamily="34" charset="0"/>
              </a:rPr>
              <a:t>classe con intensità più alta </a:t>
            </a:r>
            <a:r>
              <a:rPr lang="it-IT" sz="2800" dirty="0">
                <a:latin typeface="Aptos" panose="020B0004020202020204" pitchFamily="34" charset="0"/>
              </a:rPr>
              <a:t>tra le due soglie individuate</a:t>
            </a:r>
            <a:endParaRPr lang="it-IT"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540176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02034"/>
            <a:ext cx="70116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endParaRPr lang="it-IT" sz="2800" b="1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</a:t>
            </a:r>
            <a:r>
              <a:rPr lang="it-IT" sz="2800" b="1" dirty="0">
                <a:latin typeface="Aptos" panose="020B0004020202020204" pitchFamily="34" charset="0"/>
              </a:rPr>
              <a:t>accrescimento della regione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</a:t>
            </a:r>
            <a:r>
              <a:rPr lang="it-IT" sz="2800" b="1" dirty="0">
                <a:latin typeface="Aptos" panose="020B0004020202020204" pitchFamily="34" charset="0"/>
              </a:rPr>
              <a:t>iterativamente</a:t>
            </a:r>
            <a:r>
              <a:rPr lang="it-IT" sz="2800" dirty="0">
                <a:latin typeface="Aptos" panose="020B0004020202020204" pitchFamily="34" charset="0"/>
              </a:rPr>
              <a:t> dal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verso i </a:t>
            </a:r>
            <a:r>
              <a:rPr lang="it-IT" sz="2800" b="1" dirty="0">
                <a:latin typeface="Aptos" panose="020B0004020202020204" pitchFamily="34" charset="0"/>
              </a:rPr>
              <a:t>pixel adiacenti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di omogeneità come </a:t>
            </a:r>
            <a:r>
              <a:rPr lang="it-IT" sz="2800" b="1" dirty="0">
                <a:latin typeface="Aptos" panose="020B0004020202020204" pitchFamily="34" charset="0"/>
              </a:rPr>
              <a:t>6° percentile </a:t>
            </a:r>
            <a:r>
              <a:rPr lang="it-IT" sz="2800" dirty="0">
                <a:latin typeface="Aptos" panose="020B0004020202020204" pitchFamily="34" charset="0"/>
              </a:rPr>
              <a:t>delle intensità nella </a:t>
            </a:r>
            <a:r>
              <a:rPr lang="it-IT" sz="2800" b="1" dirty="0">
                <a:latin typeface="Aptos" panose="020B0004020202020204" pitchFamily="34" charset="0"/>
              </a:rPr>
              <a:t>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</a:t>
            </a:r>
            <a:r>
              <a:rPr lang="it-IT" sz="2800" b="1" dirty="0">
                <a:latin typeface="Aptos" panose="020B0004020202020204" pitchFamily="34" charset="0"/>
              </a:rPr>
              <a:t>componente connessa </a:t>
            </a:r>
            <a:r>
              <a:rPr lang="it-IT" sz="2800" dirty="0">
                <a:latin typeface="Aptos" panose="020B0004020202020204" pitchFamily="34" charset="0"/>
              </a:rPr>
              <a:t>che contiene il seme iniziale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>
            <a:extLst>
              <a:ext uri="{FF2B5EF4-FFF2-40B4-BE49-F238E27FC236}">
                <a16:creationId xmlns:a16="http://schemas.microsoft.com/office/drawing/2014/main" id="{74169C45-AD5D-A561-46AE-E3AEBA0754BC}"/>
              </a:ext>
            </a:extLst>
          </p:cNvPr>
          <p:cNvGrpSpPr/>
          <p:nvPr/>
        </p:nvGrpSpPr>
        <p:grpSpPr>
          <a:xfrm>
            <a:off x="8185274" y="1396663"/>
            <a:ext cx="3590251" cy="4566261"/>
            <a:chOff x="8185274" y="1396663"/>
            <a:chExt cx="3590251" cy="4566261"/>
          </a:xfrm>
        </p:grpSpPr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8270324" y="5171419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  <p:pic>
          <p:nvPicPr>
            <p:cNvPr id="2" name="Immagine 1">
              <a:extLst>
                <a:ext uri="{FF2B5EF4-FFF2-40B4-BE49-F238E27FC236}">
                  <a16:creationId xmlns:a16="http://schemas.microsoft.com/office/drawing/2014/main" id="{398CD760-C613-5A13-962F-25287ADAE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33" t="53192" r="60146" b="9867"/>
            <a:stretch>
              <a:fillRect/>
            </a:stretch>
          </p:blipFill>
          <p:spPr>
            <a:xfrm>
              <a:off x="8185274" y="1396663"/>
              <a:ext cx="3486150" cy="372423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7039" y="1894529"/>
            <a:ext cx="72393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basata sulla </a:t>
            </a:r>
            <a:r>
              <a:rPr lang="it-IT" sz="2800" b="1" dirty="0">
                <a:latin typeface="Aptos" panose="020B0004020202020204" pitchFamily="34" charset="0"/>
              </a:rPr>
              <a:t>superficie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topografica </a:t>
            </a:r>
            <a:r>
              <a:rPr lang="it-IT" sz="2800" dirty="0">
                <a:latin typeface="Aptos" panose="020B0004020202020204" pitchFamily="34" charset="0"/>
              </a:rPr>
              <a:t>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Usa la </a:t>
            </a:r>
            <a:r>
              <a:rPr lang="it-IT" sz="2800" b="1" dirty="0">
                <a:latin typeface="Aptos" panose="020B0004020202020204" pitchFamily="34" charset="0"/>
              </a:rPr>
              <a:t>trasformata di distanza </a:t>
            </a:r>
            <a:r>
              <a:rPr lang="it-IT" sz="2800" dirty="0">
                <a:latin typeface="Aptos" panose="020B0004020202020204" pitchFamily="34" charset="0"/>
              </a:rPr>
              <a:t>per generare le regioni da separare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Impone minimi tramite </a:t>
            </a:r>
            <a:r>
              <a:rPr lang="it-IT" sz="2800" b="1" dirty="0">
                <a:latin typeface="Aptos" panose="020B0004020202020204" pitchFamily="34" charset="0"/>
              </a:rPr>
              <a:t>marcatori </a:t>
            </a:r>
            <a:r>
              <a:rPr lang="it-IT" sz="2800" dirty="0">
                <a:latin typeface="Aptos" panose="020B0004020202020204" pitchFamily="34" charset="0"/>
              </a:rPr>
              <a:t>estratti da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Valida la </a:t>
            </a:r>
            <a:r>
              <a:rPr lang="it-IT" sz="2800" b="1" dirty="0">
                <a:latin typeface="Aptos" panose="020B0004020202020204" pitchFamily="34" charset="0"/>
              </a:rPr>
              <a:t>maschera</a:t>
            </a:r>
            <a:r>
              <a:rPr lang="it-IT" sz="2800" dirty="0">
                <a:latin typeface="Aptos" panose="020B0004020202020204" pitchFamily="34" charset="0"/>
              </a:rPr>
              <a:t> ottenuta 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7" y="1997167"/>
            <a:ext cx="762933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Rifinire la maschera finale </a:t>
            </a:r>
            <a:r>
              <a:rPr lang="it-IT" sz="2800" dirty="0">
                <a:latin typeface="Aptos" panose="020B0004020202020204" pitchFamily="34" charset="0"/>
              </a:rPr>
              <a:t>e rimuovere regioni spurie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Chiusura</a:t>
            </a:r>
            <a:r>
              <a:rPr lang="it-IT" sz="2800" dirty="0">
                <a:latin typeface="Aptos" panose="020B0004020202020204" pitchFamily="34" charset="0"/>
              </a:rPr>
              <a:t> morfologica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Riempimento dei </a:t>
            </a:r>
            <a:r>
              <a:rPr lang="it-IT" sz="2800" b="1" dirty="0">
                <a:latin typeface="Aptos" panose="020B0004020202020204" pitchFamily="34" charset="0"/>
              </a:rPr>
              <a:t>buchi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Selezione della componente </a:t>
            </a:r>
            <a:r>
              <a:rPr lang="it-IT" sz="2800" dirty="0">
                <a:latin typeface="Aptos" panose="020B0004020202020204" pitchFamily="34" charset="0"/>
              </a:rPr>
              <a:t>connessa con area maggiore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BC6C343B-27DC-E73B-BE9C-AF6F59AF1F52}"/>
              </a:ext>
            </a:extLst>
          </p:cNvPr>
          <p:cNvGrpSpPr/>
          <p:nvPr/>
        </p:nvGrpSpPr>
        <p:grpSpPr>
          <a:xfrm>
            <a:off x="8609694" y="170689"/>
            <a:ext cx="3117715" cy="6189433"/>
            <a:chOff x="8619024" y="208011"/>
            <a:chExt cx="3117715" cy="6189433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CA7ADFD-C8D5-CA4A-BF06-11FB3C022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02" t="16259" r="51913" b="22502"/>
            <a:stretch>
              <a:fillRect/>
            </a:stretch>
          </p:blipFill>
          <p:spPr>
            <a:xfrm>
              <a:off x="8619024" y="208011"/>
              <a:ext cx="3117715" cy="3108543"/>
            </a:xfrm>
            <a:prstGeom prst="rect">
              <a:avLst/>
            </a:prstGeom>
          </p:spPr>
        </p:pic>
        <p:pic>
          <p:nvPicPr>
            <p:cNvPr id="15" name="Immagine 14">
              <a:extLst>
                <a:ext uri="{FF2B5EF4-FFF2-40B4-BE49-F238E27FC236}">
                  <a16:creationId xmlns:a16="http://schemas.microsoft.com/office/drawing/2014/main" id="{0D701E57-B1B7-3415-6600-EA76A4E98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006" t="15700" r="7949" b="22502"/>
            <a:stretch>
              <a:fillRect/>
            </a:stretch>
          </p:blipFill>
          <p:spPr>
            <a:xfrm>
              <a:off x="8698264" y="3260558"/>
              <a:ext cx="3038475" cy="31368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migliore in media </a:t>
            </a:r>
            <a:r>
              <a:rPr lang="it-IT" sz="2800" dirty="0">
                <a:latin typeface="Aptos" panose="020B0004020202020204" pitchFamily="34" charset="0"/>
              </a:rPr>
              <a:t>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Fusion2</a:t>
            </a:r>
            <a:r>
              <a:rPr lang="it-IT" sz="2800" dirty="0">
                <a:latin typeface="Aptos" panose="020B0004020202020204" pitchFamily="34" charset="0"/>
              </a:rPr>
              <a:t> migliore </a:t>
            </a:r>
            <a:r>
              <a:rPr lang="it-IT" sz="2800" b="1" dirty="0">
                <a:latin typeface="Aptos" panose="020B0004020202020204" pitchFamily="34" charset="0"/>
              </a:rPr>
              <a:t>sensibilità</a:t>
            </a:r>
            <a:r>
              <a:rPr lang="it-IT" sz="2800" dirty="0">
                <a:latin typeface="Aptos" panose="020B0004020202020204" pitchFamily="34" charset="0"/>
              </a:rPr>
              <a:t> ma meno precisa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FLAIR</a:t>
            </a:r>
            <a:r>
              <a:rPr lang="it-IT" sz="2800" dirty="0">
                <a:latin typeface="Aptos" panose="020B0004020202020204" pitchFamily="34" charset="0"/>
              </a:rPr>
              <a:t> buona </a:t>
            </a:r>
            <a:r>
              <a:rPr lang="it-IT" sz="2800" b="1" dirty="0">
                <a:latin typeface="Aptos" panose="020B0004020202020204" pitchFamily="34" charset="0"/>
              </a:rPr>
              <a:t>singolarmente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989636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non è sempre migliore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è spesso la migliore</a:t>
            </a:r>
            <a:r>
              <a:rPr lang="it-IT" sz="2800" dirty="0">
                <a:latin typeface="Aptos" panose="020B0004020202020204" pitchFamily="34" charset="0"/>
              </a:rPr>
              <a:t>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</a:t>
            </a:r>
            <a:r>
              <a:rPr lang="it-IT" sz="2800" b="1" dirty="0">
                <a:latin typeface="Aptos" panose="020B0004020202020204" pitchFamily="34" charset="0"/>
              </a:rPr>
              <a:t>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889681"/>
              </p:ext>
            </p:extLst>
          </p:nvPr>
        </p:nvGraphicFramePr>
        <p:xfrm>
          <a:off x="2114032" y="3637339"/>
          <a:ext cx="7963935" cy="23027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865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37393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30908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11093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75205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322999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5439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Paziente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4396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4396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BRATS_248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4396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4396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BRATS_380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0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756901"/>
            <a:ext cx="11855303" cy="4076623"/>
            <a:chOff x="247649" y="1894631"/>
            <a:chExt cx="11855303" cy="407662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t="6082" r="6833" b="1962"/>
            <a:stretch>
              <a:fillRect/>
            </a:stretch>
          </p:blipFill>
          <p:spPr>
            <a:xfrm>
              <a:off x="6169928" y="1894631"/>
              <a:ext cx="5933024" cy="407662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t="6081" r="6949" b="9367"/>
            <a:stretch>
              <a:fillRect/>
            </a:stretch>
          </p:blipFill>
          <p:spPr>
            <a:xfrm>
              <a:off x="247649" y="1894632"/>
              <a:ext cx="5933024" cy="3748374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Migliori: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5179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BRATS_248: </a:t>
            </a:r>
            <a:r>
              <a:rPr lang="it-IT" sz="2000" dirty="0">
                <a:latin typeface="Aptos" panose="020B0004020202020204" pitchFamily="34" charset="0"/>
              </a:rPr>
              <a:t>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16958" y="1768327"/>
            <a:ext cx="11928402" cy="4115151"/>
            <a:chOff x="206448" y="2021951"/>
            <a:chExt cx="11928402" cy="4115151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t="6045" r="5876" b="9517"/>
            <a:stretch>
              <a:fillRect/>
            </a:stretch>
          </p:blipFill>
          <p:spPr>
            <a:xfrm>
              <a:off x="206448" y="2021951"/>
              <a:ext cx="6051477" cy="3773393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t="7658" r="6789" b="1731"/>
            <a:stretch>
              <a:fillRect/>
            </a:stretch>
          </p:blipFill>
          <p:spPr>
            <a:xfrm>
              <a:off x="6162675" y="2093598"/>
              <a:ext cx="5972175" cy="4043504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Peggiori: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5876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BRATS_380: </a:t>
            </a:r>
            <a:r>
              <a:rPr lang="it-IT" sz="2000" dirty="0">
                <a:latin typeface="Aptos" panose="020B0004020202020204" pitchFamily="34" charset="0"/>
              </a:rPr>
              <a:t>F</a:t>
            </a:r>
            <a:r>
              <a:rPr lang="it-IT" sz="2000" dirty="0"/>
              <a:t>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>
            <a:extLst>
              <a:ext uri="{FF2B5EF4-FFF2-40B4-BE49-F238E27FC236}">
                <a16:creationId xmlns:a16="http://schemas.microsoft.com/office/drawing/2014/main" id="{33E9C42F-2060-F6D4-4E58-648AC05A6F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47"/>
          <a:stretch>
            <a:fillRect/>
          </a:stretch>
        </p:blipFill>
        <p:spPr bwMode="auto">
          <a:xfrm>
            <a:off x="7043480" y="3174330"/>
            <a:ext cx="4843707" cy="154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609600" y="1384404"/>
            <a:ext cx="1086705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</a:t>
            </a:r>
            <a:r>
              <a:rPr lang="it-IT" sz="2800" dirty="0">
                <a:latin typeface="Aptos" panose="020B0004020202020204" pitchFamily="34" charset="0"/>
              </a:rPr>
              <a:t> è la configurazione con le </a:t>
            </a:r>
            <a:r>
              <a:rPr lang="it-IT" sz="2800" b="1" dirty="0">
                <a:latin typeface="Aptos" panose="020B0004020202020204" pitchFamily="34" charset="0"/>
              </a:rPr>
              <a:t>migliori prestazioni </a:t>
            </a:r>
            <a:r>
              <a:rPr lang="it-IT" sz="2800" dirty="0">
                <a:latin typeface="Aptos" panose="020B0004020202020204" pitchFamily="34" charset="0"/>
              </a:rPr>
              <a:t>medie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 </a:t>
            </a:r>
            <a:r>
              <a:rPr lang="it-IT" sz="2800" b="1" dirty="0">
                <a:latin typeface="Aptos" panose="020B0004020202020204" pitchFamily="34" charset="0"/>
              </a:rPr>
              <a:t>FLAIR </a:t>
            </a:r>
            <a:r>
              <a:rPr lang="it-IT" sz="2800" dirty="0">
                <a:latin typeface="Aptos" panose="020B0004020202020204" pitchFamily="34" charset="0"/>
              </a:rPr>
              <a:t>è la </a:t>
            </a:r>
            <a:r>
              <a:rPr lang="it-IT" sz="2800" b="1" dirty="0">
                <a:latin typeface="Aptos" panose="020B0004020202020204" pitchFamily="34" charset="0"/>
              </a:rPr>
              <a:t>sequenza singola </a:t>
            </a:r>
            <a:r>
              <a:rPr lang="it-IT" sz="2800" dirty="0">
                <a:latin typeface="Aptos" panose="020B0004020202020204" pitchFamily="34" charset="0"/>
              </a:rPr>
              <a:t>più informativa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migliora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la segmentazione</a:t>
            </a:r>
            <a:r>
              <a:rPr lang="it-IT" sz="2800" dirty="0">
                <a:latin typeface="Aptos" panose="020B0004020202020204" pitchFamily="34" charset="0"/>
              </a:rPr>
              <a:t>, ma i </a:t>
            </a:r>
            <a:r>
              <a:rPr lang="it-IT" sz="2800" b="1" dirty="0">
                <a:latin typeface="Aptos" panose="020B0004020202020204" pitchFamily="34" charset="0"/>
              </a:rPr>
              <a:t>casi critici </a:t>
            </a:r>
            <a:r>
              <a:rPr lang="it-IT" sz="2800" dirty="0">
                <a:latin typeface="Aptos" panose="020B0004020202020204" pitchFamily="34" charset="0"/>
              </a:rPr>
              <a:t>evidenziano i </a:t>
            </a:r>
            <a:r>
              <a:rPr lang="it-IT" sz="2800" b="1" dirty="0">
                <a:latin typeface="Aptos" panose="020B0004020202020204" pitchFamily="34" charset="0"/>
              </a:rPr>
              <a:t>limiti dell’approccio </a:t>
            </a:r>
            <a:r>
              <a:rPr lang="it-IT" sz="2800" dirty="0">
                <a:latin typeface="Aptos" panose="020B0004020202020204" pitchFamily="34" charset="0"/>
              </a:rPr>
              <a:t>proposto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dirty="0">
              <a:latin typeface="Aptos" panose="020B0004020202020204" pitchFamily="34" charset="0"/>
            </a:endParaRPr>
          </a:p>
          <a:p>
            <a:pPr algn="just"/>
            <a:endParaRPr lang="it-IT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Estendere la pipeline </a:t>
            </a:r>
            <a:r>
              <a:rPr lang="it-IT" sz="2800" b="1" dirty="0">
                <a:latin typeface="Aptos" panose="020B0004020202020204" pitchFamily="34" charset="0"/>
              </a:rPr>
              <a:t>da 2D a 3D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Migliorare la </a:t>
            </a:r>
            <a:r>
              <a:rPr lang="it-IT" sz="2800" b="1" dirty="0">
                <a:latin typeface="Aptos" panose="020B0004020202020204" pitchFamily="34" charset="0"/>
              </a:rPr>
              <a:t>strategia di fusione </a:t>
            </a:r>
            <a:r>
              <a:rPr lang="it-IT" sz="2800" dirty="0">
                <a:latin typeface="Aptos" panose="020B0004020202020204" pitchFamily="34" charset="0"/>
              </a:rPr>
              <a:t>multimodale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altre tecniche tradizionali </a:t>
            </a:r>
            <a:r>
              <a:rPr lang="it-IT" sz="2800" dirty="0">
                <a:latin typeface="Aptos" panose="020B0004020202020204" pitchFamily="34" charset="0"/>
              </a:rPr>
              <a:t>(Clustering,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Integrare modelli di </a:t>
            </a:r>
            <a:r>
              <a:rPr lang="it-IT" sz="2800" b="1" dirty="0">
                <a:latin typeface="Aptos" panose="020B0004020202020204" pitchFamily="34" charset="0"/>
              </a:rPr>
              <a:t>Deep Learning </a:t>
            </a:r>
            <a:r>
              <a:rPr lang="it-IT" sz="2800" dirty="0">
                <a:latin typeface="Aptos" panose="020B0004020202020204" pitchFamily="34" charset="0"/>
              </a:rPr>
              <a:t>e</a:t>
            </a:r>
            <a:r>
              <a:rPr lang="it-IT" sz="2800" b="1" dirty="0">
                <a:latin typeface="Aptos" panose="020B0004020202020204" pitchFamily="34" charset="0"/>
              </a:rPr>
              <a:t>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4785</TotalTime>
  <Words>1098</Words>
  <Application>Microsoft Office PowerPoint</Application>
  <PresentationFormat>Widescreen</PresentationFormat>
  <Paragraphs>271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Roberto Carriero</cp:lastModifiedBy>
  <cp:revision>74</cp:revision>
  <dcterms:created xsi:type="dcterms:W3CDTF">2025-10-25T17:39:58Z</dcterms:created>
  <dcterms:modified xsi:type="dcterms:W3CDTF">2026-04-20T20:56:16Z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