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8" r:id="rId2"/>
    <p:sldId id="257" r:id="rId3"/>
    <p:sldId id="280" r:id="rId4"/>
    <p:sldId id="284" r:id="rId5"/>
    <p:sldId id="307" r:id="rId6"/>
    <p:sldId id="285" r:id="rId7"/>
    <p:sldId id="286" r:id="rId8"/>
    <p:sldId id="288" r:id="rId9"/>
    <p:sldId id="287" r:id="rId10"/>
    <p:sldId id="289" r:id="rId11"/>
    <p:sldId id="291" r:id="rId12"/>
    <p:sldId id="292" r:id="rId13"/>
    <p:sldId id="293" r:id="rId14"/>
    <p:sldId id="294" r:id="rId15"/>
    <p:sldId id="295" r:id="rId16"/>
    <p:sldId id="296" r:id="rId17"/>
    <p:sldId id="306" r:id="rId18"/>
    <p:sldId id="300" r:id="rId19"/>
    <p:sldId id="303" r:id="rId20"/>
    <p:sldId id="301" r:id="rId21"/>
    <p:sldId id="302" r:id="rId22"/>
    <p:sldId id="304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008196"/>
    <a:srgbClr val="1B3C6A"/>
    <a:srgbClr val="1A3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FE53A-09A0-44D4-B929-E8069082C630}" v="40" dt="2026-01-18T20:17:51.2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Stile chiaro 1 - Color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Stile chiaro 3 - Color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ile chiaro 3 - Color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0940" autoAdjust="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>
        <p:guide orient="horz" pos="2880"/>
        <p:guide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04F21-9B18-4DE1-AB54-6E38A9691DB2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9A3EF-1CD3-4928-B014-184E8B8B84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2040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1444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9058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DAAF8-3066-173C-9195-FE66414E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F5ACEF4-A027-A0E0-BCE0-D5F99FBAA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BB60414-65A8-0532-96A5-1967CEFB5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048237-9023-D109-2F7A-349B6614C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3657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45857-871A-A35E-8913-B84C9A7E3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E6163A7-D941-ED01-6900-7AFA06AE0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508FB68-800E-C368-5F11-E6E6663F1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106C41-8DE8-49EF-9C7E-3FBF8439B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5501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2D7AD-854C-687B-023D-405B6B48F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576B974-5BDD-37E1-750A-4E37A133C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632B5D5-3F34-1BC7-BB23-E5F81C77E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CB2B3B-131F-F00F-05E5-737E59A0A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7268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3C678-A9D5-F696-CC15-20F2460E2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06A167-0B09-BD9D-59B6-EBF7E8386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26B08AA-3934-81DB-04D1-5FC42EF73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05129B-8A22-442C-41BD-0FAB02E64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1611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3C42A-5CDA-FC9D-BB24-0283FCCB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5D9B844-2D91-5E65-7ABD-77DED2BA0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39461BD-2734-000F-A3BA-3389B5BE9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2D596DA-1DA7-C6D5-CB65-77344278F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5109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2B526-B217-698D-3909-5A2CEBB26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859BBE2-26C9-3047-3198-BDE0F91D8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DB05734-0EEC-3E26-1E64-ACC0F8DE0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CE0664-5BA7-3B8E-1BCA-E7DE7BD06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531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B425A-E721-4CB9-7B3B-CFB150F0C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DA34134-76FF-D32B-5906-234443882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47A871D-FE79-0EEA-6EAE-0C8EEF1B3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09EECF8-ACE2-91E8-9FB6-0CD25D0A1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2966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4F8E3-35E8-6133-53F7-AE59BF38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9F24AE5-933D-AA35-88CF-10530FF13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279400F-5B5A-77A0-BA19-F3AF697A2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56774CA-13DF-5989-9CC9-98F6993DF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5937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A0A46-36D9-2178-FBDD-01C036CF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031666E-D268-2FED-3FEC-8E01E96AF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33464F-35F2-30F9-54AC-01F56ACF1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98CB013-C5BD-72F3-6AB1-3E18CAECA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08199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87D88-B870-0C64-B1CE-6891EC88A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95DFA5B-C9ED-6335-15C1-0C4D6DF72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E08DF71-C387-3EA5-DEF4-2AD149739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CBFB249-CFF4-00B3-9D92-3B0E5C332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8905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4695F-1300-CA14-7080-E874C6CF9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5C87792-B233-38CB-4E93-3FADA377B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A77AE5D-A71A-6A4B-7E01-07A7776F1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B48783-3C99-A4B3-9094-2FB7F77DE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7069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B11A-6E50-6F05-715D-DBD63805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03777A5-192F-4564-3EFB-4B7D3B263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8C4A26E-0B4D-3F32-0D21-318C23C04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59FFB2E-BC29-2628-EC5B-B27EF8EBF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8287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6CE56-911F-153A-3C6B-6118E122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2703DC3-4993-06EF-BEB7-5664503A0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5D16AA4-659A-061C-1883-89B9BDF96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BA116EB-A7E1-A8A3-CB68-493FD2D7A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8656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B501-8CF5-67AD-0B3C-9952DE98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5D56BCC-11B1-CC90-B489-0F448A4C5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82099DD-6762-1AF1-ABDB-942B5C388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11E3B7E-7A08-5632-A309-4F56999A3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51913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21134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25413-D8E9-1D5C-DEE6-6F45E387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A810E83-035B-2E6E-CC4F-1ED14E98C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B6255DD-74B2-88E7-A642-EF7157041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AE6DB2-B11C-E3D1-B74C-CD8A208D2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73887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79796-ACCB-728A-1647-7CC36A813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B487A57-4AD7-5EFA-DCA4-D263AB7CF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D61D916-5972-DE0C-BE09-7879302E0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187FA1B-F5AC-D180-4660-9DAD4B0DA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33389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8B3DF-E9F3-E60B-A848-9C4EEDC68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047BBF-6107-C435-F9A4-2F944FECC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1D7D3AA-0484-BE32-860C-4799831FB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F85214F-FF84-2FD8-45F9-6B79BC595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82778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3CC55-2069-7ED4-BD68-4BA54460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08FC5D7-73BF-117D-7718-C39EF350D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70819B5-8C41-E89A-67F5-36105B99F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96E430C-237E-3B67-ED4F-AE33E5BA4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78828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AE465-D921-411A-D5C8-8DFD9B0B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BAB6F44-6F84-9097-88F8-A6C71BE91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2A872EA-DB76-E5D9-CABC-48DCE3A77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B2174C-25BB-01F1-70A5-09B1A583F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9A3EF-1CD3-4928-B014-184E8B8B8430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8169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/>
              <a:t>A.A.</a:t>
            </a:r>
            <a:r>
              <a:rPr spc="-145"/>
              <a:t> </a:t>
            </a:r>
            <a:r>
              <a:rPr spc="-25"/>
              <a:t>2025/2026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/>
              <a:t>Prof.ssa</a:t>
            </a:r>
            <a:r>
              <a:rPr spc="-180"/>
              <a:t> </a:t>
            </a:r>
            <a:r>
              <a:rPr spc="-10"/>
              <a:t>Marina</a:t>
            </a:r>
            <a:r>
              <a:rPr spc="-160"/>
              <a:t> </a:t>
            </a:r>
            <a:r>
              <a:rPr spc="-10"/>
              <a:t>Mongiello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/>
              <a:t>A.A.</a:t>
            </a:r>
            <a:r>
              <a:rPr spc="-145"/>
              <a:t> </a:t>
            </a:r>
            <a:r>
              <a:rPr spc="-25"/>
              <a:t>2025/2026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/>
              <a:t>Prof.ssa</a:t>
            </a:r>
            <a:r>
              <a:rPr spc="-180"/>
              <a:t> </a:t>
            </a:r>
            <a:r>
              <a:rPr spc="-10"/>
              <a:t>Marina</a:t>
            </a:r>
            <a:r>
              <a:rPr spc="-160"/>
              <a:t> </a:t>
            </a:r>
            <a:r>
              <a:rPr spc="-10"/>
              <a:t>Mongiello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/>
              <a:t>A.A.</a:t>
            </a:r>
            <a:r>
              <a:rPr spc="-145"/>
              <a:t> </a:t>
            </a:r>
            <a:r>
              <a:rPr spc="-25"/>
              <a:t>2025/2026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/>
              <a:t>Prof.ssa</a:t>
            </a:r>
            <a:r>
              <a:rPr spc="-180"/>
              <a:t> </a:t>
            </a:r>
            <a:r>
              <a:rPr spc="-10"/>
              <a:t>Marina</a:t>
            </a:r>
            <a:r>
              <a:rPr spc="-160"/>
              <a:t> </a:t>
            </a:r>
            <a:r>
              <a:rPr spc="-10"/>
              <a:t>Mongiello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0223" y="311336"/>
            <a:ext cx="4325963" cy="6792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73693" y="150441"/>
            <a:ext cx="2906776" cy="99484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115" y="139509"/>
            <a:ext cx="2290445" cy="9872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/>
              <a:t>A.A.</a:t>
            </a:r>
            <a:r>
              <a:rPr spc="-145"/>
              <a:t> </a:t>
            </a:r>
            <a:r>
              <a:rPr spc="-25"/>
              <a:t>2025/2026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/>
              <a:t>Prof.ssa</a:t>
            </a:r>
            <a:r>
              <a:rPr spc="-180"/>
              <a:t> </a:t>
            </a:r>
            <a:r>
              <a:rPr spc="-10"/>
              <a:t>Marina</a:t>
            </a:r>
            <a:r>
              <a:rPr spc="-160"/>
              <a:t> </a:t>
            </a:r>
            <a:r>
              <a:rPr spc="-10"/>
              <a:t>Mongiello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/>
              <a:t>A.A.</a:t>
            </a:r>
            <a:r>
              <a:rPr spc="-145"/>
              <a:t> </a:t>
            </a:r>
            <a:r>
              <a:rPr spc="-25"/>
              <a:t>2025/2026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/>
              <a:t>Prof.ssa</a:t>
            </a:r>
            <a:r>
              <a:rPr spc="-180"/>
              <a:t> </a:t>
            </a:r>
            <a:r>
              <a:rPr spc="-10"/>
              <a:t>Marina</a:t>
            </a:r>
            <a:r>
              <a:rPr spc="-160"/>
              <a:t> </a:t>
            </a:r>
            <a:r>
              <a:rPr spc="-10"/>
              <a:t>Mongiello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0679" y="244551"/>
            <a:ext cx="8971280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0679" y="2143709"/>
            <a:ext cx="5407025" cy="249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551921" y="6503246"/>
            <a:ext cx="1532890" cy="30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/>
              <a:t>A.A.</a:t>
            </a:r>
            <a:r>
              <a:rPr spc="-145"/>
              <a:t> </a:t>
            </a:r>
            <a:r>
              <a:rPr spc="-25"/>
              <a:t>2025/2026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17490" y="6513000"/>
            <a:ext cx="2557145" cy="30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/>
              <a:t>Prof.ssa</a:t>
            </a:r>
            <a:r>
              <a:rPr spc="-180"/>
              <a:t> </a:t>
            </a:r>
            <a:r>
              <a:rPr spc="-10"/>
              <a:t>Marina</a:t>
            </a:r>
            <a:r>
              <a:rPr spc="-160"/>
              <a:t> </a:t>
            </a:r>
            <a:r>
              <a:rPr spc="-10"/>
              <a:t>Mongiello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04295F-58E4-0812-6E92-299E7EE9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6A980E5-AA13-5FFD-9054-C9D95612D6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27" b="21155"/>
          <a:stretch>
            <a:fillRect/>
          </a:stretch>
        </p:blipFill>
        <p:spPr>
          <a:xfrm>
            <a:off x="457200" y="376926"/>
            <a:ext cx="6535282" cy="1107996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55D19251-AFED-A1A7-3C36-46CA429AA2CA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BD99A0D-FE52-8B89-133B-B7BA269B3E4A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1DA3B0D-999D-A943-3040-B696143029C2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36012D0-2B51-9377-95A2-D6926BC7DAE7}"/>
              </a:ext>
            </a:extLst>
          </p:cNvPr>
          <p:cNvSpPr txBox="1"/>
          <p:nvPr/>
        </p:nvSpPr>
        <p:spPr>
          <a:xfrm>
            <a:off x="3402792" y="1887228"/>
            <a:ext cx="5386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dirty="0">
                <a:solidFill>
                  <a:schemeClr val="tx1"/>
                </a:solidFill>
                <a:latin typeface="Aptos" panose="020B0004020202020204" pitchFamily="34" charset="0"/>
              </a:rPr>
              <a:t>Tema d’Anno in Image Processing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6280421-BFF3-F590-C790-F842B68259D0}"/>
              </a:ext>
            </a:extLst>
          </p:cNvPr>
          <p:cNvSpPr txBox="1"/>
          <p:nvPr/>
        </p:nvSpPr>
        <p:spPr>
          <a:xfrm>
            <a:off x="10394926" y="6480829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A.A. 2025/2026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C2602A5-1867-86CD-C745-E827FB4624A9}"/>
              </a:ext>
            </a:extLst>
          </p:cNvPr>
          <p:cNvSpPr txBox="1"/>
          <p:nvPr/>
        </p:nvSpPr>
        <p:spPr>
          <a:xfrm>
            <a:off x="1851659" y="2643809"/>
            <a:ext cx="84886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9BB2BC8-9DC2-8DC8-6A5D-C2C9C777B6E6}"/>
              </a:ext>
            </a:extLst>
          </p:cNvPr>
          <p:cNvSpPr txBox="1"/>
          <p:nvPr/>
        </p:nvSpPr>
        <p:spPr>
          <a:xfrm>
            <a:off x="944879" y="3866330"/>
            <a:ext cx="10302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Aptos" panose="020B0004020202020204" pitchFamily="34" charset="0"/>
              </a:rPr>
              <a:t>Analisi Comparativa tra Approccio </a:t>
            </a:r>
            <a:r>
              <a:rPr lang="it-IT" sz="2800" dirty="0" err="1">
                <a:latin typeface="Aptos" panose="020B0004020202020204" pitchFamily="34" charset="0"/>
              </a:rPr>
              <a:t>Monomodale</a:t>
            </a:r>
            <a:r>
              <a:rPr lang="it-IT" sz="2800" dirty="0">
                <a:latin typeface="Aptos" panose="020B0004020202020204" pitchFamily="34" charset="0"/>
              </a:rPr>
              <a:t> e Multimodale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154D679-D22A-5AB2-F951-4013E483763F}"/>
              </a:ext>
            </a:extLst>
          </p:cNvPr>
          <p:cNvSpPr txBox="1"/>
          <p:nvPr/>
        </p:nvSpPr>
        <p:spPr>
          <a:xfrm>
            <a:off x="8473603" y="4950443"/>
            <a:ext cx="277351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Studente:</a:t>
            </a:r>
          </a:p>
          <a:p>
            <a:pPr algn="l"/>
            <a:r>
              <a:rPr lang="it-IT" sz="2800" dirty="0">
                <a:latin typeface="Aptos" panose="020B0004020202020204" pitchFamily="34" charset="0"/>
              </a:rPr>
              <a:t>Roberto Carriero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0815B8B-2A81-8CC3-FBB7-F00F7F512C4A}"/>
              </a:ext>
            </a:extLst>
          </p:cNvPr>
          <p:cNvSpPr txBox="1"/>
          <p:nvPr/>
        </p:nvSpPr>
        <p:spPr>
          <a:xfrm>
            <a:off x="1036319" y="4950443"/>
            <a:ext cx="42979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Docente:</a:t>
            </a:r>
          </a:p>
          <a:p>
            <a:pPr algn="l"/>
            <a:r>
              <a:rPr lang="it-IT" sz="2800" dirty="0">
                <a:latin typeface="Aptos" panose="020B0004020202020204" pitchFamily="34" charset="0"/>
              </a:rPr>
              <a:t>Prof. Ing. Andrea Guerriero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06B02FA-28BE-5CE9-0BED-211A68181E37}"/>
              </a:ext>
            </a:extLst>
          </p:cNvPr>
          <p:cNvSpPr txBox="1"/>
          <p:nvPr/>
        </p:nvSpPr>
        <p:spPr>
          <a:xfrm>
            <a:off x="84328" y="6465351"/>
            <a:ext cx="929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Corso di Laurea Magistrale in Ingegneria Informatica – </a:t>
            </a:r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Artificial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Intelligence and Data Science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931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6BBE9099-5CDD-3007-1210-B543A3A8E003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9BD870F1-AEB6-F68B-D98F-589DE7126AB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DA979EE0-288E-6566-E518-4C99150B0A66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BA55FC4-151F-27B2-172B-5CD5332FE2A5}"/>
              </a:ext>
            </a:extLst>
          </p:cNvPr>
          <p:cNvSpPr txBox="1"/>
          <p:nvPr/>
        </p:nvSpPr>
        <p:spPr>
          <a:xfrm>
            <a:off x="11733140" y="6480829"/>
            <a:ext cx="308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9A47F04-4709-7E4F-5150-AC3A593ED5A3}"/>
              </a:ext>
            </a:extLst>
          </p:cNvPr>
          <p:cNvSpPr txBox="1"/>
          <p:nvPr/>
        </p:nvSpPr>
        <p:spPr>
          <a:xfrm>
            <a:off x="609600" y="381000"/>
            <a:ext cx="71657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Contesto e Obiettivi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E877240-2B0A-8841-50EC-13E979DD0AF6}"/>
              </a:ext>
            </a:extLst>
          </p:cNvPr>
          <p:cNvSpPr txBox="1"/>
          <p:nvPr/>
        </p:nvSpPr>
        <p:spPr>
          <a:xfrm>
            <a:off x="689608" y="1484287"/>
            <a:ext cx="1080570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Problema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Segmentazione </a:t>
            </a:r>
            <a:r>
              <a:rPr lang="it-IT" sz="2800" b="1" dirty="0">
                <a:latin typeface="Aptos" panose="020B0004020202020204" pitchFamily="34" charset="0"/>
              </a:rPr>
              <a:t>manuale</a:t>
            </a:r>
            <a:r>
              <a:rPr lang="it-IT" sz="2800" dirty="0">
                <a:latin typeface="Aptos" panose="020B0004020202020204" pitchFamily="34" charset="0"/>
              </a:rPr>
              <a:t> dei tumori </a:t>
            </a:r>
            <a:r>
              <a:rPr lang="it-IT" sz="2800" b="1" dirty="0">
                <a:latin typeface="Aptos" panose="020B0004020202020204" pitchFamily="34" charset="0"/>
              </a:rPr>
              <a:t>lenta e soggettiva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Bordi</a:t>
            </a:r>
            <a:r>
              <a:rPr lang="it-IT" sz="2800" dirty="0">
                <a:latin typeface="Aptos" panose="020B0004020202020204" pitchFamily="34" charset="0"/>
              </a:rPr>
              <a:t> dei gliomi </a:t>
            </a:r>
            <a:r>
              <a:rPr lang="it-IT" sz="2800" b="1" dirty="0">
                <a:latin typeface="Aptos" panose="020B0004020202020204" pitchFamily="34" charset="0"/>
              </a:rPr>
              <a:t>sfumati</a:t>
            </a:r>
            <a:r>
              <a:rPr lang="it-IT" sz="2800" dirty="0">
                <a:latin typeface="Aptos" panose="020B0004020202020204" pitchFamily="34" charset="0"/>
              </a:rPr>
              <a:t> e con </a:t>
            </a:r>
            <a:r>
              <a:rPr lang="it-IT" sz="2800" b="1" dirty="0">
                <a:latin typeface="Aptos" panose="020B0004020202020204" pitchFamily="34" charset="0"/>
              </a:rPr>
              <a:t>basso contrasto</a:t>
            </a:r>
          </a:p>
          <a:p>
            <a:pPr algn="just"/>
            <a:endParaRPr lang="it-IT" b="1" dirty="0">
              <a:latin typeface="Aptos" panose="020B0004020202020204" pitchFamily="34" charset="0"/>
            </a:endParaRP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Soluzione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Implementazione in </a:t>
            </a:r>
            <a:r>
              <a:rPr lang="it-IT" sz="2800" b="1" dirty="0">
                <a:latin typeface="Aptos" panose="020B0004020202020204" pitchFamily="34" charset="0"/>
              </a:rPr>
              <a:t>MATLAB</a:t>
            </a:r>
            <a:r>
              <a:rPr lang="it-IT" sz="2800" dirty="0">
                <a:latin typeface="Aptos" panose="020B0004020202020204" pitchFamily="34" charset="0"/>
              </a:rPr>
              <a:t> di una pipeline di </a:t>
            </a:r>
            <a:r>
              <a:rPr lang="it-IT" sz="2800" b="1" dirty="0">
                <a:latin typeface="Aptos" panose="020B0004020202020204" pitchFamily="34" charset="0"/>
              </a:rPr>
              <a:t>segmentazione binaria 2D </a:t>
            </a:r>
            <a:r>
              <a:rPr lang="it-IT" sz="2800" dirty="0">
                <a:latin typeface="Aptos" panose="020B0004020202020204" pitchFamily="34" charset="0"/>
              </a:rPr>
              <a:t>con </a:t>
            </a:r>
            <a:r>
              <a:rPr lang="it-IT" sz="2800" b="1" dirty="0">
                <a:latin typeface="Aptos" panose="020B0004020202020204" pitchFamily="34" charset="0"/>
              </a:rPr>
              <a:t>tecniche tradizionali </a:t>
            </a:r>
            <a:r>
              <a:rPr lang="it-IT" sz="2800" dirty="0">
                <a:latin typeface="Aptos" panose="020B0004020202020204" pitchFamily="34" charset="0"/>
              </a:rPr>
              <a:t>di Image Processing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Valutazione delle </a:t>
            </a:r>
            <a:r>
              <a:rPr lang="it-IT" sz="2800" b="1" dirty="0">
                <a:latin typeface="Aptos" panose="020B0004020202020204" pitchFamily="34" charset="0"/>
              </a:rPr>
              <a:t>diverse configurazioni </a:t>
            </a:r>
            <a:r>
              <a:rPr lang="it-IT" sz="2800" dirty="0">
                <a:latin typeface="Aptos" panose="020B0004020202020204" pitchFamily="34" charset="0"/>
              </a:rPr>
              <a:t>con </a:t>
            </a:r>
            <a:r>
              <a:rPr lang="it-IT" sz="2800" b="1" dirty="0">
                <a:latin typeface="Aptos" panose="020B0004020202020204" pitchFamily="34" charset="0"/>
              </a:rPr>
              <a:t>metriche standard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B074E69-8CB9-E4C5-E3B9-D414BCAA2028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pic>
        <p:nvPicPr>
          <p:cNvPr id="3074" name="Picture 2" descr="MATLAB Logo and symbol, meaning, history, PNG, brand">
            <a:extLst>
              <a:ext uri="{FF2B5EF4-FFF2-40B4-BE49-F238E27FC236}">
                <a16:creationId xmlns:a16="http://schemas.microsoft.com/office/drawing/2014/main" id="{B802E10D-8939-96A5-C5AB-B8F3DC7D9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005" y="4508948"/>
            <a:ext cx="3739991" cy="2103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F42BDD-AC35-B9F0-240A-7913C42A9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8F9F632-5BD6-F6C5-9529-91A02DB24A3F}"/>
              </a:ext>
            </a:extLst>
          </p:cNvPr>
          <p:cNvSpPr txBox="1">
            <a:spLocks/>
          </p:cNvSpPr>
          <p:nvPr/>
        </p:nvSpPr>
        <p:spPr>
          <a:xfrm>
            <a:off x="666401" y="1509773"/>
            <a:ext cx="5789295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Caratteristiche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 err="1">
                <a:latin typeface="Aptos" panose="020B0004020202020204" pitchFamily="34" charset="0"/>
              </a:rPr>
              <a:t>BraTS</a:t>
            </a:r>
            <a:r>
              <a:rPr lang="it-IT" sz="2800" dirty="0">
                <a:latin typeface="Aptos" panose="020B0004020202020204" pitchFamily="34" charset="0"/>
              </a:rPr>
              <a:t>/MSD - Task01_BrainTumor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484 volumi 3D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4 sequenze </a:t>
            </a:r>
            <a:r>
              <a:rPr lang="it-IT" sz="2800" dirty="0">
                <a:latin typeface="Aptos" panose="020B0004020202020204" pitchFamily="34" charset="0"/>
              </a:rPr>
              <a:t>per paziente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Ground truth </a:t>
            </a:r>
            <a:r>
              <a:rPr lang="it-IT" sz="2800" dirty="0">
                <a:latin typeface="Aptos" panose="020B0004020202020204" pitchFamily="34" charset="0"/>
              </a:rPr>
              <a:t>manuali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DC0E31A-1AFE-80D7-4A81-A6F16EE85084}"/>
              </a:ext>
            </a:extLst>
          </p:cNvPr>
          <p:cNvSpPr txBox="1"/>
          <p:nvPr/>
        </p:nvSpPr>
        <p:spPr>
          <a:xfrm>
            <a:off x="609600" y="381000"/>
            <a:ext cx="29514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Dataset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512C1904-85B6-2181-6436-132D7977E54E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84AE3BCC-B5E9-28F6-20A2-FB3878DFC18B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6917C5F-56B9-79E3-661A-210FDF667233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2614E1E-D962-A36E-3DBB-CB38D30C7051}"/>
              </a:ext>
            </a:extLst>
          </p:cNvPr>
          <p:cNvSpPr txBox="1"/>
          <p:nvPr/>
        </p:nvSpPr>
        <p:spPr>
          <a:xfrm>
            <a:off x="11733139" y="64808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39A6C1C-B193-D207-C8C8-F9F5CD83A76C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34712A4-735C-F2B6-F736-14A346DD5108}"/>
              </a:ext>
            </a:extLst>
          </p:cNvPr>
          <p:cNvSpPr txBox="1"/>
          <p:nvPr/>
        </p:nvSpPr>
        <p:spPr>
          <a:xfrm>
            <a:off x="609600" y="3895602"/>
            <a:ext cx="404241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Dettagli dei Volumi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Formato </a:t>
            </a:r>
            <a:r>
              <a:rPr lang="it-IT" sz="2800" b="1" dirty="0" err="1">
                <a:latin typeface="Aptos" panose="020B0004020202020204" pitchFamily="34" charset="0"/>
              </a:rPr>
              <a:t>NIfTI</a:t>
            </a:r>
            <a:r>
              <a:rPr lang="it-IT" sz="2800" dirty="0">
                <a:latin typeface="Aptos" panose="020B0004020202020204" pitchFamily="34" charset="0"/>
              </a:rPr>
              <a:t> (.nii.gz)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240 x 240 x 155 voxel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Volumi registrati e </a:t>
            </a:r>
            <a:r>
              <a:rPr lang="it-IT" sz="2800" b="1" dirty="0" err="1">
                <a:latin typeface="Aptos" panose="020B0004020202020204" pitchFamily="34" charset="0"/>
              </a:rPr>
              <a:t>skull-stripped</a:t>
            </a:r>
            <a:endParaRPr lang="it-IT" sz="2800" b="1" dirty="0">
              <a:latin typeface="Aptos" panose="020B0004020202020204" pitchFamily="34" charset="0"/>
            </a:endParaRPr>
          </a:p>
        </p:txBody>
      </p:sp>
      <p:pic>
        <p:nvPicPr>
          <p:cNvPr id="1026" name="Picture 2" descr="Understanding and Processing the Brain Tumor Segmentation (BraTS2020)  Dataset | by Farah Abu Hamad | Mar, 2026 | Medium">
            <a:extLst>
              <a:ext uri="{FF2B5EF4-FFF2-40B4-BE49-F238E27FC236}">
                <a16:creationId xmlns:a16="http://schemas.microsoft.com/office/drawing/2014/main" id="{DF729BA9-1AC5-D311-D641-7306464F7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270" y="2865333"/>
            <a:ext cx="6143869" cy="317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me - Decathlon - Grand Challenge">
            <a:extLst>
              <a:ext uri="{FF2B5EF4-FFF2-40B4-BE49-F238E27FC236}">
                <a16:creationId xmlns:a16="http://schemas.microsoft.com/office/drawing/2014/main" id="{A5640020-10F7-1C9E-476B-6E0FCFB19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435571"/>
            <a:ext cx="5033760" cy="126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585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17A6E0-789B-73C3-FD58-055484E1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BC47B990-02D0-69D0-4CE4-A4202C9D1931}"/>
              </a:ext>
            </a:extLst>
          </p:cNvPr>
          <p:cNvGrpSpPr/>
          <p:nvPr/>
        </p:nvGrpSpPr>
        <p:grpSpPr>
          <a:xfrm>
            <a:off x="600269" y="1450978"/>
            <a:ext cx="2182901" cy="4834811"/>
            <a:chOff x="600269" y="1450978"/>
            <a:chExt cx="2182901" cy="4834811"/>
          </a:xfrm>
        </p:grpSpPr>
        <p:pic>
          <p:nvPicPr>
            <p:cNvPr id="15" name="Immagine 14">
              <a:extLst>
                <a:ext uri="{FF2B5EF4-FFF2-40B4-BE49-F238E27FC236}">
                  <a16:creationId xmlns:a16="http://schemas.microsoft.com/office/drawing/2014/main" id="{80DFBCBD-A969-AF48-B67B-A0EA361DC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053" t="8701" r="50196" b="62449"/>
            <a:stretch>
              <a:fillRect/>
            </a:stretch>
          </p:blipFill>
          <p:spPr>
            <a:xfrm>
              <a:off x="600269" y="1450978"/>
              <a:ext cx="2182901" cy="2403899"/>
            </a:xfrm>
            <a:prstGeom prst="rect">
              <a:avLst/>
            </a:prstGeom>
          </p:spPr>
        </p:pic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7670DA32-E1FF-C82B-73CC-91B7B01DA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793" t="8701" r="29732" b="62449"/>
            <a:stretch>
              <a:fillRect/>
            </a:stretch>
          </p:blipFill>
          <p:spPr>
            <a:xfrm>
              <a:off x="609600" y="3870355"/>
              <a:ext cx="2154908" cy="2415434"/>
            </a:xfrm>
            <a:prstGeom prst="rect">
              <a:avLst/>
            </a:prstGeom>
          </p:spPr>
        </p:pic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3BBCE24-FD55-4AB5-B582-B7F17C6BD461}"/>
              </a:ext>
            </a:extLst>
          </p:cNvPr>
          <p:cNvSpPr txBox="1">
            <a:spLocks/>
          </p:cNvSpPr>
          <p:nvPr/>
        </p:nvSpPr>
        <p:spPr>
          <a:xfrm>
            <a:off x="3075341" y="1857637"/>
            <a:ext cx="8567291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T1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Evidenzia </a:t>
            </a:r>
            <a:r>
              <a:rPr lang="it-IT" sz="2800" b="1" dirty="0">
                <a:latin typeface="Aptos" panose="020B0004020202020204" pitchFamily="34" charset="0"/>
              </a:rPr>
              <a:t>l’anatomia cerebrale generale, </a:t>
            </a:r>
            <a:r>
              <a:rPr lang="it-IT" sz="2800" dirty="0">
                <a:latin typeface="Aptos" panose="020B0004020202020204" pitchFamily="34" charset="0"/>
              </a:rPr>
              <a:t>ma è </a:t>
            </a:r>
            <a:r>
              <a:rPr lang="it-IT" sz="2800" b="1" dirty="0">
                <a:latin typeface="Aptos" panose="020B0004020202020204" pitchFamily="34" charset="0"/>
              </a:rPr>
              <a:t>poco sensibile al tumore</a:t>
            </a:r>
            <a:r>
              <a:rPr lang="it-IT" sz="2800" dirty="0">
                <a:latin typeface="Aptos" panose="020B0004020202020204" pitchFamily="34" charset="0"/>
              </a:rPr>
              <a:t>, perché le lesioni hanno intensità simili ai </a:t>
            </a:r>
            <a:r>
              <a:rPr lang="it-IT" sz="2800" b="1" dirty="0">
                <a:latin typeface="Aptos" panose="020B0004020202020204" pitchFamily="34" charset="0"/>
              </a:rPr>
              <a:t>tessuti circostanti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CC56C40-5A41-3696-63F1-7C72D104A425}"/>
              </a:ext>
            </a:extLst>
          </p:cNvPr>
          <p:cNvSpPr txBox="1">
            <a:spLocks/>
          </p:cNvSpPr>
          <p:nvPr/>
        </p:nvSpPr>
        <p:spPr>
          <a:xfrm>
            <a:off x="3066010" y="4241303"/>
            <a:ext cx="8567291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T1c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Dopo </a:t>
            </a:r>
            <a:r>
              <a:rPr lang="it-IT" sz="2800" b="1" dirty="0">
                <a:latin typeface="Aptos" panose="020B0004020202020204" pitchFamily="34" charset="0"/>
              </a:rPr>
              <a:t>mezzo di contrasto </a:t>
            </a:r>
            <a:r>
              <a:rPr lang="it-IT" sz="2800" dirty="0">
                <a:latin typeface="Aptos" panose="020B0004020202020204" pitchFamily="34" charset="0"/>
              </a:rPr>
              <a:t>(gadolinio), evidenzia la </a:t>
            </a:r>
            <a:r>
              <a:rPr lang="it-IT" sz="2800" b="1" dirty="0">
                <a:latin typeface="Aptos" panose="020B0004020202020204" pitchFamily="34" charset="0"/>
              </a:rPr>
              <a:t>componente tumorale attiva </a:t>
            </a:r>
            <a:r>
              <a:rPr lang="it-IT" sz="2800" dirty="0">
                <a:latin typeface="Aptos" panose="020B0004020202020204" pitchFamily="34" charset="0"/>
              </a:rPr>
              <a:t>ma non </a:t>
            </a:r>
            <a:r>
              <a:rPr lang="it-IT" sz="2800" b="1" dirty="0">
                <a:latin typeface="Aptos" panose="020B0004020202020204" pitchFamily="34" charset="0"/>
              </a:rPr>
              <a:t>l’estensione complessiva</a:t>
            </a:r>
            <a:r>
              <a:rPr lang="it-IT" sz="2800" dirty="0">
                <a:latin typeface="Aptos" panose="020B0004020202020204" pitchFamily="34" charset="0"/>
              </a:rPr>
              <a:t> della lesione</a:t>
            </a:r>
            <a:endParaRPr lang="it-IT" sz="2800" b="1" dirty="0">
              <a:latin typeface="Aptos" panose="020B0004020202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2C79D39-3DE0-E14C-43A2-57FBB97F93B9}"/>
              </a:ext>
            </a:extLst>
          </p:cNvPr>
          <p:cNvSpPr txBox="1"/>
          <p:nvPr/>
        </p:nvSpPr>
        <p:spPr>
          <a:xfrm>
            <a:off x="609600" y="381000"/>
            <a:ext cx="51331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Sequenze MRI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EEDAD181-3C42-1B40-F222-A5E56E4FF455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46AB843A-A0D8-D7D5-ED86-20386AD41B4F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9C04621E-DCB2-D258-6E83-7D1F97F108EC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FF714D9-3C94-C69D-9B12-819D42E9059F}"/>
              </a:ext>
            </a:extLst>
          </p:cNvPr>
          <p:cNvSpPr txBox="1"/>
          <p:nvPr/>
        </p:nvSpPr>
        <p:spPr>
          <a:xfrm>
            <a:off x="11733139" y="64808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8EE2B01-BF10-EEF3-3E71-6797982929BB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</p:spTree>
    <p:extLst>
      <p:ext uri="{BB962C8B-B14F-4D97-AF65-F5344CB8AC3E}">
        <p14:creationId xmlns:p14="http://schemas.microsoft.com/office/powerpoint/2010/main" val="3052343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C80F0D-B3D0-310D-01C5-0942969C1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o 8">
            <a:extLst>
              <a:ext uri="{FF2B5EF4-FFF2-40B4-BE49-F238E27FC236}">
                <a16:creationId xmlns:a16="http://schemas.microsoft.com/office/drawing/2014/main" id="{E491DE2E-ECB7-AB7C-C6BA-24376B57BDD2}"/>
              </a:ext>
            </a:extLst>
          </p:cNvPr>
          <p:cNvGrpSpPr/>
          <p:nvPr/>
        </p:nvGrpSpPr>
        <p:grpSpPr>
          <a:xfrm>
            <a:off x="600269" y="1475787"/>
            <a:ext cx="2179530" cy="4821998"/>
            <a:chOff x="600269" y="1475787"/>
            <a:chExt cx="2179530" cy="4821998"/>
          </a:xfrm>
        </p:grpSpPr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68098492-46F2-5C72-32A4-A17F04DCD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02" t="8701" r="70923" b="62449"/>
            <a:stretch>
              <a:fillRect/>
            </a:stretch>
          </p:blipFill>
          <p:spPr>
            <a:xfrm>
              <a:off x="604912" y="1475787"/>
              <a:ext cx="2136292" cy="2394568"/>
            </a:xfrm>
            <a:prstGeom prst="rect">
              <a:avLst/>
            </a:prstGeom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469B5344-1006-68CB-6552-7E04CEB2B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355" t="8701" r="9021" b="62449"/>
            <a:stretch>
              <a:fillRect/>
            </a:stretch>
          </p:blipFill>
          <p:spPr>
            <a:xfrm>
              <a:off x="600269" y="3877946"/>
              <a:ext cx="2179530" cy="2419839"/>
            </a:xfrm>
            <a:prstGeom prst="rect">
              <a:avLst/>
            </a:prstGeom>
          </p:spPr>
        </p:pic>
      </p:grp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DCF8ABE-A7D7-A539-DA05-E372FB4C94B2}"/>
              </a:ext>
            </a:extLst>
          </p:cNvPr>
          <p:cNvSpPr txBox="1">
            <a:spLocks/>
          </p:cNvSpPr>
          <p:nvPr/>
        </p:nvSpPr>
        <p:spPr>
          <a:xfrm>
            <a:off x="3056679" y="1904590"/>
            <a:ext cx="8567291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FLAIR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Sopprime il segnale del </a:t>
            </a:r>
            <a:r>
              <a:rPr lang="it-IT" sz="2800" b="1" dirty="0">
                <a:latin typeface="Aptos" panose="020B0004020202020204" pitchFamily="34" charset="0"/>
              </a:rPr>
              <a:t>liquido cerebrospinale </a:t>
            </a:r>
            <a:r>
              <a:rPr lang="it-IT" sz="2800" dirty="0">
                <a:latin typeface="Aptos" panose="020B0004020202020204" pitchFamily="34" charset="0"/>
              </a:rPr>
              <a:t>per osservare </a:t>
            </a:r>
            <a:r>
              <a:rPr lang="it-IT" sz="2800" b="1" dirty="0">
                <a:latin typeface="Aptos" panose="020B0004020202020204" pitchFamily="34" charset="0"/>
              </a:rPr>
              <a:t>edema </a:t>
            </a:r>
            <a:r>
              <a:rPr lang="it-IT" sz="2800" b="1" dirty="0" err="1">
                <a:latin typeface="Aptos" panose="020B0004020202020204" pitchFamily="34" charset="0"/>
              </a:rPr>
              <a:t>peritumorale</a:t>
            </a:r>
            <a:r>
              <a:rPr lang="it-IT" sz="2800" b="1" dirty="0">
                <a:latin typeface="Aptos" panose="020B0004020202020204" pitchFamily="34" charset="0"/>
              </a:rPr>
              <a:t> </a:t>
            </a:r>
            <a:r>
              <a:rPr lang="it-IT" sz="2800" dirty="0">
                <a:latin typeface="Aptos" panose="020B0004020202020204" pitchFamily="34" charset="0"/>
              </a:rPr>
              <a:t>ed </a:t>
            </a:r>
            <a:r>
              <a:rPr lang="it-IT" sz="2800" b="1" dirty="0">
                <a:latin typeface="Aptos" panose="020B0004020202020204" pitchFamily="34" charset="0"/>
              </a:rPr>
              <a:t>estensione complessiva </a:t>
            </a:r>
            <a:r>
              <a:rPr lang="it-IT" sz="2800" dirty="0">
                <a:latin typeface="Aptos" panose="020B0004020202020204" pitchFamily="34" charset="0"/>
              </a:rPr>
              <a:t>della lesione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C0FF6F8-6546-51D6-A3D0-F49415D8F07B}"/>
              </a:ext>
            </a:extLst>
          </p:cNvPr>
          <p:cNvSpPr txBox="1"/>
          <p:nvPr/>
        </p:nvSpPr>
        <p:spPr>
          <a:xfrm>
            <a:off x="609600" y="381000"/>
            <a:ext cx="51331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Sequenze MRI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91C6D524-C01F-C4C0-0FEC-E37EE101D15D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523C383D-E09A-4E05-B0A4-5FEC52B162B8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56262AA-CE01-62E0-C67E-AD2B04ECA63B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B3E5A8D-7C63-279B-441C-0C0272362623}"/>
              </a:ext>
            </a:extLst>
          </p:cNvPr>
          <p:cNvSpPr txBox="1"/>
          <p:nvPr/>
        </p:nvSpPr>
        <p:spPr>
          <a:xfrm>
            <a:off x="11733139" y="64808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B11D9F8-E9EC-2AB6-D691-D4FFF4CB6948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EA403A8-C5D2-82BB-4414-3FD96781C079}"/>
              </a:ext>
            </a:extLst>
          </p:cNvPr>
          <p:cNvSpPr txBox="1">
            <a:spLocks/>
          </p:cNvSpPr>
          <p:nvPr/>
        </p:nvSpPr>
        <p:spPr>
          <a:xfrm>
            <a:off x="3056679" y="4271281"/>
            <a:ext cx="8567291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T2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È </a:t>
            </a:r>
            <a:r>
              <a:rPr lang="it-IT" sz="2800" b="1" dirty="0">
                <a:latin typeface="Aptos" panose="020B0004020202020204" pitchFamily="34" charset="0"/>
              </a:rPr>
              <a:t>sensibile</a:t>
            </a:r>
            <a:r>
              <a:rPr lang="it-IT" sz="2800" dirty="0">
                <a:latin typeface="Aptos" panose="020B0004020202020204" pitchFamily="34" charset="0"/>
              </a:rPr>
              <a:t> </a:t>
            </a:r>
            <a:r>
              <a:rPr lang="it-IT" sz="2800" b="1" dirty="0">
                <a:latin typeface="Aptos" panose="020B0004020202020204" pitchFamily="34" charset="0"/>
              </a:rPr>
              <a:t>al contenuto di acqua</a:t>
            </a:r>
            <a:r>
              <a:rPr lang="it-IT" sz="2800" dirty="0">
                <a:latin typeface="Aptos" panose="020B0004020202020204" pitchFamily="34" charset="0"/>
              </a:rPr>
              <a:t>, quindi mette in evidenza </a:t>
            </a:r>
            <a:r>
              <a:rPr lang="it-IT" sz="2800" b="1" dirty="0">
                <a:latin typeface="Aptos" panose="020B0004020202020204" pitchFamily="34" charset="0"/>
              </a:rPr>
              <a:t>edema</a:t>
            </a:r>
            <a:r>
              <a:rPr lang="it-IT" sz="2800" dirty="0">
                <a:latin typeface="Aptos" panose="020B0004020202020204" pitchFamily="34" charset="0"/>
              </a:rPr>
              <a:t> e </a:t>
            </a:r>
            <a:r>
              <a:rPr lang="it-IT" sz="2800" b="1" dirty="0">
                <a:latin typeface="Aptos" panose="020B0004020202020204" pitchFamily="34" charset="0"/>
              </a:rPr>
              <a:t>regioni </a:t>
            </a:r>
            <a:r>
              <a:rPr lang="it-IT" sz="2800" b="1" dirty="0" err="1">
                <a:latin typeface="Aptos" panose="020B0004020202020204" pitchFamily="34" charset="0"/>
              </a:rPr>
              <a:t>iperintense</a:t>
            </a:r>
            <a:r>
              <a:rPr lang="it-IT" sz="2800" dirty="0">
                <a:latin typeface="Aptos" panose="020B0004020202020204" pitchFamily="34" charset="0"/>
              </a:rPr>
              <a:t>, ma è meno specifica delle componenti tumorali</a:t>
            </a:r>
          </a:p>
        </p:txBody>
      </p:sp>
    </p:spTree>
    <p:extLst>
      <p:ext uri="{BB962C8B-B14F-4D97-AF65-F5344CB8AC3E}">
        <p14:creationId xmlns:p14="http://schemas.microsoft.com/office/powerpoint/2010/main" val="427916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FFEF0D-AEA0-6443-807B-1EB48DCD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44B361DA-5D62-F27A-B9C2-7EBABB43D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662" y="1723382"/>
            <a:ext cx="11412677" cy="138318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EC7F1CB-33E6-61EB-3F5A-9B904A026120}"/>
              </a:ext>
            </a:extLst>
          </p:cNvPr>
          <p:cNvSpPr txBox="1"/>
          <p:nvPr/>
        </p:nvSpPr>
        <p:spPr>
          <a:xfrm>
            <a:off x="609600" y="381000"/>
            <a:ext cx="93586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Architettura della Pipeline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6B9398C9-06CA-35A5-27F8-06C5A9A6D6DB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5DA48164-D454-04A2-82DE-16B83FE4FB57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E01CA38D-C821-E357-23B8-C89808F1DF3A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E2AC22A-90BF-3295-AC39-92A2FCB19A55}"/>
              </a:ext>
            </a:extLst>
          </p:cNvPr>
          <p:cNvSpPr txBox="1"/>
          <p:nvPr/>
        </p:nvSpPr>
        <p:spPr>
          <a:xfrm>
            <a:off x="11733139" y="64808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02D3D74-C1F5-06D8-7865-0D0804CDEC93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5B70821-B36D-D4FD-BFE5-F228AE4EA4E4}"/>
              </a:ext>
            </a:extLst>
          </p:cNvPr>
          <p:cNvSpPr txBox="1">
            <a:spLocks/>
          </p:cNvSpPr>
          <p:nvPr/>
        </p:nvSpPr>
        <p:spPr>
          <a:xfrm>
            <a:off x="389661" y="3429000"/>
            <a:ext cx="11552212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EDA: </a:t>
            </a:r>
            <a:r>
              <a:rPr lang="it-IT" sz="2800" dirty="0">
                <a:latin typeface="Aptos" panose="020B0004020202020204" pitchFamily="34" charset="0"/>
              </a:rPr>
              <a:t>Analisi delle sequenze MRI e delle distribuzioni di intensità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 err="1">
                <a:latin typeface="Aptos" panose="020B0004020202020204" pitchFamily="34" charset="0"/>
              </a:rPr>
              <a:t>Pre</a:t>
            </a:r>
            <a:r>
              <a:rPr lang="it-IT" sz="2800" b="1" dirty="0">
                <a:latin typeface="Aptos" panose="020B0004020202020204" pitchFamily="34" charset="0"/>
              </a:rPr>
              <a:t>-Processing: </a:t>
            </a:r>
            <a:r>
              <a:rPr lang="it-IT" sz="2800" dirty="0">
                <a:latin typeface="Aptos" panose="020B0004020202020204" pitchFamily="34" charset="0"/>
              </a:rPr>
              <a:t>Preparazione delle sequenze per la segmentazione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Segmentazione: </a:t>
            </a:r>
            <a:r>
              <a:rPr lang="it-IT" sz="2800" dirty="0">
                <a:latin typeface="Aptos" panose="020B0004020202020204" pitchFamily="34" charset="0"/>
              </a:rPr>
              <a:t>Applicazione delle tecniche di Image Processing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Post-Processing: </a:t>
            </a:r>
            <a:r>
              <a:rPr lang="it-IT" sz="2800" dirty="0">
                <a:latin typeface="Aptos" panose="020B0004020202020204" pitchFamily="34" charset="0"/>
              </a:rPr>
              <a:t>Rifinitura della maschera di segmentazione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Valutazione: </a:t>
            </a:r>
            <a:r>
              <a:rPr lang="it-IT" sz="2800" dirty="0">
                <a:latin typeface="Aptos" panose="020B0004020202020204" pitchFamily="34" charset="0"/>
              </a:rPr>
              <a:t>Stima delle prestazioni della pipeline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3AB5983-BF22-E322-80DD-ABBA9AF34DF8}"/>
              </a:ext>
            </a:extLst>
          </p:cNvPr>
          <p:cNvSpPr txBox="1">
            <a:spLocks/>
          </p:cNvSpPr>
          <p:nvPr/>
        </p:nvSpPr>
        <p:spPr>
          <a:xfrm>
            <a:off x="250127" y="5788816"/>
            <a:ext cx="347471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Volume di Esempio: ID 218</a:t>
            </a:r>
          </a:p>
        </p:txBody>
      </p:sp>
    </p:spTree>
    <p:extLst>
      <p:ext uri="{BB962C8B-B14F-4D97-AF65-F5344CB8AC3E}">
        <p14:creationId xmlns:p14="http://schemas.microsoft.com/office/powerpoint/2010/main" val="178577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D266CE-A9CC-B491-B1DB-245A880C7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4F73355E-A963-6BD7-38EB-D9F188C15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7" r="8190" b="4662"/>
          <a:stretch>
            <a:fillRect/>
          </a:stretch>
        </p:blipFill>
        <p:spPr>
          <a:xfrm>
            <a:off x="5178167" y="1473905"/>
            <a:ext cx="6846571" cy="469552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18A6B1D4-6BA3-0D92-7158-0BDD53452740}"/>
              </a:ext>
            </a:extLst>
          </p:cNvPr>
          <p:cNvSpPr txBox="1"/>
          <p:nvPr/>
        </p:nvSpPr>
        <p:spPr>
          <a:xfrm>
            <a:off x="609600" y="381000"/>
            <a:ext cx="95285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Analisi Esplorativa dei Dati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AA8986B7-A59E-D3C0-1822-AF0E521808C8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37462FEF-DE3D-FC22-A4D3-16345F335AA8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1B2F844-8F43-E631-9C9F-5FC7952649E1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6685C4F-28A2-1E94-C2B1-905A72175233}"/>
              </a:ext>
            </a:extLst>
          </p:cNvPr>
          <p:cNvSpPr txBox="1"/>
          <p:nvPr/>
        </p:nvSpPr>
        <p:spPr>
          <a:xfrm>
            <a:off x="11733139" y="64808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EE9196C-C247-6A20-8650-AB4235C165E8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43499C9-5391-63D2-A554-6CEF72206E91}"/>
              </a:ext>
            </a:extLst>
          </p:cNvPr>
          <p:cNvSpPr txBox="1"/>
          <p:nvPr/>
        </p:nvSpPr>
        <p:spPr>
          <a:xfrm>
            <a:off x="461010" y="1638925"/>
            <a:ext cx="482011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Sequenze Originali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Osservazione: </a:t>
            </a:r>
            <a:r>
              <a:rPr lang="it-IT" sz="2800" dirty="0">
                <a:latin typeface="Aptos" panose="020B0004020202020204" pitchFamily="34" charset="0"/>
              </a:rPr>
              <a:t>Le</a:t>
            </a:r>
            <a:r>
              <a:rPr lang="it-IT" sz="2800" b="1" dirty="0">
                <a:latin typeface="Aptos" panose="020B0004020202020204" pitchFamily="34" charset="0"/>
              </a:rPr>
              <a:t> </a:t>
            </a:r>
            <a:r>
              <a:rPr lang="it-IT" sz="2800" dirty="0">
                <a:latin typeface="Aptos" panose="020B0004020202020204" pitchFamily="34" charset="0"/>
              </a:rPr>
              <a:t>sequenze presentano </a:t>
            </a:r>
            <a:r>
              <a:rPr lang="it-IT" sz="2800" b="1" dirty="0">
                <a:latin typeface="Aptos" panose="020B0004020202020204" pitchFamily="34" charset="0"/>
              </a:rPr>
              <a:t>distribuzioni di intensità diverse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it-IT" sz="2800" dirty="0">
              <a:latin typeface="Aptos" panose="020B00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Obiettivo: </a:t>
            </a:r>
            <a:r>
              <a:rPr lang="it-IT" sz="2800" dirty="0">
                <a:latin typeface="Aptos" panose="020B0004020202020204" pitchFamily="34" charset="0"/>
              </a:rPr>
              <a:t>Capire</a:t>
            </a:r>
            <a:r>
              <a:rPr lang="it-IT" sz="2800" b="1" dirty="0">
                <a:latin typeface="Aptos" panose="020B0004020202020204" pitchFamily="34" charset="0"/>
              </a:rPr>
              <a:t> quali modalità sono più informative </a:t>
            </a:r>
            <a:r>
              <a:rPr lang="it-IT" sz="2800" dirty="0">
                <a:latin typeface="Aptos" panose="020B0004020202020204" pitchFamily="34" charset="0"/>
              </a:rPr>
              <a:t>per la lesione</a:t>
            </a:r>
          </a:p>
        </p:txBody>
      </p:sp>
    </p:spTree>
    <p:extLst>
      <p:ext uri="{BB962C8B-B14F-4D97-AF65-F5344CB8AC3E}">
        <p14:creationId xmlns:p14="http://schemas.microsoft.com/office/powerpoint/2010/main" val="3462255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D44B53-4D71-61F3-43DD-80513EFB5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E90C003-AC31-209B-E27B-2EE87342E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5" r="8214" b="3408"/>
          <a:stretch>
            <a:fillRect/>
          </a:stretch>
        </p:blipFill>
        <p:spPr>
          <a:xfrm>
            <a:off x="5121936" y="1473905"/>
            <a:ext cx="6892291" cy="4757291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9567C22-E2AA-DBEB-294C-D579260481A7}"/>
              </a:ext>
            </a:extLst>
          </p:cNvPr>
          <p:cNvSpPr txBox="1"/>
          <p:nvPr/>
        </p:nvSpPr>
        <p:spPr>
          <a:xfrm>
            <a:off x="609600" y="381000"/>
            <a:ext cx="95285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Analisi Esplorativa dei Dati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9F81983D-BF3D-AA9E-E9AB-AD40A3A254C6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19C1AECD-FD01-4ADB-B8DB-89CAC1761A34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763F1DD5-7AFA-F17D-7FDA-6F11384F6678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CF4135D-29AA-3ABD-F666-6EEEF14C0B33}"/>
              </a:ext>
            </a:extLst>
          </p:cNvPr>
          <p:cNvSpPr txBox="1"/>
          <p:nvPr/>
        </p:nvSpPr>
        <p:spPr>
          <a:xfrm>
            <a:off x="11733139" y="64808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42C5AFF-39ED-B468-D121-3C2F3E343311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8FCFEB8-8CFE-46B8-FC43-838C3165F0B9}"/>
              </a:ext>
            </a:extLst>
          </p:cNvPr>
          <p:cNvSpPr txBox="1"/>
          <p:nvPr/>
        </p:nvSpPr>
        <p:spPr>
          <a:xfrm>
            <a:off x="392299" y="1630818"/>
            <a:ext cx="503811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Sequenze con CLAHE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Osservazione: </a:t>
            </a:r>
            <a:r>
              <a:rPr lang="it-IT" sz="2800" dirty="0">
                <a:latin typeface="Aptos" panose="020B0004020202020204" pitchFamily="34" charset="0"/>
              </a:rPr>
              <a:t>CLAHE migliora la visualizzazione ed </a:t>
            </a:r>
            <a:r>
              <a:rPr lang="it-IT" sz="2800" b="1" dirty="0">
                <a:latin typeface="Aptos" panose="020B0004020202020204" pitchFamily="34" charset="0"/>
              </a:rPr>
              <a:t>equalizza gli istogrammi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it-IT" sz="2800" dirty="0">
              <a:latin typeface="Aptos" panose="020B00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Risultato: </a:t>
            </a:r>
            <a:r>
              <a:rPr lang="it-IT" sz="2800" dirty="0">
                <a:latin typeface="Aptos" panose="020B0004020202020204" pitchFamily="34" charset="0"/>
              </a:rPr>
              <a:t>Non viene applicata nella pipeline (artefatti </a:t>
            </a:r>
            <a:r>
              <a:rPr lang="it-IT" sz="2800" b="1" dirty="0">
                <a:latin typeface="Aptos" panose="020B0004020202020204" pitchFamily="34" charset="0"/>
              </a:rPr>
              <a:t>peggiorano la segmentazione</a:t>
            </a:r>
            <a:r>
              <a:rPr lang="it-IT" sz="2800" dirty="0">
                <a:latin typeface="Aptos" panose="020B00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99171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46C524-7E61-2067-B7A3-38242E36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F7ADFFBE-FD30-CDDD-2CE0-1558B78A6520}"/>
              </a:ext>
            </a:extLst>
          </p:cNvPr>
          <p:cNvSpPr txBox="1"/>
          <p:nvPr/>
        </p:nvSpPr>
        <p:spPr>
          <a:xfrm>
            <a:off x="609600" y="381000"/>
            <a:ext cx="55050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 err="1">
                <a:latin typeface="Aptos" panose="020B0004020202020204" pitchFamily="34" charset="0"/>
              </a:rPr>
              <a:t>Pre</a:t>
            </a:r>
            <a:r>
              <a:rPr lang="it-IT" sz="6000" b="1" dirty="0">
                <a:latin typeface="Aptos" panose="020B0004020202020204" pitchFamily="34" charset="0"/>
              </a:rPr>
              <a:t>-Processing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8732636B-EB47-5A93-25F0-2FA4F0D20EEF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35E57161-403D-51B4-1E45-DFC17882CEB3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CA1178EB-792D-C196-93C6-294AB16E0C5A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C70D172-4C17-2491-1E5E-669A4FFB46F6}"/>
              </a:ext>
            </a:extLst>
          </p:cNvPr>
          <p:cNvSpPr txBox="1"/>
          <p:nvPr/>
        </p:nvSpPr>
        <p:spPr>
          <a:xfrm>
            <a:off x="11733138" y="64808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5953D9E-717C-989A-87D9-AD7AF68693D8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D9F1C21-ECDA-F713-D836-BB3BFE938C7F}"/>
              </a:ext>
            </a:extLst>
          </p:cNvPr>
          <p:cNvSpPr txBox="1"/>
          <p:nvPr/>
        </p:nvSpPr>
        <p:spPr>
          <a:xfrm>
            <a:off x="639873" y="1980733"/>
            <a:ext cx="610933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Selezione Slice Ottimale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Criterio: </a:t>
            </a:r>
            <a:r>
              <a:rPr lang="it-IT" sz="2800" dirty="0">
                <a:latin typeface="Aptos" panose="020B0004020202020204" pitchFamily="34" charset="0"/>
              </a:rPr>
              <a:t>Slice con la </a:t>
            </a:r>
            <a:r>
              <a:rPr lang="it-IT" sz="2800" b="1" dirty="0">
                <a:latin typeface="Aptos" panose="020B0004020202020204" pitchFamily="34" charset="0"/>
              </a:rPr>
              <a:t>massima estensione </a:t>
            </a:r>
            <a:r>
              <a:rPr lang="it-IT" sz="2800" dirty="0">
                <a:latin typeface="Aptos" panose="020B0004020202020204" pitchFamily="34" charset="0"/>
              </a:rPr>
              <a:t>tumorale nella </a:t>
            </a:r>
            <a:r>
              <a:rPr lang="it-IT" sz="2800" b="1" dirty="0">
                <a:latin typeface="Aptos" panose="020B0004020202020204" pitchFamily="34" charset="0"/>
              </a:rPr>
              <a:t>ground truth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it-IT" sz="2800" dirty="0">
              <a:latin typeface="Aptos" panose="020B00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Motivazione: </a:t>
            </a:r>
            <a:r>
              <a:rPr lang="it-IT" sz="2800" dirty="0">
                <a:latin typeface="Aptos" panose="020B0004020202020204" pitchFamily="34" charset="0"/>
              </a:rPr>
              <a:t>Ridurre il problema da </a:t>
            </a:r>
            <a:r>
              <a:rPr lang="it-IT" sz="2800" b="1" dirty="0">
                <a:latin typeface="Aptos" panose="020B0004020202020204" pitchFamily="34" charset="0"/>
              </a:rPr>
              <a:t>3D </a:t>
            </a:r>
            <a:r>
              <a:rPr lang="it-IT" sz="2800" dirty="0">
                <a:latin typeface="Aptos" panose="020B0004020202020204" pitchFamily="34" charset="0"/>
              </a:rPr>
              <a:t>a </a:t>
            </a:r>
            <a:r>
              <a:rPr lang="it-IT" sz="2800" b="1" dirty="0">
                <a:latin typeface="Aptos" panose="020B0004020202020204" pitchFamily="34" charset="0"/>
              </a:rPr>
              <a:t>2D</a:t>
            </a:r>
            <a:endParaRPr lang="it-IT" sz="2800" dirty="0">
              <a:latin typeface="Aptos" panose="020B0004020202020204" pitchFamily="34" charset="0"/>
            </a:endParaRPr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E09F7895-64AE-21F2-95FE-2888620566C6}"/>
              </a:ext>
            </a:extLst>
          </p:cNvPr>
          <p:cNvGrpSpPr/>
          <p:nvPr/>
        </p:nvGrpSpPr>
        <p:grpSpPr>
          <a:xfrm>
            <a:off x="6167766" y="1337837"/>
            <a:ext cx="6109334" cy="4870174"/>
            <a:chOff x="6167766" y="1337837"/>
            <a:chExt cx="6109334" cy="4870174"/>
          </a:xfrm>
        </p:grpSpPr>
        <p:pic>
          <p:nvPicPr>
            <p:cNvPr id="19" name="Immagine 18">
              <a:extLst>
                <a:ext uri="{FF2B5EF4-FFF2-40B4-BE49-F238E27FC236}">
                  <a16:creationId xmlns:a16="http://schemas.microsoft.com/office/drawing/2014/main" id="{07110EF9-8A37-C713-EE6A-8695781E8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73" t="7431" r="65449" b="55008"/>
            <a:stretch>
              <a:fillRect/>
            </a:stretch>
          </p:blipFill>
          <p:spPr>
            <a:xfrm>
              <a:off x="7379763" y="1337837"/>
              <a:ext cx="3682671" cy="382454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sellaDiTesto 15">
                  <a:extLst>
                    <a:ext uri="{FF2B5EF4-FFF2-40B4-BE49-F238E27FC236}">
                      <a16:creationId xmlns:a16="http://schemas.microsoft.com/office/drawing/2014/main" id="{CCBCA9E0-E379-FE3B-21F1-77A94D7BEB01}"/>
                    </a:ext>
                  </a:extLst>
                </p:cNvPr>
                <p:cNvSpPr txBox="1"/>
                <p:nvPr/>
              </p:nvSpPr>
              <p:spPr>
                <a:xfrm>
                  <a:off x="6167766" y="5048013"/>
                  <a:ext cx="6109334" cy="1159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d>
                          <m:d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r>
                          <a:rPr lang="it-IT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sub>
                              <m:sup/>
                              <m:e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nary>
                          </m:e>
                        </m:nary>
                        <m:d>
                          <m:d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  <m:d>
                              <m:dPr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</m:d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</m:d>
                      </m:oMath>
                    </m:oMathPara>
                  </a14:m>
                  <a:endParaRPr lang="it-IT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best</m:t>
                            </m:r>
                          </m:sub>
                        </m:sSub>
                        <m:r>
                          <a:rPr lang="it-IT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it-IT" b="0" i="0" smtClean="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it-IT" b="0" i="0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b="0" i="0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  <a:endParaRPr lang="it-IT" b="0" dirty="0"/>
                </a:p>
              </p:txBody>
            </p:sp>
          </mc:Choice>
          <mc:Fallback xmlns="">
            <p:sp>
              <p:nvSpPr>
                <p:cNvPr id="16" name="CasellaDiTesto 15">
                  <a:extLst>
                    <a:ext uri="{FF2B5EF4-FFF2-40B4-BE49-F238E27FC236}">
                      <a16:creationId xmlns:a16="http://schemas.microsoft.com/office/drawing/2014/main" id="{CCBCA9E0-E379-FE3B-21F1-77A94D7BEB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7766" y="5048013"/>
                  <a:ext cx="6109334" cy="11599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6E32B78-4E24-2F32-47C6-AD0ACD0D2CD0}"/>
              </a:ext>
            </a:extLst>
          </p:cNvPr>
          <p:cNvSpPr txBox="1"/>
          <p:nvPr/>
        </p:nvSpPr>
        <p:spPr>
          <a:xfrm>
            <a:off x="639873" y="1115967"/>
            <a:ext cx="6109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Es. FLAIR</a:t>
            </a:r>
            <a:endParaRPr lang="it-IT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495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30308C-D749-6495-2863-348B0DF0A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o 14">
            <a:extLst>
              <a:ext uri="{FF2B5EF4-FFF2-40B4-BE49-F238E27FC236}">
                <a16:creationId xmlns:a16="http://schemas.microsoft.com/office/drawing/2014/main" id="{45A1FA5F-6224-CCAB-B689-A1A7C5D28748}"/>
              </a:ext>
            </a:extLst>
          </p:cNvPr>
          <p:cNvGrpSpPr/>
          <p:nvPr/>
        </p:nvGrpSpPr>
        <p:grpSpPr>
          <a:xfrm>
            <a:off x="6122683" y="888831"/>
            <a:ext cx="6109334" cy="5486401"/>
            <a:chOff x="6122683" y="888831"/>
            <a:chExt cx="6109334" cy="5486401"/>
          </a:xfrm>
        </p:grpSpPr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EC4655CC-745E-B222-1EC6-D297061C8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11" t="7340" r="36747" b="3631"/>
            <a:stretch>
              <a:fillRect/>
            </a:stretch>
          </p:blipFill>
          <p:spPr>
            <a:xfrm>
              <a:off x="6172188" y="888831"/>
              <a:ext cx="5715000" cy="548640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sellaDiTesto 20">
                  <a:extLst>
                    <a:ext uri="{FF2B5EF4-FFF2-40B4-BE49-F238E27FC236}">
                      <a16:creationId xmlns:a16="http://schemas.microsoft.com/office/drawing/2014/main" id="{C8229FAF-F36B-88E8-6C76-B861FDD8FDB2}"/>
                    </a:ext>
                  </a:extLst>
                </p:cNvPr>
                <p:cNvSpPr txBox="1"/>
                <p:nvPr/>
              </p:nvSpPr>
              <p:spPr>
                <a:xfrm>
                  <a:off x="6122683" y="3180940"/>
                  <a:ext cx="6109334" cy="6751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norm</m:t>
                            </m:r>
                          </m:sub>
                        </m:sSub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it-IT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it-IT" b="0" dirty="0"/>
                </a:p>
              </p:txBody>
            </p:sp>
          </mc:Choice>
          <mc:Fallback xmlns="">
            <p:sp>
              <p:nvSpPr>
                <p:cNvPr id="21" name="CasellaDiTesto 20">
                  <a:extLst>
                    <a:ext uri="{FF2B5EF4-FFF2-40B4-BE49-F238E27FC236}">
                      <a16:creationId xmlns:a16="http://schemas.microsoft.com/office/drawing/2014/main" id="{C8229FAF-F36B-88E8-6C76-B861FDD8FD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2683" y="3180940"/>
                  <a:ext cx="6109334" cy="67518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5B018D0-F83E-CA83-6D06-78F9B5B3319C}"/>
              </a:ext>
            </a:extLst>
          </p:cNvPr>
          <p:cNvSpPr txBox="1"/>
          <p:nvPr/>
        </p:nvSpPr>
        <p:spPr>
          <a:xfrm>
            <a:off x="609600" y="381000"/>
            <a:ext cx="55050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 err="1">
                <a:latin typeface="Aptos" panose="020B0004020202020204" pitchFamily="34" charset="0"/>
              </a:rPr>
              <a:t>Pre</a:t>
            </a:r>
            <a:r>
              <a:rPr lang="it-IT" sz="6000" b="1" dirty="0">
                <a:latin typeface="Aptos" panose="020B0004020202020204" pitchFamily="34" charset="0"/>
              </a:rPr>
              <a:t>-Processing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F7A3A08E-2854-021F-E0CD-9B879DA6989F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FCC2C7E0-CEC9-E0D0-210D-F3132B4CDCAC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9D464FB0-DDD4-8AB1-A9EB-F7EAC76FA278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D1E9716-A18C-91AC-45CC-D9C8985466C9}"/>
              </a:ext>
            </a:extLst>
          </p:cNvPr>
          <p:cNvSpPr txBox="1"/>
          <p:nvPr/>
        </p:nvSpPr>
        <p:spPr>
          <a:xfrm>
            <a:off x="11733138" y="64808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BE6A1EF-1287-7A52-5BAD-978DDC4AC65D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4CC5E38-7385-0DF6-3772-CBF6414674E0}"/>
              </a:ext>
            </a:extLst>
          </p:cNvPr>
          <p:cNvSpPr txBox="1"/>
          <p:nvPr/>
        </p:nvSpPr>
        <p:spPr>
          <a:xfrm>
            <a:off x="552450" y="1937323"/>
            <a:ext cx="583901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Normalizzazione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Obiettivo: </a:t>
            </a:r>
            <a:r>
              <a:rPr lang="it-IT" sz="2800" dirty="0">
                <a:latin typeface="Aptos" panose="020B0004020202020204" pitchFamily="34" charset="0"/>
              </a:rPr>
              <a:t>Rendere </a:t>
            </a:r>
            <a:r>
              <a:rPr lang="it-IT" sz="2800" b="1" dirty="0">
                <a:latin typeface="Aptos" panose="020B0004020202020204" pitchFamily="34" charset="0"/>
              </a:rPr>
              <a:t>confrontabili le intensità</a:t>
            </a:r>
            <a:r>
              <a:rPr lang="it-IT" sz="2800" dirty="0">
                <a:latin typeface="Aptos" panose="020B0004020202020204" pitchFamily="34" charset="0"/>
              </a:rPr>
              <a:t> tra pazienti e sequenze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it-IT" sz="2800" dirty="0">
              <a:latin typeface="Aptos" panose="020B0004020202020204" pitchFamily="34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it-IT" sz="2800" b="1" dirty="0">
                <a:latin typeface="Aptos" panose="020B0004020202020204" pitchFamily="34" charset="0"/>
              </a:rPr>
              <a:t>Z-score</a:t>
            </a:r>
            <a:r>
              <a:rPr lang="it-IT" sz="2800" dirty="0">
                <a:latin typeface="Aptos" panose="020B0004020202020204" pitchFamily="34" charset="0"/>
              </a:rPr>
              <a:t> all’interno della </a:t>
            </a:r>
            <a:r>
              <a:rPr lang="it-IT" sz="2800" b="1" dirty="0">
                <a:latin typeface="Aptos" panose="020B0004020202020204" pitchFamily="34" charset="0"/>
              </a:rPr>
              <a:t>ROI cerebrale</a:t>
            </a:r>
          </a:p>
          <a:p>
            <a:pPr marL="514350" indent="-514350" algn="l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Azzeramento del </a:t>
            </a:r>
            <a:r>
              <a:rPr lang="it-IT" sz="2800" b="1" dirty="0">
                <a:latin typeface="Aptos" panose="020B0004020202020204" pitchFamily="34" charset="0"/>
              </a:rPr>
              <a:t>background</a:t>
            </a:r>
          </a:p>
          <a:p>
            <a:pPr marL="514350" indent="-514350" algn="l">
              <a:buFont typeface="+mj-lt"/>
              <a:buAutoNum type="arabicPeriod"/>
            </a:pPr>
            <a:r>
              <a:rPr lang="it-IT" sz="2800" b="1" dirty="0">
                <a:latin typeface="Aptos" panose="020B0004020202020204" pitchFamily="34" charset="0"/>
              </a:rPr>
              <a:t>Mappatura</a:t>
            </a:r>
            <a:r>
              <a:rPr lang="it-IT" sz="2800" dirty="0">
                <a:latin typeface="Aptos" panose="020B0004020202020204" pitchFamily="34" charset="0"/>
              </a:rPr>
              <a:t> finale in [0,1]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47EBC11-9E88-5B6F-EA5D-E7EE187E363C}"/>
              </a:ext>
            </a:extLst>
          </p:cNvPr>
          <p:cNvSpPr txBox="1"/>
          <p:nvPr/>
        </p:nvSpPr>
        <p:spPr>
          <a:xfrm>
            <a:off x="639873" y="1115967"/>
            <a:ext cx="6109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Es. FLAIR</a:t>
            </a:r>
            <a:endParaRPr lang="it-IT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694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E0E202-85AC-1AC7-0217-ADD45F11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o 15">
            <a:extLst>
              <a:ext uri="{FF2B5EF4-FFF2-40B4-BE49-F238E27FC236}">
                <a16:creationId xmlns:a16="http://schemas.microsoft.com/office/drawing/2014/main" id="{9DB17546-5121-5DD7-277C-ACCD16BA3FBF}"/>
              </a:ext>
            </a:extLst>
          </p:cNvPr>
          <p:cNvGrpSpPr/>
          <p:nvPr/>
        </p:nvGrpSpPr>
        <p:grpSpPr>
          <a:xfrm>
            <a:off x="6172188" y="888830"/>
            <a:ext cx="6162699" cy="5486402"/>
            <a:chOff x="6172188" y="888830"/>
            <a:chExt cx="6162699" cy="5486402"/>
          </a:xfrm>
        </p:grpSpPr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36112EE3-83F7-2D20-33DB-FB160C975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11" t="7340" r="64333" b="3631"/>
            <a:stretch>
              <a:fillRect/>
            </a:stretch>
          </p:blipFill>
          <p:spPr>
            <a:xfrm>
              <a:off x="6172188" y="888831"/>
              <a:ext cx="2891802" cy="5486401"/>
            </a:xfrm>
            <a:prstGeom prst="rect">
              <a:avLst/>
            </a:prstGeom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A18A07BC-1FE0-C089-AB4F-404AE4ED6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940" t="7340" r="7969" b="3631"/>
            <a:stretch>
              <a:fillRect/>
            </a:stretch>
          </p:blipFill>
          <p:spPr>
            <a:xfrm>
              <a:off x="9086850" y="888830"/>
              <a:ext cx="2874907" cy="548640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sellaDiTesto 11">
                  <a:extLst>
                    <a:ext uri="{FF2B5EF4-FFF2-40B4-BE49-F238E27FC236}">
                      <a16:creationId xmlns:a16="http://schemas.microsoft.com/office/drawing/2014/main" id="{50F404D8-E484-85EC-80A8-968DF814A4E3}"/>
                    </a:ext>
                  </a:extLst>
                </p:cNvPr>
                <p:cNvSpPr txBox="1"/>
                <p:nvPr/>
              </p:nvSpPr>
              <p:spPr>
                <a:xfrm>
                  <a:off x="6225553" y="3297919"/>
                  <a:ext cx="6109334" cy="3912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med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median</m:t>
                            </m:r>
                          </m:fName>
                          <m:e>
                            <m:r>
                              <m:rPr>
                                <m:lit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</m:e>
                        </m:func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lit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it-IT" b="0" dirty="0"/>
                </a:p>
              </p:txBody>
            </p:sp>
          </mc:Choice>
          <mc:Fallback xmlns="">
            <p:sp>
              <p:nvSpPr>
                <p:cNvPr id="12" name="CasellaDiTesto 11">
                  <a:extLst>
                    <a:ext uri="{FF2B5EF4-FFF2-40B4-BE49-F238E27FC236}">
                      <a16:creationId xmlns:a16="http://schemas.microsoft.com/office/drawing/2014/main" id="{50F404D8-E484-85EC-80A8-968DF814A4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5553" y="3297919"/>
                  <a:ext cx="6109334" cy="391261"/>
                </a:xfrm>
                <a:prstGeom prst="rect">
                  <a:avLst/>
                </a:prstGeom>
                <a:blipFill>
                  <a:blip r:embed="rId4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431533D-7F47-64FA-D175-4ABA5491DBD8}"/>
              </a:ext>
            </a:extLst>
          </p:cNvPr>
          <p:cNvSpPr txBox="1"/>
          <p:nvPr/>
        </p:nvSpPr>
        <p:spPr>
          <a:xfrm>
            <a:off x="609600" y="381000"/>
            <a:ext cx="55050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 err="1">
                <a:latin typeface="Aptos" panose="020B0004020202020204" pitchFamily="34" charset="0"/>
              </a:rPr>
              <a:t>Pre</a:t>
            </a:r>
            <a:r>
              <a:rPr lang="it-IT" sz="6000" b="1" dirty="0">
                <a:latin typeface="Aptos" panose="020B0004020202020204" pitchFamily="34" charset="0"/>
              </a:rPr>
              <a:t>-Processing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520FE6E6-0683-91B4-EC05-44C97965C1D7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A9003E5E-83C1-A89C-C864-AD89C965ECA7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F5DF6DE-DC27-C369-531F-E602755A5F83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463AC43-A696-102C-37C7-6017A571871A}"/>
              </a:ext>
            </a:extLst>
          </p:cNvPr>
          <p:cNvSpPr txBox="1"/>
          <p:nvPr/>
        </p:nvSpPr>
        <p:spPr>
          <a:xfrm>
            <a:off x="11671424" y="64808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3424C19-ECB8-39A3-D6E0-5DC5B3B0F179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FC5DB6B-DD9D-3F41-4069-3B890D8227DF}"/>
              </a:ext>
            </a:extLst>
          </p:cNvPr>
          <p:cNvSpPr txBox="1"/>
          <p:nvPr/>
        </p:nvSpPr>
        <p:spPr>
          <a:xfrm>
            <a:off x="639873" y="1115967"/>
            <a:ext cx="6109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Es. FLAIR</a:t>
            </a:r>
            <a:endParaRPr lang="it-IT" sz="2800" dirty="0">
              <a:latin typeface="Aptos" panose="020B00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DE898A1-7D0F-09B6-F5B4-3F5766FD0867}"/>
              </a:ext>
            </a:extLst>
          </p:cNvPr>
          <p:cNvSpPr txBox="1"/>
          <p:nvPr/>
        </p:nvSpPr>
        <p:spPr>
          <a:xfrm>
            <a:off x="609599" y="1974647"/>
            <a:ext cx="556258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Filtro Mediano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Obiettivo: </a:t>
            </a:r>
            <a:r>
              <a:rPr lang="it-IT" sz="2800" dirty="0">
                <a:latin typeface="Aptos" panose="020B0004020202020204" pitchFamily="34" charset="0"/>
              </a:rPr>
              <a:t>Ridurre il rumore </a:t>
            </a:r>
            <a:r>
              <a:rPr lang="it-IT" sz="2800" b="1" dirty="0">
                <a:latin typeface="Aptos" panose="020B0004020202020204" pitchFamily="34" charset="0"/>
              </a:rPr>
              <a:t>preservando i contorni </a:t>
            </a:r>
            <a:r>
              <a:rPr lang="it-IT" sz="2800" dirty="0">
                <a:latin typeface="Aptos" panose="020B0004020202020204" pitchFamily="34" charset="0"/>
              </a:rPr>
              <a:t>principali della lesione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it-IT" sz="2800" dirty="0">
              <a:latin typeface="Aptos" panose="020B0004020202020204" pitchFamily="34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Filtro spaziale </a:t>
            </a:r>
            <a:r>
              <a:rPr lang="it-IT" sz="2800" b="1" dirty="0">
                <a:latin typeface="Aptos" panose="020B0004020202020204" pitchFamily="34" charset="0"/>
              </a:rPr>
              <a:t>non-lineare</a:t>
            </a:r>
          </a:p>
          <a:p>
            <a:pPr marL="514350" indent="-514350" algn="l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Kernel</a:t>
            </a:r>
            <a:r>
              <a:rPr lang="it-IT" sz="2800" b="1" dirty="0">
                <a:latin typeface="Aptos" panose="020B0004020202020204" pitchFamily="34" charset="0"/>
              </a:rPr>
              <a:t> 3 x 3</a:t>
            </a:r>
          </a:p>
          <a:p>
            <a:pPr marL="514350" indent="-514350" algn="l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Riduce il </a:t>
            </a:r>
            <a:r>
              <a:rPr lang="it-IT" sz="2800" b="1" dirty="0">
                <a:latin typeface="Aptos" panose="020B0004020202020204" pitchFamily="34" charset="0"/>
              </a:rPr>
              <a:t>rumore impulsivo</a:t>
            </a:r>
          </a:p>
        </p:txBody>
      </p:sp>
    </p:spTree>
    <p:extLst>
      <p:ext uri="{BB962C8B-B14F-4D97-AF65-F5344CB8AC3E}">
        <p14:creationId xmlns:p14="http://schemas.microsoft.com/office/powerpoint/2010/main" val="4061808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F191E4-EC93-2C16-8968-103AC248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o 18">
            <a:extLst>
              <a:ext uri="{FF2B5EF4-FFF2-40B4-BE49-F238E27FC236}">
                <a16:creationId xmlns:a16="http://schemas.microsoft.com/office/drawing/2014/main" id="{E5CE5118-61F3-5CB0-CE7D-10C69978CECB}"/>
              </a:ext>
            </a:extLst>
          </p:cNvPr>
          <p:cNvGrpSpPr/>
          <p:nvPr/>
        </p:nvGrpSpPr>
        <p:grpSpPr>
          <a:xfrm>
            <a:off x="6519875" y="828666"/>
            <a:ext cx="6109334" cy="5486418"/>
            <a:chOff x="6577025" y="609591"/>
            <a:chExt cx="6109334" cy="5486418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9A2418B7-D0B7-B340-76F6-7314BD4FE0C1}"/>
                </a:ext>
              </a:extLst>
            </p:cNvPr>
            <p:cNvGrpSpPr/>
            <p:nvPr/>
          </p:nvGrpSpPr>
          <p:grpSpPr>
            <a:xfrm>
              <a:off x="6720090" y="609591"/>
              <a:ext cx="5382861" cy="5486418"/>
              <a:chOff x="6720090" y="609591"/>
              <a:chExt cx="5382861" cy="5486418"/>
            </a:xfrm>
          </p:grpSpPr>
          <p:pic>
            <p:nvPicPr>
              <p:cNvPr id="9" name="Immagine 8">
                <a:extLst>
                  <a:ext uri="{FF2B5EF4-FFF2-40B4-BE49-F238E27FC236}">
                    <a16:creationId xmlns:a16="http://schemas.microsoft.com/office/drawing/2014/main" id="{5BB647F9-F1A7-E111-4028-D42AF42B3C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87" t="5907" r="8208" b="5064"/>
              <a:stretch>
                <a:fillRect/>
              </a:stretch>
            </p:blipFill>
            <p:spPr>
              <a:xfrm>
                <a:off x="6720090" y="609591"/>
                <a:ext cx="2927474" cy="5486418"/>
              </a:xfrm>
              <a:prstGeom prst="rect">
                <a:avLst/>
              </a:prstGeom>
            </p:spPr>
          </p:pic>
          <p:pic>
            <p:nvPicPr>
              <p:cNvPr id="12" name="Immagine 11">
                <a:extLst>
                  <a:ext uri="{FF2B5EF4-FFF2-40B4-BE49-F238E27FC236}">
                    <a16:creationId xmlns:a16="http://schemas.microsoft.com/office/drawing/2014/main" id="{68A91574-56D0-1707-CF48-407DF2C461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475" t="52668" r="8239" b="5242"/>
              <a:stretch>
                <a:fillRect/>
              </a:stretch>
            </p:blipFill>
            <p:spPr>
              <a:xfrm>
                <a:off x="9631692" y="3558723"/>
                <a:ext cx="2471259" cy="2527149"/>
              </a:xfrm>
              <a:prstGeom prst="rect">
                <a:avLst/>
              </a:prstGeom>
            </p:spPr>
          </p:pic>
          <p:pic>
            <p:nvPicPr>
              <p:cNvPr id="15" name="Immagine 14">
                <a:extLst>
                  <a:ext uri="{FF2B5EF4-FFF2-40B4-BE49-F238E27FC236}">
                    <a16:creationId xmlns:a16="http://schemas.microsoft.com/office/drawing/2014/main" id="{AB248CA5-059A-D50A-F34E-4F53BAB519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447" t="9301" r="8786" b="60539"/>
              <a:stretch>
                <a:fillRect/>
              </a:stretch>
            </p:blipFill>
            <p:spPr>
              <a:xfrm>
                <a:off x="9647564" y="667354"/>
                <a:ext cx="2239624" cy="2425869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sellaDiTesto 16">
                  <a:extLst>
                    <a:ext uri="{FF2B5EF4-FFF2-40B4-BE49-F238E27FC236}">
                      <a16:creationId xmlns:a16="http://schemas.microsoft.com/office/drawing/2014/main" id="{6BC348DB-9D0E-C50C-6D56-DD8A2A427DD6}"/>
                    </a:ext>
                  </a:extLst>
                </p:cNvPr>
                <p:cNvSpPr txBox="1"/>
                <p:nvPr/>
              </p:nvSpPr>
              <p:spPr>
                <a:xfrm>
                  <a:off x="6577025" y="2961909"/>
                  <a:ext cx="6109334" cy="6747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Fusion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=0.6 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FLAIR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+0.4 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it-IT" b="0" i="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Fusion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=0.5 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FLAIR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+0.2 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+0.3 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it-IT" b="0" dirty="0"/>
                </a:p>
              </p:txBody>
            </p:sp>
          </mc:Choice>
          <mc:Fallback xmlns="">
            <p:sp>
              <p:nvSpPr>
                <p:cNvPr id="17" name="CasellaDiTesto 16">
                  <a:extLst>
                    <a:ext uri="{FF2B5EF4-FFF2-40B4-BE49-F238E27FC236}">
                      <a16:creationId xmlns:a16="http://schemas.microsoft.com/office/drawing/2014/main" id="{6BC348DB-9D0E-C50C-6D56-DD8A2A427D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7025" y="2961909"/>
                  <a:ext cx="6109334" cy="674736"/>
                </a:xfrm>
                <a:prstGeom prst="rect">
                  <a:avLst/>
                </a:prstGeom>
                <a:blipFill>
                  <a:blip r:embed="rId5"/>
                  <a:stretch>
                    <a:fillRect b="-3604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1DA2986-4E00-FBC2-AB21-B97ADDE1BE2B}"/>
              </a:ext>
            </a:extLst>
          </p:cNvPr>
          <p:cNvSpPr txBox="1"/>
          <p:nvPr/>
        </p:nvSpPr>
        <p:spPr>
          <a:xfrm>
            <a:off x="609600" y="381000"/>
            <a:ext cx="55050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 err="1">
                <a:latin typeface="Aptos" panose="020B0004020202020204" pitchFamily="34" charset="0"/>
              </a:rPr>
              <a:t>Pre</a:t>
            </a:r>
            <a:r>
              <a:rPr lang="it-IT" sz="6000" b="1" dirty="0">
                <a:latin typeface="Aptos" panose="020B0004020202020204" pitchFamily="34" charset="0"/>
              </a:rPr>
              <a:t>-Processing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402FEC26-79CE-622C-385F-DAE03A60F62C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03FE72D8-BBAB-38A1-18E5-64707F16FDC2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B8D1686-CC36-FBCE-C50F-8C585B78A055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EF54D05-1427-EF9E-EF19-E266F2DF19CE}"/>
              </a:ext>
            </a:extLst>
          </p:cNvPr>
          <p:cNvSpPr txBox="1"/>
          <p:nvPr/>
        </p:nvSpPr>
        <p:spPr>
          <a:xfrm>
            <a:off x="11671424" y="64808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18B251D-761A-9D07-0BCC-C118F5CF54D5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24D5CF3-B0D2-4612-84F0-63ECFF2986C9}"/>
              </a:ext>
            </a:extLst>
          </p:cNvPr>
          <p:cNvSpPr txBox="1"/>
          <p:nvPr/>
        </p:nvSpPr>
        <p:spPr>
          <a:xfrm>
            <a:off x="421232" y="1621106"/>
            <a:ext cx="602622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Fusione Multimodale (Fus2 e Fus3)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Obiettivo: </a:t>
            </a:r>
            <a:r>
              <a:rPr lang="it-IT" sz="2800" dirty="0">
                <a:latin typeface="Aptos" panose="020B0004020202020204" pitchFamily="34" charset="0"/>
              </a:rPr>
              <a:t>Integrare </a:t>
            </a:r>
            <a:r>
              <a:rPr lang="it-IT" sz="2800" b="1" dirty="0">
                <a:latin typeface="Aptos" panose="020B0004020202020204" pitchFamily="34" charset="0"/>
              </a:rPr>
              <a:t>informazioni complementari </a:t>
            </a:r>
            <a:r>
              <a:rPr lang="it-IT" sz="2800" dirty="0">
                <a:latin typeface="Aptos" panose="020B0004020202020204" pitchFamily="34" charset="0"/>
              </a:rPr>
              <a:t>delle sequenze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2800" dirty="0">
              <a:latin typeface="Aptos" panose="020B0004020202020204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FLAIR per l’</a:t>
            </a:r>
            <a:r>
              <a:rPr lang="it-IT" sz="2800" b="1" dirty="0">
                <a:latin typeface="Aptos" panose="020B0004020202020204" pitchFamily="34" charset="0"/>
              </a:rPr>
              <a:t>estensione</a:t>
            </a:r>
            <a:r>
              <a:rPr lang="it-IT" sz="2800" dirty="0">
                <a:latin typeface="Aptos" panose="020B0004020202020204" pitchFamily="34" charset="0"/>
              </a:rPr>
              <a:t> della lesione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T1c per la </a:t>
            </a:r>
            <a:r>
              <a:rPr lang="it-IT" sz="2800" b="1" dirty="0">
                <a:latin typeface="Aptos" panose="020B0004020202020204" pitchFamily="34" charset="0"/>
              </a:rPr>
              <a:t>componente attiva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T2 per la </a:t>
            </a:r>
            <a:r>
              <a:rPr lang="it-IT" sz="2800" b="1" dirty="0">
                <a:latin typeface="Aptos" panose="020B0004020202020204" pitchFamily="34" charset="0"/>
              </a:rPr>
              <a:t>localizzazione</a:t>
            </a:r>
            <a:r>
              <a:rPr lang="it-IT" sz="2800" dirty="0">
                <a:latin typeface="Aptos" panose="020B0004020202020204" pitchFamily="34" charset="0"/>
              </a:rPr>
              <a:t> della regione tumorale</a:t>
            </a:r>
          </a:p>
        </p:txBody>
      </p:sp>
    </p:spTree>
    <p:extLst>
      <p:ext uri="{BB962C8B-B14F-4D97-AF65-F5344CB8AC3E}">
        <p14:creationId xmlns:p14="http://schemas.microsoft.com/office/powerpoint/2010/main" val="3240513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53B916-72F6-BC5A-D6B6-6863E9DBD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B56EC8E4-D42B-6468-9AB9-D43CC3C38B0A}"/>
              </a:ext>
            </a:extLst>
          </p:cNvPr>
          <p:cNvGrpSpPr/>
          <p:nvPr/>
        </p:nvGrpSpPr>
        <p:grpSpPr>
          <a:xfrm>
            <a:off x="5506224" y="1116106"/>
            <a:ext cx="6956641" cy="4759138"/>
            <a:chOff x="5267326" y="1176100"/>
            <a:chExt cx="6956641" cy="4759138"/>
          </a:xfrm>
        </p:grpSpPr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41E713A5-2106-D1CF-C960-85A77CCF9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0218"/>
            <a:stretch>
              <a:fillRect/>
            </a:stretch>
          </p:blipFill>
          <p:spPr>
            <a:xfrm>
              <a:off x="5267326" y="1176100"/>
              <a:ext cx="6109334" cy="461093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asellaDiTesto 23">
                  <a:extLst>
                    <a:ext uri="{FF2B5EF4-FFF2-40B4-BE49-F238E27FC236}">
                      <a16:creationId xmlns:a16="http://schemas.microsoft.com/office/drawing/2014/main" id="{3848CF27-D90F-D559-013F-416269D53557}"/>
                    </a:ext>
                  </a:extLst>
                </p:cNvPr>
                <p:cNvSpPr txBox="1"/>
                <p:nvPr/>
              </p:nvSpPr>
              <p:spPr>
                <a:xfrm>
                  <a:off x="6114633" y="5428561"/>
                  <a:ext cx="6109334" cy="5066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seed</m:t>
                                </m:r>
                              </m:sub>
                            </m:s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seed</m:t>
                                </m:r>
                              </m:sub>
                            </m:sSub>
                          </m:e>
                        </m:d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lim>
                                </m:limLow>
                              </m:fName>
                              <m:e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𝑆𝑒𝑒𝑑𝑀𝑎𝑝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  <a:endParaRPr lang="it-IT" b="0" dirty="0"/>
                </a:p>
              </p:txBody>
            </p:sp>
          </mc:Choice>
          <mc:Fallback xmlns="">
            <p:sp>
              <p:nvSpPr>
                <p:cNvPr id="24" name="CasellaDiTesto 23">
                  <a:extLst>
                    <a:ext uri="{FF2B5EF4-FFF2-40B4-BE49-F238E27FC236}">
                      <a16:creationId xmlns:a16="http://schemas.microsoft.com/office/drawing/2014/main" id="{3848CF27-D90F-D559-013F-416269D535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4633" y="5428561"/>
                  <a:ext cx="6109334" cy="506677"/>
                </a:xfrm>
                <a:prstGeom prst="rect">
                  <a:avLst/>
                </a:prstGeom>
                <a:blipFill>
                  <a:blip r:embed="rId4"/>
                  <a:stretch>
                    <a:fillRect b="-1205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3F66F9E-0485-8DDB-52C8-7F26DEBA2AA3}"/>
              </a:ext>
            </a:extLst>
          </p:cNvPr>
          <p:cNvSpPr txBox="1"/>
          <p:nvPr/>
        </p:nvSpPr>
        <p:spPr>
          <a:xfrm>
            <a:off x="628649" y="1584752"/>
            <a:ext cx="633198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dirty="0" err="1">
                <a:latin typeface="Aptos" panose="020B0004020202020204" pitchFamily="34" charset="0"/>
              </a:rPr>
              <a:t>Seed</a:t>
            </a:r>
            <a:r>
              <a:rPr lang="it-IT" sz="2800" b="1" dirty="0">
                <a:latin typeface="Aptos" panose="020B0004020202020204" pitchFamily="34" charset="0"/>
              </a:rPr>
              <a:t> </a:t>
            </a:r>
            <a:r>
              <a:rPr lang="it-IT" sz="2800" b="1" dirty="0" err="1">
                <a:latin typeface="Aptos" panose="020B0004020202020204" pitchFamily="34" charset="0"/>
              </a:rPr>
              <a:t>Map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Obiettivo: </a:t>
            </a:r>
            <a:r>
              <a:rPr lang="it-IT" sz="2800" dirty="0">
                <a:latin typeface="Aptos" panose="020B0004020202020204" pitchFamily="34" charset="0"/>
              </a:rPr>
              <a:t>Selezionare il </a:t>
            </a:r>
            <a:r>
              <a:rPr lang="it-IT" sz="2800" b="1" dirty="0">
                <a:latin typeface="Aptos" panose="020B0004020202020204" pitchFamily="34" charset="0"/>
              </a:rPr>
              <a:t>seme iniziale</a:t>
            </a:r>
            <a:r>
              <a:rPr lang="it-IT" sz="2800" dirty="0">
                <a:latin typeface="Aptos" panose="020B0004020202020204" pitchFamily="34" charset="0"/>
              </a:rPr>
              <a:t> per guidare il </a:t>
            </a:r>
            <a:r>
              <a:rPr lang="it-IT" sz="2800" b="1" dirty="0" err="1">
                <a:latin typeface="Aptos" panose="020B0004020202020204" pitchFamily="34" charset="0"/>
              </a:rPr>
              <a:t>Region</a:t>
            </a:r>
            <a:r>
              <a:rPr lang="it-IT" sz="2800" b="1" dirty="0">
                <a:latin typeface="Aptos" panose="020B0004020202020204" pitchFamily="34" charset="0"/>
              </a:rPr>
              <a:t> </a:t>
            </a:r>
            <a:r>
              <a:rPr lang="it-IT" sz="2800" b="1" dirty="0" err="1">
                <a:latin typeface="Aptos" panose="020B0004020202020204" pitchFamily="34" charset="0"/>
              </a:rPr>
              <a:t>Growing</a:t>
            </a:r>
            <a:endParaRPr lang="it-IT" sz="2800" b="1" dirty="0">
              <a:latin typeface="Aptos" panose="020B0004020202020204" pitchFamily="34" charset="0"/>
            </a:endParaRPr>
          </a:p>
          <a:p>
            <a:pPr algn="just"/>
            <a:endParaRPr lang="it-IT" sz="2800" dirty="0">
              <a:latin typeface="Aptos" panose="020B0004020202020204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Costruita da </a:t>
            </a:r>
            <a:r>
              <a:rPr lang="it-IT" sz="2800" b="1" dirty="0">
                <a:latin typeface="Aptos" panose="020B0004020202020204" pitchFamily="34" charset="0"/>
              </a:rPr>
              <a:t>Fusion3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800" b="1" dirty="0">
                <a:latin typeface="Aptos" panose="020B0004020202020204" pitchFamily="34" charset="0"/>
              </a:rPr>
              <a:t>Influenza del rumore</a:t>
            </a:r>
            <a:r>
              <a:rPr lang="it-IT" sz="2800" dirty="0">
                <a:latin typeface="Aptos" panose="020B0004020202020204" pitchFamily="34" charset="0"/>
              </a:rPr>
              <a:t> ridotta con </a:t>
            </a:r>
            <a:r>
              <a:rPr lang="it-IT" sz="2800" b="1" dirty="0">
                <a:latin typeface="Aptos" panose="020B0004020202020204" pitchFamily="34" charset="0"/>
              </a:rPr>
              <a:t>filtro gaussiano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Seme come coordinate del </a:t>
            </a:r>
            <a:r>
              <a:rPr lang="it-IT" sz="2800" b="1" dirty="0">
                <a:latin typeface="Aptos" panose="020B0004020202020204" pitchFamily="34" charset="0"/>
              </a:rPr>
              <a:t>pixel più intenso</a:t>
            </a:r>
            <a:endParaRPr lang="it-IT" sz="2800" dirty="0">
              <a:latin typeface="Aptos" panose="020B0004020202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0105719-488A-2A04-DEB5-6C77FC102CEF}"/>
              </a:ext>
            </a:extLst>
          </p:cNvPr>
          <p:cNvSpPr txBox="1"/>
          <p:nvPr/>
        </p:nvSpPr>
        <p:spPr>
          <a:xfrm>
            <a:off x="609600" y="381000"/>
            <a:ext cx="55050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 err="1">
                <a:latin typeface="Aptos" panose="020B0004020202020204" pitchFamily="34" charset="0"/>
              </a:rPr>
              <a:t>Pre</a:t>
            </a:r>
            <a:r>
              <a:rPr lang="it-IT" sz="6000" b="1" dirty="0">
                <a:latin typeface="Aptos" panose="020B0004020202020204" pitchFamily="34" charset="0"/>
              </a:rPr>
              <a:t>-Processing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73DFBD50-6639-C60B-7C6F-3806591E2F45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1C2338EB-A630-1D71-B72D-3CC2EA78DE96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A7F71636-09C9-1795-8DEB-24CA80C6EA7D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B582BD5-C5DD-1824-8442-2F0990E65C1B}"/>
              </a:ext>
            </a:extLst>
          </p:cNvPr>
          <p:cNvSpPr txBox="1"/>
          <p:nvPr/>
        </p:nvSpPr>
        <p:spPr>
          <a:xfrm>
            <a:off x="11671424" y="64808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90FDC9D-83C2-17D1-0EF2-FCA47711DD82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</p:spTree>
    <p:extLst>
      <p:ext uri="{BB962C8B-B14F-4D97-AF65-F5344CB8AC3E}">
        <p14:creationId xmlns:p14="http://schemas.microsoft.com/office/powerpoint/2010/main" val="1717905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7D6B76-9357-BFAD-A8ED-FD5C2EE8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60AAD435-4732-E158-C54B-3302357CA6FA}"/>
              </a:ext>
            </a:extLst>
          </p:cNvPr>
          <p:cNvSpPr txBox="1"/>
          <p:nvPr/>
        </p:nvSpPr>
        <p:spPr>
          <a:xfrm>
            <a:off x="609600" y="381000"/>
            <a:ext cx="56028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Segmentazione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17CDA685-3323-C542-1956-D88EA18FE0E6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31DDBC3F-79E2-0A07-1EFA-F9BE51D39D8D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719BDBD-07B2-7411-DA1C-088298ECC344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E9C002A-11DB-9ECE-1DD0-28866BC40495}"/>
              </a:ext>
            </a:extLst>
          </p:cNvPr>
          <p:cNvSpPr txBox="1"/>
          <p:nvPr/>
        </p:nvSpPr>
        <p:spPr>
          <a:xfrm>
            <a:off x="11671424" y="64808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40662F2-AA4D-711F-AF3B-514027B3D99B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621C499-771A-1F8D-4F8C-0A969AE31236}"/>
              </a:ext>
            </a:extLst>
          </p:cNvPr>
          <p:cNvSpPr txBox="1"/>
          <p:nvPr/>
        </p:nvSpPr>
        <p:spPr>
          <a:xfrm>
            <a:off x="639873" y="1201692"/>
            <a:ext cx="6109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Es. Fusion3</a:t>
            </a:r>
            <a:endParaRPr lang="it-IT" sz="2800" dirty="0">
              <a:latin typeface="Aptos" panose="020B0004020202020204" pitchFamily="34" charset="0"/>
            </a:endParaRP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CC148A63-CB7B-8C5B-3167-B6874AA47E89}"/>
              </a:ext>
            </a:extLst>
          </p:cNvPr>
          <p:cNvGrpSpPr/>
          <p:nvPr/>
        </p:nvGrpSpPr>
        <p:grpSpPr>
          <a:xfrm>
            <a:off x="7999303" y="1463302"/>
            <a:ext cx="3552824" cy="4554761"/>
            <a:chOff x="7696201" y="1524061"/>
            <a:chExt cx="3552824" cy="4554761"/>
          </a:xfrm>
        </p:grpSpPr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CCD08B2A-B9CF-507E-1857-C4A6797A1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08" t="7111" r="59772" b="55948"/>
            <a:stretch>
              <a:fillRect/>
            </a:stretch>
          </p:blipFill>
          <p:spPr>
            <a:xfrm>
              <a:off x="7696201" y="1524061"/>
              <a:ext cx="3552824" cy="3724232"/>
            </a:xfrm>
            <a:prstGeom prst="rect">
              <a:avLst/>
            </a:prstGeom>
          </p:spPr>
        </p:pic>
        <p:pic>
          <p:nvPicPr>
            <p:cNvPr id="17" name="Immagine 16">
              <a:extLst>
                <a:ext uri="{FF2B5EF4-FFF2-40B4-BE49-F238E27FC236}">
                  <a16:creationId xmlns:a16="http://schemas.microsoft.com/office/drawing/2014/main" id="{206DB5D1-3B0C-34FE-ACFD-7E31E8E96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34722" y="5248293"/>
              <a:ext cx="3514303" cy="830529"/>
            </a:xfrm>
            <a:prstGeom prst="rect">
              <a:avLst/>
            </a:prstGeom>
          </p:spPr>
        </p:pic>
      </p:grp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B91D577-57D0-F5F8-6E35-192585B1F053}"/>
              </a:ext>
            </a:extLst>
          </p:cNvPr>
          <p:cNvSpPr txBox="1"/>
          <p:nvPr/>
        </p:nvSpPr>
        <p:spPr>
          <a:xfrm>
            <a:off x="609600" y="1917855"/>
            <a:ext cx="709612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Otsu Multilivello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800" b="1" dirty="0">
                <a:latin typeface="Aptos" panose="020B0004020202020204" pitchFamily="34" charset="0"/>
              </a:rPr>
              <a:t>Segmentazione </a:t>
            </a:r>
            <a:r>
              <a:rPr lang="it-IT" sz="2800" dirty="0">
                <a:latin typeface="Aptos" panose="020B0004020202020204" pitchFamily="34" charset="0"/>
              </a:rPr>
              <a:t>basata su </a:t>
            </a:r>
            <a:r>
              <a:rPr lang="it-IT" sz="2800" b="1" dirty="0" err="1">
                <a:latin typeface="Aptos" panose="020B0004020202020204" pitchFamily="34" charset="0"/>
              </a:rPr>
              <a:t>sogliatura</a:t>
            </a:r>
            <a:r>
              <a:rPr lang="it-IT" sz="2800" dirty="0">
                <a:latin typeface="Aptos" panose="020B0004020202020204" pitchFamily="34" charset="0"/>
              </a:rPr>
              <a:t> multilivello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Separa le classi massimizzando la </a:t>
            </a:r>
            <a:r>
              <a:rPr lang="it-IT" sz="2800" b="1" dirty="0">
                <a:latin typeface="Aptos" panose="020B0004020202020204" pitchFamily="34" charset="0"/>
              </a:rPr>
              <a:t>varianza inter-classe </a:t>
            </a:r>
            <a:r>
              <a:rPr lang="it-IT" sz="2800" dirty="0">
                <a:latin typeface="Aptos" panose="020B0004020202020204" pitchFamily="34" charset="0"/>
              </a:rPr>
              <a:t>e minimizzando quella </a:t>
            </a:r>
            <a:r>
              <a:rPr lang="it-IT" sz="2800" b="1" dirty="0">
                <a:latin typeface="Aptos" panose="020B0004020202020204" pitchFamily="34" charset="0"/>
              </a:rPr>
              <a:t>intra-classe </a:t>
            </a:r>
            <a:r>
              <a:rPr lang="it-IT" sz="2800" dirty="0">
                <a:latin typeface="Aptos" panose="020B0004020202020204" pitchFamily="34" charset="0"/>
              </a:rPr>
              <a:t>dall’istogramma</a:t>
            </a:r>
            <a:endParaRPr lang="it-IT" sz="2800" b="1" dirty="0">
              <a:latin typeface="Aptos" panose="020B0004020202020204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Selezione della </a:t>
            </a:r>
            <a:r>
              <a:rPr lang="it-IT" sz="2800" b="1" dirty="0">
                <a:latin typeface="Aptos" panose="020B0004020202020204" pitchFamily="34" charset="0"/>
              </a:rPr>
              <a:t>classe con intensità più alta </a:t>
            </a:r>
            <a:r>
              <a:rPr lang="it-IT" sz="2800" dirty="0">
                <a:latin typeface="Aptos" panose="020B0004020202020204" pitchFamily="34" charset="0"/>
              </a:rPr>
              <a:t>tra le due soglie individuate</a:t>
            </a:r>
            <a:endParaRPr lang="it-IT" sz="28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938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CDC289-D58A-DC5D-8F09-8EC675E7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o 16">
            <a:extLst>
              <a:ext uri="{FF2B5EF4-FFF2-40B4-BE49-F238E27FC236}">
                <a16:creationId xmlns:a16="http://schemas.microsoft.com/office/drawing/2014/main" id="{A8BB7479-C39A-C27C-4289-083A745CFF75}"/>
              </a:ext>
            </a:extLst>
          </p:cNvPr>
          <p:cNvGrpSpPr/>
          <p:nvPr/>
        </p:nvGrpSpPr>
        <p:grpSpPr>
          <a:xfrm>
            <a:off x="7540176" y="1724912"/>
            <a:ext cx="4590769" cy="4253730"/>
            <a:chOff x="7329838" y="1463302"/>
            <a:chExt cx="4590769" cy="4253730"/>
          </a:xfrm>
        </p:grpSpPr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CFA2ADC5-2976-C15F-B80E-5E2C61024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325" t="7111" r="15854" b="55948"/>
            <a:stretch>
              <a:fillRect/>
            </a:stretch>
          </p:blipFill>
          <p:spPr>
            <a:xfrm>
              <a:off x="7882148" y="1463302"/>
              <a:ext cx="3486150" cy="3724232"/>
            </a:xfrm>
            <a:prstGeom prst="rect">
              <a:avLst/>
            </a:prstGeom>
          </p:spPr>
        </p:pic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96F8A13B-0CE6-03FA-27D8-706B73DA2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29838" y="5321520"/>
              <a:ext cx="4590769" cy="395512"/>
            </a:xfrm>
            <a:prstGeom prst="rect">
              <a:avLst/>
            </a:prstGeom>
          </p:spPr>
        </p:pic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58577FC-68A9-2DF3-5285-0BBA6159C30B}"/>
              </a:ext>
            </a:extLst>
          </p:cNvPr>
          <p:cNvSpPr txBox="1"/>
          <p:nvPr/>
        </p:nvSpPr>
        <p:spPr>
          <a:xfrm>
            <a:off x="609600" y="381000"/>
            <a:ext cx="56028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Segmentazione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7A202E54-63D9-BB3D-733D-1C2FCFC21BC5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998DB2DB-DA81-8C98-EF5B-38B1DA5BAC9A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A13A892-539F-2D83-E989-63C348B0E98A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B80D98C-15D7-64C1-FE20-EC64DC442902}"/>
              </a:ext>
            </a:extLst>
          </p:cNvPr>
          <p:cNvSpPr txBox="1"/>
          <p:nvPr/>
        </p:nvSpPr>
        <p:spPr>
          <a:xfrm>
            <a:off x="11671424" y="64808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A790CB0-BF4E-BD81-46A0-13F10E4E80F2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A860B97-55F8-5E60-DCAA-CC5490D130DC}"/>
              </a:ext>
            </a:extLst>
          </p:cNvPr>
          <p:cNvSpPr txBox="1"/>
          <p:nvPr/>
        </p:nvSpPr>
        <p:spPr>
          <a:xfrm>
            <a:off x="639873" y="1201692"/>
            <a:ext cx="6109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Es. Fusion3</a:t>
            </a:r>
            <a:endParaRPr lang="it-IT" sz="2800" dirty="0">
              <a:latin typeface="Aptos" panose="020B0004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CBE4D87-D7F6-C6EE-A45C-797CCD450F44}"/>
              </a:ext>
            </a:extLst>
          </p:cNvPr>
          <p:cNvSpPr txBox="1"/>
          <p:nvPr/>
        </p:nvSpPr>
        <p:spPr>
          <a:xfrm>
            <a:off x="639873" y="1902034"/>
            <a:ext cx="70116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dirty="0" err="1">
                <a:latin typeface="Aptos" panose="020B0004020202020204" pitchFamily="34" charset="0"/>
              </a:rPr>
              <a:t>Region</a:t>
            </a:r>
            <a:r>
              <a:rPr lang="it-IT" sz="2800" b="1" dirty="0">
                <a:latin typeface="Aptos" panose="020B0004020202020204" pitchFamily="34" charset="0"/>
              </a:rPr>
              <a:t> </a:t>
            </a:r>
            <a:r>
              <a:rPr lang="it-IT" sz="2800" b="1" dirty="0" err="1">
                <a:latin typeface="Aptos" panose="020B0004020202020204" pitchFamily="34" charset="0"/>
              </a:rPr>
              <a:t>Growing</a:t>
            </a:r>
            <a:endParaRPr lang="it-IT" sz="2800" b="1" dirty="0">
              <a:latin typeface="Aptos" panose="020B0004020202020204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Segmentazione per </a:t>
            </a:r>
            <a:r>
              <a:rPr lang="it-IT" sz="2800" b="1" dirty="0">
                <a:latin typeface="Aptos" panose="020B0004020202020204" pitchFamily="34" charset="0"/>
              </a:rPr>
              <a:t>accrescimento della regione</a:t>
            </a:r>
            <a:endParaRPr lang="it-IT" sz="2800" dirty="0">
              <a:latin typeface="Aptos" panose="020B0004020202020204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Si espande </a:t>
            </a:r>
            <a:r>
              <a:rPr lang="it-IT" sz="2800" b="1" dirty="0">
                <a:latin typeface="Aptos" panose="020B0004020202020204" pitchFamily="34" charset="0"/>
              </a:rPr>
              <a:t>iterativamente</a:t>
            </a:r>
            <a:r>
              <a:rPr lang="it-IT" sz="2800" dirty="0">
                <a:latin typeface="Aptos" panose="020B0004020202020204" pitchFamily="34" charset="0"/>
              </a:rPr>
              <a:t> dal </a:t>
            </a:r>
            <a:r>
              <a:rPr lang="it-IT" sz="2800" b="1" dirty="0">
                <a:latin typeface="Aptos" panose="020B0004020202020204" pitchFamily="34" charset="0"/>
              </a:rPr>
              <a:t>seme iniziale</a:t>
            </a:r>
            <a:r>
              <a:rPr lang="it-IT" sz="2800" dirty="0">
                <a:latin typeface="Aptos" panose="020B0004020202020204" pitchFamily="34" charset="0"/>
              </a:rPr>
              <a:t> verso i </a:t>
            </a:r>
            <a:r>
              <a:rPr lang="it-IT" sz="2800" b="1" dirty="0">
                <a:latin typeface="Aptos" panose="020B0004020202020204" pitchFamily="34" charset="0"/>
              </a:rPr>
              <a:t>pixel adiacenti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Soglia di omogeneità come </a:t>
            </a:r>
            <a:r>
              <a:rPr lang="it-IT" sz="2800" b="1" dirty="0">
                <a:latin typeface="Aptos" panose="020B0004020202020204" pitchFamily="34" charset="0"/>
              </a:rPr>
              <a:t>6° percentile </a:t>
            </a:r>
            <a:r>
              <a:rPr lang="it-IT" sz="2800" dirty="0">
                <a:latin typeface="Aptos" panose="020B0004020202020204" pitchFamily="34" charset="0"/>
              </a:rPr>
              <a:t>delle intensità nella </a:t>
            </a:r>
            <a:r>
              <a:rPr lang="it-IT" sz="2800" b="1" dirty="0">
                <a:latin typeface="Aptos" panose="020B0004020202020204" pitchFamily="34" charset="0"/>
              </a:rPr>
              <a:t>maschera di Otsu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Seleziona la </a:t>
            </a:r>
            <a:r>
              <a:rPr lang="it-IT" sz="2800" b="1" dirty="0">
                <a:latin typeface="Aptos" panose="020B0004020202020204" pitchFamily="34" charset="0"/>
              </a:rPr>
              <a:t>componente connessa </a:t>
            </a:r>
            <a:r>
              <a:rPr lang="it-IT" sz="2800" dirty="0">
                <a:latin typeface="Aptos" panose="020B0004020202020204" pitchFamily="34" charset="0"/>
              </a:rPr>
              <a:t>che contiene il seme iniziale</a:t>
            </a:r>
          </a:p>
        </p:txBody>
      </p:sp>
    </p:spTree>
    <p:extLst>
      <p:ext uri="{BB962C8B-B14F-4D97-AF65-F5344CB8AC3E}">
        <p14:creationId xmlns:p14="http://schemas.microsoft.com/office/powerpoint/2010/main" val="2167502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967594-F0BC-E4CF-842D-02CC6FC92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74169C45-AD5D-A561-46AE-E3AEBA0754BC}"/>
              </a:ext>
            </a:extLst>
          </p:cNvPr>
          <p:cNvGrpSpPr/>
          <p:nvPr/>
        </p:nvGrpSpPr>
        <p:grpSpPr>
          <a:xfrm>
            <a:off x="8185274" y="1396663"/>
            <a:ext cx="3590251" cy="4566261"/>
            <a:chOff x="8185274" y="1396663"/>
            <a:chExt cx="3590251" cy="4566261"/>
          </a:xfrm>
        </p:grpSpPr>
        <p:grpSp>
          <p:nvGrpSpPr>
            <p:cNvPr id="21" name="Gruppo 20">
              <a:extLst>
                <a:ext uri="{FF2B5EF4-FFF2-40B4-BE49-F238E27FC236}">
                  <a16:creationId xmlns:a16="http://schemas.microsoft.com/office/drawing/2014/main" id="{6106C42C-6376-7C2A-E923-D74FB33D5EBC}"/>
                </a:ext>
              </a:extLst>
            </p:cNvPr>
            <p:cNvGrpSpPr/>
            <p:nvPr/>
          </p:nvGrpSpPr>
          <p:grpSpPr>
            <a:xfrm>
              <a:off x="8270324" y="5171419"/>
              <a:ext cx="3505201" cy="791505"/>
              <a:chOff x="8029389" y="5543751"/>
              <a:chExt cx="3505201" cy="791505"/>
            </a:xfrm>
          </p:grpSpPr>
          <p:pic>
            <p:nvPicPr>
              <p:cNvPr id="20" name="Immagine 19">
                <a:extLst>
                  <a:ext uri="{FF2B5EF4-FFF2-40B4-BE49-F238E27FC236}">
                    <a16:creationId xmlns:a16="http://schemas.microsoft.com/office/drawing/2014/main" id="{36C47B99-A44B-0EC6-EA6F-BEB981160C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29389" y="5897106"/>
                <a:ext cx="3505201" cy="438150"/>
              </a:xfrm>
              <a:prstGeom prst="rect">
                <a:avLst/>
              </a:prstGeom>
            </p:spPr>
          </p:pic>
          <p:pic>
            <p:nvPicPr>
              <p:cNvPr id="17" name="Immagine 16">
                <a:extLst>
                  <a:ext uri="{FF2B5EF4-FFF2-40B4-BE49-F238E27FC236}">
                    <a16:creationId xmlns:a16="http://schemas.microsoft.com/office/drawing/2014/main" id="{E19DF399-A1E8-DD2F-69C4-4788FDABF7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77024" y="5543751"/>
                <a:ext cx="2613522" cy="438150"/>
              </a:xfrm>
              <a:prstGeom prst="rect">
                <a:avLst/>
              </a:prstGeom>
            </p:spPr>
          </p:pic>
        </p:grpSp>
        <p:pic>
          <p:nvPicPr>
            <p:cNvPr id="2" name="Immagine 1">
              <a:extLst>
                <a:ext uri="{FF2B5EF4-FFF2-40B4-BE49-F238E27FC236}">
                  <a16:creationId xmlns:a16="http://schemas.microsoft.com/office/drawing/2014/main" id="{398CD760-C613-5A13-962F-25287ADAE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33" t="53192" r="60146" b="9867"/>
            <a:stretch>
              <a:fillRect/>
            </a:stretch>
          </p:blipFill>
          <p:spPr>
            <a:xfrm>
              <a:off x="8185274" y="1396663"/>
              <a:ext cx="3486150" cy="3724232"/>
            </a:xfrm>
            <a:prstGeom prst="rect">
              <a:avLst/>
            </a:prstGeom>
          </p:spPr>
        </p:pic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0F299A5-1E10-EF9F-0BCA-094EBB9EE2EF}"/>
              </a:ext>
            </a:extLst>
          </p:cNvPr>
          <p:cNvSpPr txBox="1"/>
          <p:nvPr/>
        </p:nvSpPr>
        <p:spPr>
          <a:xfrm>
            <a:off x="609600" y="381000"/>
            <a:ext cx="56028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Segmentazione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D23658B8-A86D-F5D6-D8FD-CD304A8906EC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BB2CC926-EB27-9334-762C-951C322A6511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54BCE5D-1019-71B8-66F5-1BD0F9D98825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DB7162A-B334-26F2-4FD6-E5009BCCE622}"/>
              </a:ext>
            </a:extLst>
          </p:cNvPr>
          <p:cNvSpPr txBox="1"/>
          <p:nvPr/>
        </p:nvSpPr>
        <p:spPr>
          <a:xfrm>
            <a:off x="11671424" y="64808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C5E8BD7-39C7-66EE-B505-9EF009111BB3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6D525A0-0F46-B489-1CF0-76B6E08553C3}"/>
              </a:ext>
            </a:extLst>
          </p:cNvPr>
          <p:cNvSpPr txBox="1"/>
          <p:nvPr/>
        </p:nvSpPr>
        <p:spPr>
          <a:xfrm>
            <a:off x="639873" y="1201692"/>
            <a:ext cx="6109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Es. Fusion3</a:t>
            </a:r>
            <a:endParaRPr lang="it-IT" sz="2800" dirty="0">
              <a:latin typeface="Aptos" panose="020B000402020202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D489704-A057-DDD9-B1F7-971CE80FEAE4}"/>
              </a:ext>
            </a:extLst>
          </p:cNvPr>
          <p:cNvSpPr txBox="1"/>
          <p:nvPr/>
        </p:nvSpPr>
        <p:spPr>
          <a:xfrm>
            <a:off x="637039" y="1894529"/>
            <a:ext cx="72393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dirty="0" err="1">
                <a:latin typeface="Aptos" panose="020B0004020202020204" pitchFamily="34" charset="0"/>
              </a:rPr>
              <a:t>Watershed</a:t>
            </a:r>
            <a:r>
              <a:rPr lang="it-IT" sz="2800" b="1" dirty="0">
                <a:latin typeface="Aptos" panose="020B0004020202020204" pitchFamily="34" charset="0"/>
              </a:rPr>
              <a:t> con Marcatori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Segmentazione basata sulla </a:t>
            </a:r>
            <a:r>
              <a:rPr lang="it-IT" sz="2800" b="1" dirty="0">
                <a:latin typeface="Aptos" panose="020B0004020202020204" pitchFamily="34" charset="0"/>
              </a:rPr>
              <a:t>superficie</a:t>
            </a:r>
            <a:r>
              <a:rPr lang="it-IT" sz="2800" dirty="0">
                <a:latin typeface="Aptos" panose="020B0004020202020204" pitchFamily="34" charset="0"/>
              </a:rPr>
              <a:t> </a:t>
            </a:r>
            <a:r>
              <a:rPr lang="it-IT" sz="2800" b="1" dirty="0">
                <a:latin typeface="Aptos" panose="020B0004020202020204" pitchFamily="34" charset="0"/>
              </a:rPr>
              <a:t>topografica </a:t>
            </a:r>
            <a:r>
              <a:rPr lang="it-IT" sz="2800" dirty="0">
                <a:latin typeface="Aptos" panose="020B0004020202020204" pitchFamily="34" charset="0"/>
              </a:rPr>
              <a:t>dell’immagine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Usa la </a:t>
            </a:r>
            <a:r>
              <a:rPr lang="it-IT" sz="2800" b="1" dirty="0">
                <a:latin typeface="Aptos" panose="020B0004020202020204" pitchFamily="34" charset="0"/>
              </a:rPr>
              <a:t>trasformata di distanza </a:t>
            </a:r>
            <a:r>
              <a:rPr lang="it-IT" sz="2800" dirty="0">
                <a:latin typeface="Aptos" panose="020B0004020202020204" pitchFamily="34" charset="0"/>
              </a:rPr>
              <a:t>per generare le regioni da separare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Impone minimi tramite </a:t>
            </a:r>
            <a:r>
              <a:rPr lang="it-IT" sz="2800" b="1" dirty="0">
                <a:latin typeface="Aptos" panose="020B0004020202020204" pitchFamily="34" charset="0"/>
              </a:rPr>
              <a:t>marcatori </a:t>
            </a:r>
            <a:r>
              <a:rPr lang="it-IT" sz="2800" dirty="0">
                <a:latin typeface="Aptos" panose="020B0004020202020204" pitchFamily="34" charset="0"/>
              </a:rPr>
              <a:t>estratti da Otsu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Valida la </a:t>
            </a:r>
            <a:r>
              <a:rPr lang="it-IT" sz="2800" b="1" dirty="0">
                <a:latin typeface="Aptos" panose="020B0004020202020204" pitchFamily="34" charset="0"/>
              </a:rPr>
              <a:t>maschera</a:t>
            </a:r>
            <a:r>
              <a:rPr lang="it-IT" sz="2800" dirty="0">
                <a:latin typeface="Aptos" panose="020B0004020202020204" pitchFamily="34" charset="0"/>
              </a:rPr>
              <a:t> ottenuta dal </a:t>
            </a:r>
            <a:r>
              <a:rPr lang="it-IT" sz="2800" dirty="0" err="1">
                <a:latin typeface="Aptos" panose="020B0004020202020204" pitchFamily="34" charset="0"/>
              </a:rPr>
              <a:t>Region</a:t>
            </a:r>
            <a:r>
              <a:rPr lang="it-IT" sz="2800" dirty="0">
                <a:latin typeface="Aptos" panose="020B0004020202020204" pitchFamily="34" charset="0"/>
              </a:rPr>
              <a:t> </a:t>
            </a:r>
            <a:r>
              <a:rPr lang="it-IT" sz="2800" dirty="0" err="1">
                <a:latin typeface="Aptos" panose="020B0004020202020204" pitchFamily="34" charset="0"/>
              </a:rPr>
              <a:t>Growing</a:t>
            </a:r>
            <a:endParaRPr lang="it-IT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485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84F68DB0-B4C8-E170-7495-E166674B7D7F}"/>
              </a:ext>
            </a:extLst>
          </p:cNvPr>
          <p:cNvSpPr txBox="1"/>
          <p:nvPr/>
        </p:nvSpPr>
        <p:spPr>
          <a:xfrm>
            <a:off x="609600" y="381000"/>
            <a:ext cx="5905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Post-Processing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7133A27-DBCD-5648-E637-26E9C1C57317}"/>
              </a:ext>
            </a:extLst>
          </p:cNvPr>
          <p:cNvSpPr txBox="1"/>
          <p:nvPr/>
        </p:nvSpPr>
        <p:spPr>
          <a:xfrm>
            <a:off x="639873" y="1201692"/>
            <a:ext cx="6109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Es. Fusion3</a:t>
            </a:r>
            <a:endParaRPr lang="it-IT" sz="2800" dirty="0">
              <a:latin typeface="Aptos" panose="020B0004020202020204" pitchFamily="34" charset="0"/>
            </a:endParaRPr>
          </a:p>
        </p:txBody>
      </p:sp>
      <p:grpSp>
        <p:nvGrpSpPr>
          <p:cNvPr id="6" name="object 9">
            <a:extLst>
              <a:ext uri="{FF2B5EF4-FFF2-40B4-BE49-F238E27FC236}">
                <a16:creationId xmlns:a16="http://schemas.microsoft.com/office/drawing/2014/main" id="{95955274-8E1B-5361-5229-F20368C88938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7" name="object 10">
              <a:extLst>
                <a:ext uri="{FF2B5EF4-FFF2-40B4-BE49-F238E27FC236}">
                  <a16:creationId xmlns:a16="http://schemas.microsoft.com/office/drawing/2014/main" id="{F8D935B3-449B-0F5C-018B-1794D4406072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5ABCC1E9-5E2B-848B-C553-3AFF95D1C1CB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5EABA1C-862A-D10F-BA1F-CD8B3E922085}"/>
              </a:ext>
            </a:extLst>
          </p:cNvPr>
          <p:cNvSpPr txBox="1"/>
          <p:nvPr/>
        </p:nvSpPr>
        <p:spPr>
          <a:xfrm>
            <a:off x="11671423" y="64808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FC604BD-67DF-4850-ED49-8374DF86A008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EE2229B-012F-844D-6E60-CC686B1BC6E7}"/>
              </a:ext>
            </a:extLst>
          </p:cNvPr>
          <p:cNvSpPr txBox="1"/>
          <p:nvPr/>
        </p:nvSpPr>
        <p:spPr>
          <a:xfrm>
            <a:off x="572277" y="1997167"/>
            <a:ext cx="762933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Obiettivo: Rifinire la maschera finale </a:t>
            </a:r>
            <a:r>
              <a:rPr lang="it-IT" sz="2800" dirty="0">
                <a:latin typeface="Aptos" panose="020B0004020202020204" pitchFamily="34" charset="0"/>
              </a:rPr>
              <a:t>e rimuovere regioni spurie</a:t>
            </a:r>
          </a:p>
          <a:p>
            <a:pPr algn="just"/>
            <a:endParaRPr lang="it-IT" sz="2800" dirty="0">
              <a:latin typeface="Aptos" panose="020B0004020202020204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it-IT" sz="2800" b="1" dirty="0">
                <a:latin typeface="Aptos" panose="020B0004020202020204" pitchFamily="34" charset="0"/>
              </a:rPr>
              <a:t>Chiusura</a:t>
            </a:r>
            <a:r>
              <a:rPr lang="it-IT" sz="2800" dirty="0">
                <a:latin typeface="Aptos" panose="020B0004020202020204" pitchFamily="34" charset="0"/>
              </a:rPr>
              <a:t> morfologica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800" dirty="0">
                <a:latin typeface="Aptos" panose="020B0004020202020204" pitchFamily="34" charset="0"/>
              </a:rPr>
              <a:t>Riempimento dei </a:t>
            </a:r>
            <a:r>
              <a:rPr lang="it-IT" sz="2800" b="1" dirty="0">
                <a:latin typeface="Aptos" panose="020B0004020202020204" pitchFamily="34" charset="0"/>
              </a:rPr>
              <a:t>buchi</a:t>
            </a:r>
            <a:endParaRPr lang="it-IT" sz="2800" dirty="0">
              <a:latin typeface="Aptos" panose="020B0004020202020204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it-IT" sz="2800" b="1" dirty="0">
                <a:latin typeface="Aptos" panose="020B0004020202020204" pitchFamily="34" charset="0"/>
              </a:rPr>
              <a:t>Selezione della componente </a:t>
            </a:r>
            <a:r>
              <a:rPr lang="it-IT" sz="2800" dirty="0">
                <a:latin typeface="Aptos" panose="020B0004020202020204" pitchFamily="34" charset="0"/>
              </a:rPr>
              <a:t>connessa con area maggiore</a:t>
            </a: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BC6C343B-27DC-E73B-BE9C-AF6F59AF1F52}"/>
              </a:ext>
            </a:extLst>
          </p:cNvPr>
          <p:cNvGrpSpPr/>
          <p:nvPr/>
        </p:nvGrpSpPr>
        <p:grpSpPr>
          <a:xfrm>
            <a:off x="8609694" y="170689"/>
            <a:ext cx="3117715" cy="6189433"/>
            <a:chOff x="8619024" y="208011"/>
            <a:chExt cx="3117715" cy="6189433"/>
          </a:xfrm>
        </p:grpSpPr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BCA7ADFD-C8D5-CA4A-BF06-11FB3C022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02" t="16259" r="51913" b="22502"/>
            <a:stretch>
              <a:fillRect/>
            </a:stretch>
          </p:blipFill>
          <p:spPr>
            <a:xfrm>
              <a:off x="8619024" y="208011"/>
              <a:ext cx="3117715" cy="3108543"/>
            </a:xfrm>
            <a:prstGeom prst="rect">
              <a:avLst/>
            </a:prstGeom>
          </p:spPr>
        </p:pic>
        <p:pic>
          <p:nvPicPr>
            <p:cNvPr id="15" name="Immagine 14">
              <a:extLst>
                <a:ext uri="{FF2B5EF4-FFF2-40B4-BE49-F238E27FC236}">
                  <a16:creationId xmlns:a16="http://schemas.microsoft.com/office/drawing/2014/main" id="{0D701E57-B1B7-3415-6600-EA76A4E98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006" t="15700" r="7949" b="22502"/>
            <a:stretch>
              <a:fillRect/>
            </a:stretch>
          </p:blipFill>
          <p:spPr>
            <a:xfrm>
              <a:off x="8698264" y="3260558"/>
              <a:ext cx="3038475" cy="31368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4849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8063A84-A79C-DFF6-DE6B-D59EA582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65C01E97-E63C-E1EF-EDA3-54F542AE7309}"/>
              </a:ext>
            </a:extLst>
          </p:cNvPr>
          <p:cNvSpPr txBox="1"/>
          <p:nvPr/>
        </p:nvSpPr>
        <p:spPr>
          <a:xfrm>
            <a:off x="609600" y="381000"/>
            <a:ext cx="31309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Risultati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BB649D98-B8AE-E041-3CDC-684FBCE0968C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6CFB9A1E-3273-859E-A1F5-68F97DF8194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7D17E7DC-CA6B-ED93-11A9-96A0396C9B7B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3F6FD0B-E5CE-2E0A-E828-5B3AAC5E54B0}"/>
              </a:ext>
            </a:extLst>
          </p:cNvPr>
          <p:cNvSpPr txBox="1"/>
          <p:nvPr/>
        </p:nvSpPr>
        <p:spPr>
          <a:xfrm>
            <a:off x="11671424" y="64808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17CF2E1-408B-4283-A62B-E8031EB2AB6E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06EA26A7-EAE8-D9F3-EABB-B3DD9D6B1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662229"/>
              </p:ext>
            </p:extLst>
          </p:nvPr>
        </p:nvGraphicFramePr>
        <p:xfrm>
          <a:off x="746125" y="3646662"/>
          <a:ext cx="8128000" cy="230657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3814779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531555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36367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82885218"/>
                    </a:ext>
                  </a:extLst>
                </a:gridCol>
              </a:tblGrid>
              <a:tr h="452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latin typeface="Aptos" panose="020B0004020202020204" pitchFamily="34" charset="0"/>
                        </a:rPr>
                        <a:t>Configurazione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latin typeface="Aptos" panose="020B0004020202020204" pitchFamily="34" charset="0"/>
                        </a:rPr>
                        <a:t>Dice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latin typeface="Aptos" panose="020B0004020202020204" pitchFamily="34" charset="0"/>
                        </a:rPr>
                        <a:t>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32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FLAIR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latin typeface="Aptos" panose="020B0004020202020204" pitchFamily="34" charset="0"/>
                        </a:rPr>
                        <a:t>0.795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0.900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9553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latin typeface="Aptos" panose="020B0004020202020204" pitchFamily="34" charset="0"/>
                        </a:rPr>
                        <a:t>T1c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0.195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0.178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0.886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32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latin typeface="Aptos" panose="020B0004020202020204" pitchFamily="34" charset="0"/>
                        </a:rPr>
                        <a:t>0.520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latin typeface="Aptos" panose="020B0004020202020204" pitchFamily="34" charset="0"/>
                        </a:rPr>
                        <a:t>0.428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0.893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851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Fusion2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0.755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latin typeface="Aptos" panose="020B0004020202020204" pitchFamily="34" charset="0"/>
                        </a:rPr>
                        <a:t>0.842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33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 dirty="0">
                          <a:latin typeface="Aptos" panose="020B0004020202020204" pitchFamily="34" charset="0"/>
                        </a:rPr>
                        <a:t>Fusion3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 dirty="0">
                          <a:latin typeface="Aptos" panose="020B0004020202020204" pitchFamily="34" charset="0"/>
                        </a:rPr>
                        <a:t>0.806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 dirty="0">
                          <a:latin typeface="Aptos" panose="020B0004020202020204" pitchFamily="34" charset="0"/>
                        </a:rPr>
                        <a:t>0.744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 dirty="0">
                          <a:latin typeface="Aptos" panose="020B0004020202020204" pitchFamily="34" charset="0"/>
                        </a:rPr>
                        <a:t>0.935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0209419"/>
                  </a:ext>
                </a:extLst>
              </a:tr>
            </a:tbl>
          </a:graphicData>
        </a:graphic>
      </p:graphicFrame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33A6F0E-F6FD-E55C-F706-CEF8BE619147}"/>
              </a:ext>
            </a:extLst>
          </p:cNvPr>
          <p:cNvSpPr txBox="1"/>
          <p:nvPr/>
        </p:nvSpPr>
        <p:spPr>
          <a:xfrm>
            <a:off x="657225" y="1488756"/>
            <a:ext cx="8305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Metriche Numeriche Aggregate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Fusion3 migliore in media </a:t>
            </a:r>
            <a:r>
              <a:rPr lang="it-IT" sz="2800" dirty="0">
                <a:latin typeface="Aptos" panose="020B0004020202020204" pitchFamily="34" charset="0"/>
              </a:rPr>
              <a:t>su tutto il dataset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Fusion2</a:t>
            </a:r>
            <a:r>
              <a:rPr lang="it-IT" sz="2800" dirty="0">
                <a:latin typeface="Aptos" panose="020B0004020202020204" pitchFamily="34" charset="0"/>
              </a:rPr>
              <a:t> migliore </a:t>
            </a:r>
            <a:r>
              <a:rPr lang="it-IT" sz="2800" b="1" dirty="0">
                <a:latin typeface="Aptos" panose="020B0004020202020204" pitchFamily="34" charset="0"/>
              </a:rPr>
              <a:t>sensibilità</a:t>
            </a:r>
            <a:r>
              <a:rPr lang="it-IT" sz="2800" dirty="0">
                <a:latin typeface="Aptos" panose="020B0004020202020204" pitchFamily="34" charset="0"/>
              </a:rPr>
              <a:t> ma meno precisa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FLAIR</a:t>
            </a:r>
            <a:r>
              <a:rPr lang="it-IT" sz="2800" dirty="0">
                <a:latin typeface="Aptos" panose="020B0004020202020204" pitchFamily="34" charset="0"/>
              </a:rPr>
              <a:t> buona </a:t>
            </a:r>
            <a:r>
              <a:rPr lang="it-IT" sz="2800" b="1" dirty="0">
                <a:latin typeface="Aptos" panose="020B0004020202020204" pitchFamily="34" charset="0"/>
              </a:rPr>
              <a:t>singolarmente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AEB2E43-7EA2-9759-6545-E08D0EF43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850" y="1989636"/>
            <a:ext cx="3181338" cy="1245705"/>
          </a:xfrm>
          <a:prstGeom prst="rect">
            <a:avLst/>
          </a:prstGeom>
        </p:spPr>
      </p:pic>
      <p:grpSp>
        <p:nvGrpSpPr>
          <p:cNvPr id="19" name="Gruppo 18">
            <a:extLst>
              <a:ext uri="{FF2B5EF4-FFF2-40B4-BE49-F238E27FC236}">
                <a16:creationId xmlns:a16="http://schemas.microsoft.com/office/drawing/2014/main" id="{51E0F49B-30E2-9BFB-5EE6-2FBD6B20B75A}"/>
              </a:ext>
            </a:extLst>
          </p:cNvPr>
          <p:cNvGrpSpPr/>
          <p:nvPr/>
        </p:nvGrpSpPr>
        <p:grpSpPr>
          <a:xfrm>
            <a:off x="9048766" y="3749934"/>
            <a:ext cx="2762222" cy="2100033"/>
            <a:chOff x="9124966" y="3731590"/>
            <a:chExt cx="2762222" cy="2100033"/>
          </a:xfrm>
        </p:grpSpPr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6DEF68A5-76FE-8795-124A-8D4A0B763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24966" y="3731590"/>
              <a:ext cx="2762222" cy="647069"/>
            </a:xfrm>
            <a:prstGeom prst="rect">
              <a:avLst/>
            </a:prstGeom>
          </p:spPr>
        </p:pic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EBFC6D92-A27B-3CE1-82B3-C2D49576D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24966" y="4465385"/>
              <a:ext cx="2762222" cy="627468"/>
            </a:xfrm>
            <a:prstGeom prst="rect">
              <a:avLst/>
            </a:prstGeom>
          </p:spPr>
        </p:pic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F833A282-90A9-D70E-FD66-DFA4D000D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67279" y="5266304"/>
              <a:ext cx="2395876" cy="5653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1181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782DC5-51BF-6707-4E0B-14D46471B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F0B9BBB0-58BA-9815-1881-886BE346560C}"/>
              </a:ext>
            </a:extLst>
          </p:cNvPr>
          <p:cNvSpPr txBox="1"/>
          <p:nvPr/>
        </p:nvSpPr>
        <p:spPr>
          <a:xfrm>
            <a:off x="609600" y="381000"/>
            <a:ext cx="31309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Risultati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7F8ECB76-3F82-D3DF-5380-6E007B733AC8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C52FD1FE-86F2-3F20-10BA-64DD9974532A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4A0F0F2-86CF-A348-CC38-BDBE51D9FED6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F71D956-FAC1-D417-16AC-E521D3C6204F}"/>
              </a:ext>
            </a:extLst>
          </p:cNvPr>
          <p:cNvSpPr txBox="1"/>
          <p:nvPr/>
        </p:nvSpPr>
        <p:spPr>
          <a:xfrm>
            <a:off x="11671424" y="64808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4D67425-C849-DA65-B5A8-4D99FB068AB9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396C5E0-D0D1-9CA4-C36C-3209EBAF0BAC}"/>
              </a:ext>
            </a:extLst>
          </p:cNvPr>
          <p:cNvSpPr txBox="1"/>
          <p:nvPr/>
        </p:nvSpPr>
        <p:spPr>
          <a:xfrm>
            <a:off x="657225" y="1488756"/>
            <a:ext cx="98107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Casi Rappresentativi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La multimodalità </a:t>
            </a:r>
            <a:r>
              <a:rPr lang="it-IT" sz="2800" b="1" dirty="0">
                <a:latin typeface="Aptos" panose="020B0004020202020204" pitchFamily="34" charset="0"/>
              </a:rPr>
              <a:t>non è sempre migliore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Fusion3 è spesso la migliore</a:t>
            </a:r>
            <a:r>
              <a:rPr lang="it-IT" sz="2800" dirty="0">
                <a:latin typeface="Aptos" panose="020B0004020202020204" pitchFamily="34" charset="0"/>
              </a:rPr>
              <a:t>, ma non in tutti i casi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Esistono casi in cui la pipeline </a:t>
            </a:r>
            <a:r>
              <a:rPr lang="it-IT" sz="2800" b="1" dirty="0">
                <a:latin typeface="Aptos" panose="020B0004020202020204" pitchFamily="34" charset="0"/>
              </a:rPr>
              <a:t>fallisce completamente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E4DDC3C4-7C3B-170E-E847-DE3128DF8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889681"/>
              </p:ext>
            </p:extLst>
          </p:nvPr>
        </p:nvGraphicFramePr>
        <p:xfrm>
          <a:off x="2114032" y="3637339"/>
          <a:ext cx="7963935" cy="230270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6500">
                  <a:extLst>
                    <a:ext uri="{9D8B030D-6E8A-4147-A177-3AD203B41FA5}">
                      <a16:colId xmlns:a16="http://schemas.microsoft.com/office/drawing/2014/main" val="1381477919"/>
                    </a:ext>
                  </a:extLst>
                </a:gridCol>
                <a:gridCol w="1237393">
                  <a:extLst>
                    <a:ext uri="{9D8B030D-6E8A-4147-A177-3AD203B41FA5}">
                      <a16:colId xmlns:a16="http://schemas.microsoft.com/office/drawing/2014/main" val="1953155594"/>
                    </a:ext>
                  </a:extLst>
                </a:gridCol>
                <a:gridCol w="1230908">
                  <a:extLst>
                    <a:ext uri="{9D8B030D-6E8A-4147-A177-3AD203B41FA5}">
                      <a16:colId xmlns:a16="http://schemas.microsoft.com/office/drawing/2014/main" val="193636761"/>
                    </a:ext>
                  </a:extLst>
                </a:gridCol>
                <a:gridCol w="1110930">
                  <a:extLst>
                    <a:ext uri="{9D8B030D-6E8A-4147-A177-3AD203B41FA5}">
                      <a16:colId xmlns:a16="http://schemas.microsoft.com/office/drawing/2014/main" val="2382885218"/>
                    </a:ext>
                  </a:extLst>
                </a:gridCol>
                <a:gridCol w="1375205">
                  <a:extLst>
                    <a:ext uri="{9D8B030D-6E8A-4147-A177-3AD203B41FA5}">
                      <a16:colId xmlns:a16="http://schemas.microsoft.com/office/drawing/2014/main" val="1584489291"/>
                    </a:ext>
                  </a:extLst>
                </a:gridCol>
                <a:gridCol w="1322999">
                  <a:extLst>
                    <a:ext uri="{9D8B030D-6E8A-4147-A177-3AD203B41FA5}">
                      <a16:colId xmlns:a16="http://schemas.microsoft.com/office/drawing/2014/main" val="3143600087"/>
                    </a:ext>
                  </a:extLst>
                </a:gridCol>
              </a:tblGrid>
              <a:tr h="5439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 dirty="0">
                          <a:latin typeface="Aptos" panose="020B0004020202020204" pitchFamily="34" charset="0"/>
                        </a:rPr>
                        <a:t>Paziente</a:t>
                      </a:r>
                      <a:endParaRPr lang="it-IT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 dirty="0">
                          <a:latin typeface="Aptos" panose="020B0004020202020204" pitchFamily="34" charset="0"/>
                        </a:rPr>
                        <a:t>FLAIR</a:t>
                      </a:r>
                      <a:endParaRPr lang="it-IT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>
                          <a:latin typeface="Aptos" panose="020B0004020202020204" pitchFamily="34" charset="0"/>
                        </a:rPr>
                        <a:t>T1c</a:t>
                      </a:r>
                      <a:endParaRPr lang="it-IT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>
                          <a:latin typeface="Aptos" panose="020B0004020202020204" pitchFamily="34" charset="0"/>
                        </a:rPr>
                        <a:t>T2</a:t>
                      </a:r>
                      <a:endParaRPr lang="it-IT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>
                          <a:latin typeface="Aptos" panose="020B0004020202020204" pitchFamily="34" charset="0"/>
                        </a:rPr>
                        <a:t>Fusion2</a:t>
                      </a:r>
                      <a:endParaRPr lang="it-IT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 dirty="0">
                          <a:latin typeface="Aptos" panose="020B0004020202020204" pitchFamily="34" charset="0"/>
                        </a:rPr>
                        <a:t>Fusion3</a:t>
                      </a:r>
                      <a:endParaRPr lang="it-IT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328361"/>
                  </a:ext>
                </a:extLst>
              </a:tr>
              <a:tr h="4396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0" dirty="0">
                          <a:latin typeface="Aptos" panose="020B0004020202020204" pitchFamily="34" charset="0"/>
                        </a:rPr>
                        <a:t>BRATS_128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0.879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0.645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0.318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>
                          <a:latin typeface="Aptos" panose="020B0004020202020204" pitchFamily="34" charset="0"/>
                        </a:rPr>
                        <a:t>0.963</a:t>
                      </a:r>
                      <a:endParaRPr lang="it-IT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9553924"/>
                  </a:ext>
                </a:extLst>
              </a:tr>
              <a:tr h="4396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0" dirty="0">
                          <a:latin typeface="Aptos" panose="020B0004020202020204" pitchFamily="34" charset="0"/>
                        </a:rPr>
                        <a:t>BRATS_248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>
                          <a:latin typeface="Aptos" panose="020B0004020202020204" pitchFamily="34" charset="0"/>
                        </a:rPr>
                        <a:t>0.974</a:t>
                      </a:r>
                      <a:endParaRPr lang="it-IT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0.534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0.396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0.967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0.963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32735"/>
                  </a:ext>
                </a:extLst>
              </a:tr>
              <a:tr h="4396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0" dirty="0">
                          <a:latin typeface="Aptos" panose="020B0004020202020204" pitchFamily="34" charset="0"/>
                        </a:rPr>
                        <a:t>BRATS_140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latin typeface="Aptos" panose="020B0004020202020204" pitchFamily="34" charset="0"/>
                        </a:rPr>
                        <a:t>0.271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>
                          <a:latin typeface="Aptos" panose="020B0004020202020204" pitchFamily="34" charset="0"/>
                        </a:rPr>
                        <a:t>0.680</a:t>
                      </a:r>
                      <a:endParaRPr lang="it-IT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latin typeface="Aptos" panose="020B0004020202020204" pitchFamily="34" charset="0"/>
                        </a:rPr>
                        <a:t>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851313"/>
                  </a:ext>
                </a:extLst>
              </a:tr>
              <a:tr h="4396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0" dirty="0">
                          <a:latin typeface="Aptos" panose="020B0004020202020204" pitchFamily="34" charset="0"/>
                        </a:rPr>
                        <a:t>BRATS_380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0" dirty="0">
                          <a:latin typeface="Aptos" panose="020B0004020202020204" pitchFamily="34" charset="0"/>
                        </a:rPr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0" dirty="0">
                          <a:latin typeface="Aptos" panose="020B0004020202020204" pitchFamily="34" charset="0"/>
                        </a:rPr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0" dirty="0">
                          <a:latin typeface="Aptos" panose="020B0004020202020204" pitchFamily="34" charset="0"/>
                        </a:rPr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0" dirty="0">
                          <a:latin typeface="Aptos" panose="020B0004020202020204" pitchFamily="34" charset="0"/>
                        </a:rPr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 dirty="0">
                          <a:latin typeface="Aptos" panose="020B0004020202020204" pitchFamily="34" charset="0"/>
                        </a:rPr>
                        <a:t>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33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349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1AB884-08F0-3827-B2D8-CC5974EF1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o 16">
            <a:extLst>
              <a:ext uri="{FF2B5EF4-FFF2-40B4-BE49-F238E27FC236}">
                <a16:creationId xmlns:a16="http://schemas.microsoft.com/office/drawing/2014/main" id="{1C6CA79E-E915-1857-F4D0-E8C834C47307}"/>
              </a:ext>
            </a:extLst>
          </p:cNvPr>
          <p:cNvGrpSpPr/>
          <p:nvPr/>
        </p:nvGrpSpPr>
        <p:grpSpPr>
          <a:xfrm>
            <a:off x="162976" y="1755937"/>
            <a:ext cx="12029024" cy="4076623"/>
            <a:chOff x="147027" y="1893667"/>
            <a:chExt cx="12029024" cy="4076623"/>
          </a:xfrm>
        </p:grpSpPr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173BF9D1-737B-2457-5AA5-03B791304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50" t="6082" r="6833" b="1962"/>
            <a:stretch>
              <a:fillRect/>
            </a:stretch>
          </p:blipFill>
          <p:spPr>
            <a:xfrm>
              <a:off x="6243027" y="1893667"/>
              <a:ext cx="5933024" cy="4076623"/>
            </a:xfrm>
            <a:prstGeom prst="rect">
              <a:avLst/>
            </a:prstGeom>
          </p:spPr>
        </p:pic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F23085E3-132A-436E-1023-E5A8517BC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34" t="6081" r="6949" b="9367"/>
            <a:stretch>
              <a:fillRect/>
            </a:stretch>
          </p:blipFill>
          <p:spPr>
            <a:xfrm>
              <a:off x="147027" y="1893667"/>
              <a:ext cx="5933024" cy="3748374"/>
            </a:xfrm>
            <a:prstGeom prst="rect">
              <a:avLst/>
            </a:prstGeom>
          </p:spPr>
        </p:pic>
      </p:grp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E20B981-42A8-892C-5B8A-6A3D5B51463D}"/>
              </a:ext>
            </a:extLst>
          </p:cNvPr>
          <p:cNvSpPr txBox="1"/>
          <p:nvPr/>
        </p:nvSpPr>
        <p:spPr>
          <a:xfrm>
            <a:off x="639873" y="1127044"/>
            <a:ext cx="6875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Casi Migliori: BRATS_128 e BRATS_248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9F3F82C-91DC-80E9-1E75-7B40894ECA34}"/>
              </a:ext>
            </a:extLst>
          </p:cNvPr>
          <p:cNvSpPr txBox="1"/>
          <p:nvPr/>
        </p:nvSpPr>
        <p:spPr>
          <a:xfrm>
            <a:off x="609600" y="381000"/>
            <a:ext cx="31309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Risultati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B4E66E4D-C36C-C2FA-3859-62B2AFCA1C71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9DCDA070-549D-5F0B-2171-DE3E34E7ECCD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C1EDD2E7-5B52-57C8-C635-DAEA4A2890E5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710A6EB-AE84-6EFE-BB57-3DE17C9795CE}"/>
              </a:ext>
            </a:extLst>
          </p:cNvPr>
          <p:cNvSpPr txBox="1"/>
          <p:nvPr/>
        </p:nvSpPr>
        <p:spPr>
          <a:xfrm>
            <a:off x="11671424" y="64808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BBC1B96-A6FA-3EC4-E11F-2A85E2D047AF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5F8B297-C28C-515E-38BC-1CF06861BAED}"/>
              </a:ext>
            </a:extLst>
          </p:cNvPr>
          <p:cNvSpPr txBox="1"/>
          <p:nvPr/>
        </p:nvSpPr>
        <p:spPr>
          <a:xfrm>
            <a:off x="263598" y="5651792"/>
            <a:ext cx="117514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000" b="1" dirty="0">
                <a:latin typeface="Aptos" panose="020B0004020202020204" pitchFamily="34" charset="0"/>
              </a:rPr>
              <a:t>BRATS_128: </a:t>
            </a:r>
            <a:r>
              <a:rPr lang="it-IT" sz="2000" dirty="0"/>
              <a:t>Fusion3 beneficia delle informazioni multimodali e ottiene il Dice migliore</a:t>
            </a:r>
            <a:endParaRPr lang="it-IT" sz="20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000" b="1" dirty="0">
                <a:latin typeface="Aptos" panose="020B0004020202020204" pitchFamily="34" charset="0"/>
              </a:rPr>
              <a:t>BRATS_248: </a:t>
            </a:r>
            <a:r>
              <a:rPr lang="it-IT" sz="2000" dirty="0">
                <a:latin typeface="Aptos" panose="020B0004020202020204" pitchFamily="34" charset="0"/>
              </a:rPr>
              <a:t>FLAIR già sufficiente e </a:t>
            </a:r>
            <a:r>
              <a:rPr lang="it-IT" sz="2000" dirty="0"/>
              <a:t>la fusione mantiene il risultato elevato</a:t>
            </a:r>
            <a:endParaRPr lang="it-IT" sz="2000" dirty="0">
              <a:latin typeface="Aptos" panose="020B0004020202020204" pitchFamily="34" charset="0"/>
            </a:endParaRP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1D19631A-9FAC-D2F4-DE49-B3AD2AA39C6A}"/>
              </a:ext>
            </a:extLst>
          </p:cNvPr>
          <p:cNvCxnSpPr/>
          <p:nvPr/>
        </p:nvCxnSpPr>
        <p:spPr>
          <a:xfrm>
            <a:off x="6108441" y="1912026"/>
            <a:ext cx="0" cy="3592285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323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E90F1E-EF6F-FB8A-44E2-84FA29013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4F66BCB3-E432-5B6F-B3AE-BC943090DFCF}"/>
              </a:ext>
            </a:extLst>
          </p:cNvPr>
          <p:cNvGrpSpPr/>
          <p:nvPr/>
        </p:nvGrpSpPr>
        <p:grpSpPr>
          <a:xfrm>
            <a:off x="123649" y="1768327"/>
            <a:ext cx="12062128" cy="4115151"/>
            <a:chOff x="187786" y="2021951"/>
            <a:chExt cx="12062128" cy="4115151"/>
          </a:xfrm>
        </p:grpSpPr>
        <p:pic>
          <p:nvPicPr>
            <p:cNvPr id="19" name="Immagine 18">
              <a:extLst>
                <a:ext uri="{FF2B5EF4-FFF2-40B4-BE49-F238E27FC236}">
                  <a16:creationId xmlns:a16="http://schemas.microsoft.com/office/drawing/2014/main" id="{0086903E-EE52-8883-C566-EFC67F6ED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53" t="6045" r="5876" b="9517"/>
            <a:stretch>
              <a:fillRect/>
            </a:stretch>
          </p:blipFill>
          <p:spPr>
            <a:xfrm>
              <a:off x="187786" y="2021951"/>
              <a:ext cx="6051477" cy="3773393"/>
            </a:xfrm>
            <a:prstGeom prst="rect">
              <a:avLst/>
            </a:prstGeom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7D476E0B-4772-CCD0-9C4F-DCA28F86F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94" t="7658" r="7125" b="1731"/>
            <a:stretch>
              <a:fillRect/>
            </a:stretch>
          </p:blipFill>
          <p:spPr>
            <a:xfrm>
              <a:off x="6302639" y="2093598"/>
              <a:ext cx="5947275" cy="4043504"/>
            </a:xfrm>
            <a:prstGeom prst="rect">
              <a:avLst/>
            </a:prstGeom>
          </p:spPr>
        </p:pic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CB911BE-F9CC-019E-B7CE-16ECBB830C57}"/>
              </a:ext>
            </a:extLst>
          </p:cNvPr>
          <p:cNvSpPr txBox="1"/>
          <p:nvPr/>
        </p:nvSpPr>
        <p:spPr>
          <a:xfrm>
            <a:off x="609600" y="381000"/>
            <a:ext cx="31309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Risultati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805A1717-47F7-050B-E17E-70944FA2346B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112DA18E-8723-8ED5-E28D-B498CBAB68EC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3111E87-A9AF-466B-B5D5-F8856BEBD65D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4B30B5F-E434-FE7D-B111-211714CD6680}"/>
              </a:ext>
            </a:extLst>
          </p:cNvPr>
          <p:cNvSpPr txBox="1"/>
          <p:nvPr/>
        </p:nvSpPr>
        <p:spPr>
          <a:xfrm>
            <a:off x="11671424" y="64808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D0DBB36-B449-31AD-653E-D360AE4A8931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85AC3B4-CF79-A7A1-9190-632B24F61C19}"/>
              </a:ext>
            </a:extLst>
          </p:cNvPr>
          <p:cNvSpPr txBox="1"/>
          <p:nvPr/>
        </p:nvSpPr>
        <p:spPr>
          <a:xfrm>
            <a:off x="639873" y="1127044"/>
            <a:ext cx="6875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Casi Peggiori: BRATS_140 e BRATS_380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E4AD14C-F261-EDA1-9A01-C8BADE8E7F08}"/>
              </a:ext>
            </a:extLst>
          </p:cNvPr>
          <p:cNvSpPr txBox="1"/>
          <p:nvPr/>
        </p:nvSpPr>
        <p:spPr>
          <a:xfrm>
            <a:off x="263598" y="5658765"/>
            <a:ext cx="117514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000" b="1" dirty="0">
                <a:latin typeface="Aptos" panose="020B0004020202020204" pitchFamily="34" charset="0"/>
              </a:rPr>
              <a:t>BRATS_140: </a:t>
            </a:r>
            <a:r>
              <a:rPr lang="it-IT" sz="2000" dirty="0"/>
              <a:t>Fusion2 fornisce un risultato discretamente utile, mentre Fusion3 fallisce</a:t>
            </a:r>
            <a:endParaRPr lang="it-IT" sz="20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000" b="1" dirty="0">
                <a:latin typeface="Aptos" panose="020B0004020202020204" pitchFamily="34" charset="0"/>
              </a:rPr>
              <a:t>BRATS_380: </a:t>
            </a:r>
            <a:r>
              <a:rPr lang="it-IT" sz="2000" dirty="0">
                <a:latin typeface="Aptos" panose="020B0004020202020204" pitchFamily="34" charset="0"/>
              </a:rPr>
              <a:t>F</a:t>
            </a:r>
            <a:r>
              <a:rPr lang="it-IT" sz="2000" dirty="0"/>
              <a:t>allimento completo della pipeline in tutte le configurazioni</a:t>
            </a:r>
            <a:endParaRPr lang="it-IT" sz="2000" dirty="0">
              <a:latin typeface="Aptos" panose="020B0004020202020204" pitchFamily="34" charset="0"/>
            </a:endParaRP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569E8FE9-96BF-2839-1FBF-2018F05DB1D4}"/>
              </a:ext>
            </a:extLst>
          </p:cNvPr>
          <p:cNvCxnSpPr/>
          <p:nvPr/>
        </p:nvCxnSpPr>
        <p:spPr>
          <a:xfrm>
            <a:off x="6108441" y="1912026"/>
            <a:ext cx="0" cy="3592285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362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17CD18-628C-26ED-8BE4-B954D1A1C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33E9C42F-2060-F6D4-4E58-648AC05A6F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7"/>
          <a:stretch>
            <a:fillRect/>
          </a:stretch>
        </p:blipFill>
        <p:spPr bwMode="auto">
          <a:xfrm>
            <a:off x="7043480" y="3174330"/>
            <a:ext cx="4843707" cy="1540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2698373-EC99-3EFA-15CA-9130EA138072}"/>
              </a:ext>
            </a:extLst>
          </p:cNvPr>
          <p:cNvSpPr txBox="1"/>
          <p:nvPr/>
        </p:nvSpPr>
        <p:spPr>
          <a:xfrm>
            <a:off x="609600" y="381000"/>
            <a:ext cx="44085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Conclusioni</a:t>
            </a:r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DBB74026-5829-4FEE-0A68-2BC1B0499304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A4BD403F-A04F-37D7-1005-8AF922EA758F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00CB054-1E4B-78D9-A7B3-C8719DEF4888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92016FD-9BD7-E286-8CC6-5D45EC575B04}"/>
              </a:ext>
            </a:extLst>
          </p:cNvPr>
          <p:cNvSpPr txBox="1"/>
          <p:nvPr/>
        </p:nvSpPr>
        <p:spPr>
          <a:xfrm>
            <a:off x="11671423" y="64808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92B2A07-88CB-EAC9-92B2-2156D11A7EC0}"/>
              </a:ext>
            </a:extLst>
          </p:cNvPr>
          <p:cNvSpPr txBox="1"/>
          <p:nvPr/>
        </p:nvSpPr>
        <p:spPr>
          <a:xfrm>
            <a:off x="82177" y="6465351"/>
            <a:ext cx="52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Segmentazione di Tumori Cerebrali in Immagini MRI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6217CB6-5094-5287-40C9-08BF17F5CB12}"/>
              </a:ext>
            </a:extLst>
          </p:cNvPr>
          <p:cNvSpPr txBox="1"/>
          <p:nvPr/>
        </p:nvSpPr>
        <p:spPr>
          <a:xfrm>
            <a:off x="609600" y="1384404"/>
            <a:ext cx="1086705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Fusion3</a:t>
            </a:r>
            <a:r>
              <a:rPr lang="it-IT" sz="2800" dirty="0">
                <a:latin typeface="Aptos" panose="020B0004020202020204" pitchFamily="34" charset="0"/>
              </a:rPr>
              <a:t> è la configurazione con le </a:t>
            </a:r>
            <a:r>
              <a:rPr lang="it-IT" sz="2800" b="1" dirty="0">
                <a:latin typeface="Aptos" panose="020B0004020202020204" pitchFamily="34" charset="0"/>
              </a:rPr>
              <a:t>migliori prestazioni </a:t>
            </a:r>
            <a:r>
              <a:rPr lang="it-IT" sz="2800" dirty="0">
                <a:latin typeface="Aptos" panose="020B0004020202020204" pitchFamily="34" charset="0"/>
              </a:rPr>
              <a:t>medie</a:t>
            </a:r>
            <a:r>
              <a:rPr lang="it-IT" sz="2800" b="1" dirty="0">
                <a:latin typeface="Aptos" panose="020B0004020202020204" pitchFamily="34" charset="0"/>
              </a:rPr>
              <a:t> </a:t>
            </a:r>
            <a:r>
              <a:rPr lang="it-IT" sz="2800" dirty="0">
                <a:latin typeface="Aptos" panose="020B0004020202020204" pitchFamily="34" charset="0"/>
              </a:rPr>
              <a:t>e </a:t>
            </a:r>
            <a:r>
              <a:rPr lang="it-IT" sz="2800" b="1" dirty="0">
                <a:latin typeface="Aptos" panose="020B0004020202020204" pitchFamily="34" charset="0"/>
              </a:rPr>
              <a:t>FLAIR </a:t>
            </a:r>
            <a:r>
              <a:rPr lang="it-IT" sz="2800" dirty="0">
                <a:latin typeface="Aptos" panose="020B0004020202020204" pitchFamily="34" charset="0"/>
              </a:rPr>
              <a:t>è la </a:t>
            </a:r>
            <a:r>
              <a:rPr lang="it-IT" sz="2800" b="1" dirty="0">
                <a:latin typeface="Aptos" panose="020B0004020202020204" pitchFamily="34" charset="0"/>
              </a:rPr>
              <a:t>sequenza singola </a:t>
            </a:r>
            <a:r>
              <a:rPr lang="it-IT" sz="2800" dirty="0">
                <a:latin typeface="Aptos" panose="020B0004020202020204" pitchFamily="34" charset="0"/>
              </a:rPr>
              <a:t>più informativa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La multimodalità </a:t>
            </a:r>
            <a:r>
              <a:rPr lang="it-IT" sz="2800" b="1" dirty="0">
                <a:latin typeface="Aptos" panose="020B0004020202020204" pitchFamily="34" charset="0"/>
              </a:rPr>
              <a:t>migliora</a:t>
            </a:r>
            <a:r>
              <a:rPr lang="it-IT" sz="2800" dirty="0">
                <a:latin typeface="Aptos" panose="020B0004020202020204" pitchFamily="34" charset="0"/>
              </a:rPr>
              <a:t> </a:t>
            </a:r>
            <a:r>
              <a:rPr lang="it-IT" sz="2800" b="1" dirty="0">
                <a:latin typeface="Aptos" panose="020B0004020202020204" pitchFamily="34" charset="0"/>
              </a:rPr>
              <a:t>la segmentazione</a:t>
            </a:r>
            <a:r>
              <a:rPr lang="it-IT" sz="2800" dirty="0">
                <a:latin typeface="Aptos" panose="020B0004020202020204" pitchFamily="34" charset="0"/>
              </a:rPr>
              <a:t>, ma i </a:t>
            </a:r>
            <a:r>
              <a:rPr lang="it-IT" sz="2800" b="1" dirty="0">
                <a:latin typeface="Aptos" panose="020B0004020202020204" pitchFamily="34" charset="0"/>
              </a:rPr>
              <a:t>casi critici </a:t>
            </a:r>
            <a:r>
              <a:rPr lang="it-IT" sz="2800" dirty="0">
                <a:latin typeface="Aptos" panose="020B0004020202020204" pitchFamily="34" charset="0"/>
              </a:rPr>
              <a:t>evidenziano i </a:t>
            </a:r>
            <a:r>
              <a:rPr lang="it-IT" sz="2800" b="1" dirty="0">
                <a:latin typeface="Aptos" panose="020B0004020202020204" pitchFamily="34" charset="0"/>
              </a:rPr>
              <a:t>limiti dell’approccio </a:t>
            </a:r>
            <a:r>
              <a:rPr lang="it-IT" sz="2800" dirty="0">
                <a:latin typeface="Aptos" panose="020B0004020202020204" pitchFamily="34" charset="0"/>
              </a:rPr>
              <a:t>proposto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endParaRPr lang="it-IT" dirty="0">
              <a:latin typeface="Aptos" panose="020B0004020202020204" pitchFamily="34" charset="0"/>
            </a:endParaRPr>
          </a:p>
          <a:p>
            <a:pPr algn="just"/>
            <a:endParaRPr lang="it-IT" dirty="0">
              <a:latin typeface="Aptos" panose="020B0004020202020204" pitchFamily="34" charset="0"/>
            </a:endParaRPr>
          </a:p>
          <a:p>
            <a:pPr marL="514350" indent="-514350" algn="just">
              <a:buFont typeface="Arial" panose="020B0604020202020204" pitchFamily="34" charset="0"/>
              <a:buChar char="•"/>
            </a:pPr>
            <a:endParaRPr lang="it-IT" dirty="0">
              <a:latin typeface="Aptos" panose="020B0004020202020204" pitchFamily="34" charset="0"/>
            </a:endParaRP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Sviluppi Futuri</a:t>
            </a:r>
            <a:endParaRPr lang="it-IT" sz="2800" dirty="0">
              <a:latin typeface="Aptos" panose="020B0004020202020204" pitchFamily="34" charset="0"/>
            </a:endParaRP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Estendere la pipeline </a:t>
            </a:r>
            <a:r>
              <a:rPr lang="it-IT" sz="2800" b="1" dirty="0">
                <a:latin typeface="Aptos" panose="020B0004020202020204" pitchFamily="34" charset="0"/>
              </a:rPr>
              <a:t>da 2D a 3D</a:t>
            </a:r>
            <a:endParaRPr lang="it-IT" sz="2800" dirty="0">
              <a:latin typeface="Aptos" panose="020B0004020202020204" pitchFamily="34" charset="0"/>
            </a:endParaRP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Migliorare la </a:t>
            </a:r>
            <a:r>
              <a:rPr lang="it-IT" sz="2800" b="1" dirty="0">
                <a:latin typeface="Aptos" panose="020B0004020202020204" pitchFamily="34" charset="0"/>
              </a:rPr>
              <a:t>strategia di fusione </a:t>
            </a:r>
            <a:r>
              <a:rPr lang="it-IT" sz="2800" dirty="0">
                <a:latin typeface="Aptos" panose="020B0004020202020204" pitchFamily="34" charset="0"/>
              </a:rPr>
              <a:t>multimodale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Confrontare </a:t>
            </a:r>
            <a:r>
              <a:rPr lang="it-IT" sz="2800" b="1" dirty="0">
                <a:latin typeface="Aptos" panose="020B0004020202020204" pitchFamily="34" charset="0"/>
              </a:rPr>
              <a:t>altre tecniche tradizionali </a:t>
            </a:r>
            <a:r>
              <a:rPr lang="it-IT" sz="2800" dirty="0">
                <a:latin typeface="Aptos" panose="020B0004020202020204" pitchFamily="34" charset="0"/>
              </a:rPr>
              <a:t>(Clustering, Edge-</a:t>
            </a:r>
            <a:r>
              <a:rPr lang="it-IT" sz="2800" dirty="0" err="1">
                <a:latin typeface="Aptos" panose="020B0004020202020204" pitchFamily="34" charset="0"/>
              </a:rPr>
              <a:t>Based</a:t>
            </a:r>
            <a:r>
              <a:rPr lang="it-IT" sz="2800" dirty="0">
                <a:latin typeface="Aptos" panose="020B0004020202020204" pitchFamily="34" charset="0"/>
              </a:rPr>
              <a:t>)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Integrare modelli di </a:t>
            </a:r>
            <a:r>
              <a:rPr lang="it-IT" sz="2800" b="1" dirty="0">
                <a:latin typeface="Aptos" panose="020B0004020202020204" pitchFamily="34" charset="0"/>
              </a:rPr>
              <a:t>Deep Learning </a:t>
            </a:r>
            <a:r>
              <a:rPr lang="it-IT" sz="2800" dirty="0">
                <a:latin typeface="Aptos" panose="020B0004020202020204" pitchFamily="34" charset="0"/>
              </a:rPr>
              <a:t>e</a:t>
            </a:r>
            <a:r>
              <a:rPr lang="it-IT" sz="2800" b="1" dirty="0">
                <a:latin typeface="Aptos" panose="020B0004020202020204" pitchFamily="34" charset="0"/>
              </a:rPr>
              <a:t>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651470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5411</TotalTime>
  <Words>1098</Words>
  <Application>Microsoft Office PowerPoint</Application>
  <PresentationFormat>Widescreen</PresentationFormat>
  <Paragraphs>271</Paragraphs>
  <Slides>22</Slides>
  <Notes>22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7" baseType="lpstr">
      <vt:lpstr>Aptos</vt:lpstr>
      <vt:lpstr>Arial</vt:lpstr>
      <vt:lpstr>Cambria Math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Giovanni Mignogna</dc:creator>
  <cp:lastModifiedBy>Roberto Carriero</cp:lastModifiedBy>
  <cp:revision>75</cp:revision>
  <dcterms:created xsi:type="dcterms:W3CDTF">2025-10-25T17:39:58Z</dcterms:created>
  <dcterms:modified xsi:type="dcterms:W3CDTF">2026-04-21T07:24:05Z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2025-10-06T00:00:00Z</vt:filetime>
  </property>
  <property fmtid="{D5CDD505-2E9C-101B-9397-08002B2CF9AE}" pid="3" name="Creator">
    <vt:lpwstr>Microsoft® PowerPoint® per Microsoft 365</vt:lpwstr>
  </property>
  <property fmtid="{D5CDD505-2E9C-101B-9397-08002B2CF9AE}" pid="4" name="LastSaved">
    <vt:filetime>2025-10-25T00:00:00Z</vt:filetime>
  </property>
  <property fmtid="{D5CDD505-2E9C-101B-9397-08002B2CF9AE}" pid="5" name="Producer">
    <vt:lpwstr>Microsoft® PowerPoint® per Microsoft 365</vt:lpwstr>
  </property>
</Properties>
</file>