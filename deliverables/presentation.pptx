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0"/>
  </p:notesMasterIdLst>
  <p:sldIdLst>
    <p:sldId id="258" r:id="rId2"/>
    <p:sldId id="257" r:id="rId3"/>
    <p:sldId id="259" r:id="rId4"/>
    <p:sldId id="280" r:id="rId5"/>
    <p:sldId id="284" r:id="rId6"/>
    <p:sldId id="281" r:id="rId7"/>
    <p:sldId id="282" r:id="rId8"/>
    <p:sldId id="283" r:id="rId9"/>
    <p:sldId id="285" r:id="rId10"/>
    <p:sldId id="286" r:id="rId11"/>
    <p:sldId id="288" r:id="rId12"/>
    <p:sldId id="290" r:id="rId13"/>
    <p:sldId id="287" r:id="rId14"/>
    <p:sldId id="289" r:id="rId15"/>
    <p:sldId id="291" r:id="rId16"/>
    <p:sldId id="292" r:id="rId17"/>
    <p:sldId id="293" r:id="rId18"/>
    <p:sldId id="294" r:id="rId19"/>
    <p:sldId id="295" r:id="rId20"/>
    <p:sldId id="296" r:id="rId21"/>
    <p:sldId id="306" r:id="rId22"/>
    <p:sldId id="300" r:id="rId23"/>
    <p:sldId id="303" r:id="rId24"/>
    <p:sldId id="301" r:id="rId25"/>
    <p:sldId id="302" r:id="rId26"/>
    <p:sldId id="304" r:id="rId27"/>
    <p:sldId id="305" r:id="rId28"/>
    <p:sldId id="269" r:id="rId29"/>
  </p:sldIdLst>
  <p:sldSz cx="12192000" cy="6858000"/>
  <p:notesSz cx="12192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9999"/>
    <a:srgbClr val="008196"/>
    <a:srgbClr val="1B3C6A"/>
    <a:srgbClr val="1A3C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25FE53A-09A0-44D4-B929-E8069082C630}" v="40" dt="2026-01-18T20:17:51.294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FD0F851-EC5A-4D38-B0AD-8093EC10F338}" styleName="Stile chiaro 1 - Colore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72833802-FEF1-4C79-8D5D-14CF1EAF98D9}" styleName="Stile chiaro 2 - Color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BC89EF96-8CEA-46FF-86C4-4CE0E7609802}" styleName="Stile chiaro 3 - Colore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8799B23B-EC83-4686-B30A-512413B5E67A}" styleName="Stile chiaro 3 - Color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9D7B26C5-4107-4FEC-AEDC-1716B250A1EF}" styleName="Stile chiaro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073A0DAA-6AF3-43AB-8588-CEC1D06C72B9}" styleName="Stile medio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8EC20E35-A176-4012-BC5E-935CFFF8708E}" styleName="Stile medio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88316" autoAdjust="0"/>
  </p:normalViewPr>
  <p:slideViewPr>
    <p:cSldViewPr snapToGrid="0">
      <p:cViewPr varScale="1">
        <p:scale>
          <a:sx n="103" d="100"/>
          <a:sy n="103" d="100"/>
        </p:scale>
        <p:origin x="876" y="90"/>
      </p:cViewPr>
      <p:guideLst>
        <p:guide orient="horz" pos="2880"/>
        <p:guide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35" Type="http://schemas.microsoft.com/office/2015/10/relationships/revisionInfo" Target="revisionInfo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6604F21-9B18-4DE1-AB54-6E38A9691DB2}" type="datetimeFigureOut">
              <a:rPr lang="it-IT" smtClean="0"/>
              <a:t>08/04/2026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8C9A3EF-1CD3-4928-B014-184E8B8B8430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0220407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9A3EF-1CD3-4928-B014-184E8B8B8430}" type="slidenum">
              <a:rPr lang="it-IT" smtClean="0"/>
              <a:t>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47144403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9A3EF-1CD3-4928-B014-184E8B8B8430}" type="slidenum">
              <a:rPr lang="it-IT" smtClean="0"/>
              <a:t>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23905829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9A3EF-1CD3-4928-B014-184E8B8B8430}" type="slidenum">
              <a:rPr lang="it-IT" smtClean="0"/>
              <a:t>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54184305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1DAAF8-3066-173C-9195-FE66414E2F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EF5ACEF4-A027-A0E0-BCE0-D5F99FBAA3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CBB60414-65A8-0532-96A5-1967CEFB56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62048237-9023-D109-2F7A-349B6614C4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9A3EF-1CD3-4928-B014-184E8B8B8430}" type="slidenum">
              <a:rPr lang="it-IT" smtClean="0"/>
              <a:t>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13365701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345857-871A-A35E-8913-B84C9A7E3D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AE6163A7-D941-ED01-6900-7AFA06AE08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7508FB68-800E-C368-5F11-E6E6663F11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14106C41-8DE8-49EF-9C7E-3FBF8439B7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9A3EF-1CD3-4928-B014-184E8B8B8430}" type="slidenum">
              <a:rPr lang="it-IT" smtClean="0"/>
              <a:t>5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7550158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DC1460-95A6-8426-1033-5144F25764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7198280A-1C86-29B1-FE76-B369F78359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9EDE22AC-887A-E8C5-77E5-306AB3C0C2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4D607CB4-F8B7-6EFE-238D-CB35FB6EFF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9A3EF-1CD3-4928-B014-184E8B8B8430}" type="slidenum">
              <a:rPr lang="it-IT" smtClean="0"/>
              <a:t>6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4405773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1C43B2-910F-7912-A871-86EE5D7E35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77591A98-0405-E5B0-ED92-343557FFA5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77E9F506-403E-1829-2DD6-BD8639931F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37C7103D-90DE-F9C2-B9FE-54CCDFAFB96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9A3EF-1CD3-4928-B014-184E8B8B8430}" type="slidenum">
              <a:rPr lang="it-IT" smtClean="0"/>
              <a:t>7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58142307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C916B8-8DF2-A25A-05B7-8765B1578C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EE88AC62-C91B-8DE3-3D71-3DB60595631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9C20BC1F-C5B6-C65B-C852-6244120D69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89EF37B6-83DF-2B94-27A5-60D8355103B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9A3EF-1CD3-4928-B014-184E8B8B8430}" type="slidenum">
              <a:rPr lang="it-IT" smtClean="0"/>
              <a:t>8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346620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E3C678-A9D5-F696-CC15-20F2460E2A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9E06A167-0B09-BD9D-59B6-EBF7E83865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A26B08AA-3934-81DB-04D1-5FC42EF73E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3D05129B-8A22-442C-41BD-0FAB02E6444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9A3EF-1CD3-4928-B014-184E8B8B8430}" type="slidenum">
              <a:rPr lang="it-IT" smtClean="0"/>
              <a:t>9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63161162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73C42A-5CDA-FC9D-BB24-0283FCCBE8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45D9B844-2D91-5E65-7ABD-77DED2BA03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C39461BD-2734-000F-A3BA-3389B5BE93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92D596DA-1DA7-C6D5-CB65-77344278FB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9A3EF-1CD3-4928-B014-184E8B8B8430}" type="slidenum">
              <a:rPr lang="it-IT" smtClean="0"/>
              <a:t>10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28510913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C2B526-B217-698D-3909-5A2CEBB26D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3859BBE2-26C9-3047-3198-BDE0F91D82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9DB05734-0EEC-3E26-1E64-ACC0F8DE0D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5DCE0664-5BA7-3B8E-1BCA-E7DE7BD0630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9A3EF-1CD3-4928-B014-184E8B8B8430}" type="slidenum">
              <a:rPr lang="it-IT" smtClean="0"/>
              <a:t>11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7353108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B5C4C5-E598-64F3-E696-194C8AF1CC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217AD7FB-B903-F280-5BE1-1BE831AF02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614B360F-22CB-1C4F-34D7-7CEC3F6F27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3ADCFCB2-5FFB-130C-B2A4-62DE788B6B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9A3EF-1CD3-4928-B014-184E8B8B8430}" type="slidenum">
              <a:rPr lang="it-IT" smtClean="0"/>
              <a:t>12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7702578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9B425A-E721-4CB9-7B3B-CFB150F0C5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CDA34134-76FF-D32B-5906-2344438821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547A871D-FE79-0EEA-6EAE-0C8EEF1B34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E09EECF8-ACE2-91E8-9FB6-0CD25D0A192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9A3EF-1CD3-4928-B014-184E8B8B8430}" type="slidenum">
              <a:rPr lang="it-IT" smtClean="0"/>
              <a:t>13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38296680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14F8E3-35E8-6133-53F7-AE59BF3806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29F24AE5-933D-AA35-88CF-10530FF138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8279400F-5B5A-77A0-BA19-F3AF697A25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C56774CA-13DF-5989-9CC9-98F6993DF6B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9A3EF-1CD3-4928-B014-184E8B8B8430}" type="slidenum">
              <a:rPr lang="it-IT" smtClean="0"/>
              <a:t>14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7593791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CA0A46-36D9-2178-FBDD-01C036CFA1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D031666E-D268-2FED-3FEC-8E01E96AFF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9333464F-35F2-30F9-54AC-01F56ACF10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D98CB013-C5BD-72F3-6AB1-3E18CAECA0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9A3EF-1CD3-4928-B014-184E8B8B8430}" type="slidenum">
              <a:rPr lang="it-IT" smtClean="0"/>
              <a:t>15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3081992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087D88-B870-0C64-B1CE-6891EC88AF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195DFA5B-C9ED-6335-15C1-0C4D6DF72D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4E08DF71-C387-3EA5-DEF4-2AD1497392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ECBFB249-CFF4-00B3-9D92-3B0E5C332C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9A3EF-1CD3-4928-B014-184E8B8B8430}" type="slidenum">
              <a:rPr lang="it-IT" smtClean="0"/>
              <a:t>16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46890578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C4695F-1300-CA14-7080-E874C6CF98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B5C87792-B233-38CB-4E93-3FADA377BB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EA77AE5D-A71A-6A4B-7E01-07A7776F14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15B48783-3C99-A4B3-9094-2FB7F77DE0F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9A3EF-1CD3-4928-B014-184E8B8B8430}" type="slidenum">
              <a:rPr lang="it-IT" smtClean="0"/>
              <a:t>17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88706904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EEB11A-6E50-6F05-715D-DBD6380529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B03777A5-192F-4564-3EFB-4B7D3B2630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78C4A26E-0B4D-3F32-0D21-318C23C04F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C59FFB2E-BC29-2628-EC5B-B27EF8EBFF9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9A3EF-1CD3-4928-B014-184E8B8B8430}" type="slidenum">
              <a:rPr lang="it-IT" smtClean="0"/>
              <a:t>18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41828722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A6CE56-911F-153A-3C6B-6118E122D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42703DC3-4993-06EF-BEB7-5664503A08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D5D16AA4-659A-061C-1883-89B9BDF96C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0BA116EB-A7E1-A8A3-CB68-493FD2D7A15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9A3EF-1CD3-4928-B014-184E8B8B8430}" type="slidenum">
              <a:rPr lang="it-IT" smtClean="0"/>
              <a:t>19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10865697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FDB501-8CF5-67AD-0B3C-9952DE98A4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25D56BCC-11B1-CC90-B489-0F448A4C5B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782099DD-6762-1AF1-ABDB-942B5C3885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F11E3B7E-7A08-5632-A309-4F56999A374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9A3EF-1CD3-4928-B014-184E8B8B8430}" type="slidenum">
              <a:rPr lang="it-IT" smtClean="0"/>
              <a:t>20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13519135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425413-D8E9-1D5C-DEE6-6F45E3875D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4A810E83-035B-2E6E-CC4F-1ED14E98C2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4B6255DD-74B2-88E7-A642-EF71570410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9FAE6DB2-B11C-E3D1-B74C-CD8A208D2D9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9A3EF-1CD3-4928-B014-184E8B8B8430}" type="slidenum">
              <a:rPr lang="it-IT" smtClean="0"/>
              <a:t>22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57738872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679796-ACCB-728A-1647-7CC36A813E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7B487A57-4AD7-5EFA-DCA4-D263AB7CFB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6D61D916-5972-DE0C-BE09-7879302E0E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A187FA1B-F5AC-D180-4660-9DAD4B0DA4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9A3EF-1CD3-4928-B014-184E8B8B8430}" type="slidenum">
              <a:rPr lang="it-IT" smtClean="0"/>
              <a:t>23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24333891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B8B3DF-E9F3-E60B-A848-9C4EEDC68F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B2047BBF-6107-C435-F9A4-2F944FECC3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D1D7D3AA-0484-BE32-860C-4799831FB6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7F85214F-FF84-2FD8-45F9-6B79BC5950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9A3EF-1CD3-4928-B014-184E8B8B8430}" type="slidenum">
              <a:rPr lang="it-IT" smtClean="0"/>
              <a:t>24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1827783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A3CC55-2069-7ED4-BD68-4BA54460A2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408FC5D7-73BF-117D-7718-C39EF350D3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C70819B5-8C41-E89A-67F5-36105B99F9F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596E430C-237E-3B67-ED4F-AE33E5BA447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9A3EF-1CD3-4928-B014-184E8B8B8430}" type="slidenum">
              <a:rPr lang="it-IT" smtClean="0"/>
              <a:t>25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11788286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5AE465-D921-411A-D5C8-8DFD9B0B4A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EBAB6F44-6F84-9097-88F8-A6C71BE919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92A872EA-DB76-E5D9-CABC-48DCE3A777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5CB2174C-25BB-01F1-70A5-09B1A583FE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9A3EF-1CD3-4928-B014-184E8B8B8430}" type="slidenum">
              <a:rPr lang="it-IT" smtClean="0"/>
              <a:t>26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91816905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28B62B-CEC0-8D5A-4F2E-B88B4221BB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199AA620-F835-ACAA-A70A-EEF5935E10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94F036B5-497E-E96E-E955-BDDD4AA10F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F9B84A1A-73C8-8F35-8F09-A6A6DAA1439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9A3EF-1CD3-4928-B014-184E8B8B8430}" type="slidenum">
              <a:rPr lang="it-IT" smtClean="0"/>
              <a:t>27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835419399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9A3EF-1CD3-4928-B014-184E8B8B8430}" type="slidenum">
              <a:rPr lang="it-IT" smtClean="0"/>
              <a:t>28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80005577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60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400" b="0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chemeClr val="bg1"/>
                </a:solidFill>
                <a:latin typeface="Trebuchet MS"/>
                <a:cs typeface="Trebuchet MS"/>
              </a:defRPr>
            </a:lvl1pPr>
          </a:lstStyle>
          <a:p>
            <a:pPr marL="12700">
              <a:lnSpc>
                <a:spcPts val="2150"/>
              </a:lnSpc>
            </a:pPr>
            <a:r>
              <a:rPr spc="-75"/>
              <a:t>A.A.</a:t>
            </a:r>
            <a:r>
              <a:rPr spc="-145"/>
              <a:t> </a:t>
            </a:r>
            <a:r>
              <a:rPr spc="-25"/>
              <a:t>2025/2026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chemeClr val="bg1"/>
                </a:solidFill>
                <a:latin typeface="Trebuchet MS"/>
                <a:cs typeface="Trebuchet MS"/>
              </a:defRPr>
            </a:lvl1pPr>
          </a:lstStyle>
          <a:p>
            <a:pPr marL="12700">
              <a:lnSpc>
                <a:spcPts val="2150"/>
              </a:lnSpc>
            </a:pPr>
            <a:r>
              <a:rPr spc="-30"/>
              <a:t>Prof.ssa</a:t>
            </a:r>
            <a:r>
              <a:rPr spc="-180"/>
              <a:t> </a:t>
            </a:r>
            <a:r>
              <a:rPr spc="-10"/>
              <a:t>Marina</a:t>
            </a:r>
            <a:r>
              <a:rPr spc="-160"/>
              <a:t> </a:t>
            </a:r>
            <a:r>
              <a:rPr spc="-10"/>
              <a:t>Mongiello</a:t>
            </a: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60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2400" b="0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chemeClr val="bg1"/>
                </a:solidFill>
                <a:latin typeface="Trebuchet MS"/>
                <a:cs typeface="Trebuchet MS"/>
              </a:defRPr>
            </a:lvl1pPr>
          </a:lstStyle>
          <a:p>
            <a:pPr marL="12700">
              <a:lnSpc>
                <a:spcPts val="2150"/>
              </a:lnSpc>
            </a:pPr>
            <a:r>
              <a:rPr spc="-75"/>
              <a:t>A.A.</a:t>
            </a:r>
            <a:r>
              <a:rPr spc="-145"/>
              <a:t> </a:t>
            </a:r>
            <a:r>
              <a:rPr spc="-25"/>
              <a:t>2025/2026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chemeClr val="bg1"/>
                </a:solidFill>
                <a:latin typeface="Trebuchet MS"/>
                <a:cs typeface="Trebuchet MS"/>
              </a:defRPr>
            </a:lvl1pPr>
          </a:lstStyle>
          <a:p>
            <a:pPr marL="12700">
              <a:lnSpc>
                <a:spcPts val="2150"/>
              </a:lnSpc>
            </a:pPr>
            <a:r>
              <a:rPr spc="-30"/>
              <a:t>Prof.ssa</a:t>
            </a:r>
            <a:r>
              <a:rPr spc="-180"/>
              <a:t> </a:t>
            </a:r>
            <a:r>
              <a:rPr spc="-10"/>
              <a:t>Marina</a:t>
            </a:r>
            <a:r>
              <a:rPr spc="-160"/>
              <a:t> </a:t>
            </a:r>
            <a:r>
              <a:rPr spc="-10"/>
              <a:t>Mongiello</a:t>
            </a: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60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chemeClr val="bg1"/>
                </a:solidFill>
                <a:latin typeface="Trebuchet MS"/>
                <a:cs typeface="Trebuchet MS"/>
              </a:defRPr>
            </a:lvl1pPr>
          </a:lstStyle>
          <a:p>
            <a:pPr marL="12700">
              <a:lnSpc>
                <a:spcPts val="2150"/>
              </a:lnSpc>
            </a:pPr>
            <a:r>
              <a:rPr spc="-75"/>
              <a:t>A.A.</a:t>
            </a:r>
            <a:r>
              <a:rPr spc="-145"/>
              <a:t> </a:t>
            </a:r>
            <a:r>
              <a:rPr spc="-25"/>
              <a:t>2025/2026</a:t>
            </a:r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chemeClr val="bg1"/>
                </a:solidFill>
                <a:latin typeface="Trebuchet MS"/>
                <a:cs typeface="Trebuchet MS"/>
              </a:defRPr>
            </a:lvl1pPr>
          </a:lstStyle>
          <a:p>
            <a:pPr marL="12700">
              <a:lnSpc>
                <a:spcPts val="2150"/>
              </a:lnSpc>
            </a:pPr>
            <a:r>
              <a:rPr spc="-30"/>
              <a:t>Prof.ssa</a:t>
            </a:r>
            <a:r>
              <a:rPr spc="-180"/>
              <a:t> </a:t>
            </a:r>
            <a:r>
              <a:rPr spc="-10"/>
              <a:t>Marina</a:t>
            </a:r>
            <a:r>
              <a:rPr spc="-160"/>
              <a:t> </a:t>
            </a:r>
            <a:r>
              <a:rPr spc="-10"/>
              <a:t>Mongiello</a:t>
            </a:r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570223" y="311336"/>
            <a:ext cx="4325963" cy="679248"/>
          </a:xfrm>
          <a:prstGeom prst="rect">
            <a:avLst/>
          </a:prstGeom>
        </p:spPr>
      </p:pic>
      <p:pic>
        <p:nvPicPr>
          <p:cNvPr id="17" name="bg object 1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8973693" y="150441"/>
            <a:ext cx="2906776" cy="994844"/>
          </a:xfrm>
          <a:prstGeom prst="rect">
            <a:avLst/>
          </a:prstGeom>
        </p:spPr>
      </p:pic>
      <p:pic>
        <p:nvPicPr>
          <p:cNvPr id="18" name="bg object 18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289115" y="139509"/>
            <a:ext cx="2290445" cy="987234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60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chemeClr val="bg1"/>
                </a:solidFill>
                <a:latin typeface="Trebuchet MS"/>
                <a:cs typeface="Trebuchet MS"/>
              </a:defRPr>
            </a:lvl1pPr>
          </a:lstStyle>
          <a:p>
            <a:pPr marL="12700">
              <a:lnSpc>
                <a:spcPts val="2150"/>
              </a:lnSpc>
            </a:pPr>
            <a:r>
              <a:rPr spc="-75"/>
              <a:t>A.A.</a:t>
            </a:r>
            <a:r>
              <a:rPr spc="-145"/>
              <a:t> </a:t>
            </a:r>
            <a:r>
              <a:rPr spc="-25"/>
              <a:t>2025/2026</a:t>
            </a:r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chemeClr val="bg1"/>
                </a:solidFill>
                <a:latin typeface="Trebuchet MS"/>
                <a:cs typeface="Trebuchet MS"/>
              </a:defRPr>
            </a:lvl1pPr>
          </a:lstStyle>
          <a:p>
            <a:pPr marL="12700">
              <a:lnSpc>
                <a:spcPts val="2150"/>
              </a:lnSpc>
            </a:pPr>
            <a:r>
              <a:rPr spc="-30"/>
              <a:t>Prof.ssa</a:t>
            </a:r>
            <a:r>
              <a:rPr spc="-180"/>
              <a:t> </a:t>
            </a:r>
            <a:r>
              <a:rPr spc="-10"/>
              <a:t>Marina</a:t>
            </a:r>
            <a:r>
              <a:rPr spc="-160"/>
              <a:t> </a:t>
            </a:r>
            <a:r>
              <a:rPr spc="-10"/>
              <a:t>Mongiello</a:t>
            </a:r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chemeClr val="bg1"/>
                </a:solidFill>
                <a:latin typeface="Trebuchet MS"/>
                <a:cs typeface="Trebuchet MS"/>
              </a:defRPr>
            </a:lvl1pPr>
          </a:lstStyle>
          <a:p>
            <a:pPr marL="12700">
              <a:lnSpc>
                <a:spcPts val="2150"/>
              </a:lnSpc>
            </a:pPr>
            <a:r>
              <a:rPr spc="-75"/>
              <a:t>A.A.</a:t>
            </a:r>
            <a:r>
              <a:rPr spc="-145"/>
              <a:t> </a:t>
            </a:r>
            <a:r>
              <a:rPr spc="-25"/>
              <a:t>2025/2026</a:t>
            </a:r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chemeClr val="bg1"/>
                </a:solidFill>
                <a:latin typeface="Trebuchet MS"/>
                <a:cs typeface="Trebuchet MS"/>
              </a:defRPr>
            </a:lvl1pPr>
          </a:lstStyle>
          <a:p>
            <a:pPr marL="12700">
              <a:lnSpc>
                <a:spcPts val="2150"/>
              </a:lnSpc>
            </a:pPr>
            <a:r>
              <a:rPr spc="-30"/>
              <a:t>Prof.ssa</a:t>
            </a:r>
            <a:r>
              <a:rPr spc="-180"/>
              <a:t> </a:t>
            </a:r>
            <a:r>
              <a:rPr spc="-10"/>
              <a:t>Marina</a:t>
            </a:r>
            <a:r>
              <a:rPr spc="-160"/>
              <a:t> </a:t>
            </a:r>
            <a:r>
              <a:rPr spc="-10"/>
              <a:t>Mongiello</a:t>
            </a:r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60679" y="244551"/>
            <a:ext cx="8971280" cy="94043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60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60679" y="2143709"/>
            <a:ext cx="5407025" cy="24955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400" b="0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10551921" y="6503246"/>
            <a:ext cx="1532890" cy="3048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800" b="0" i="0">
                <a:solidFill>
                  <a:schemeClr val="bg1"/>
                </a:solidFill>
                <a:latin typeface="Trebuchet MS"/>
                <a:cs typeface="Trebuchet MS"/>
              </a:defRPr>
            </a:lvl1pPr>
          </a:lstStyle>
          <a:p>
            <a:pPr marL="12700">
              <a:lnSpc>
                <a:spcPts val="2150"/>
              </a:lnSpc>
            </a:pPr>
            <a:r>
              <a:rPr spc="-75"/>
              <a:t>A.A.</a:t>
            </a:r>
            <a:r>
              <a:rPr spc="-145"/>
              <a:t> </a:t>
            </a:r>
            <a:r>
              <a:rPr spc="-25"/>
              <a:t>2025/2026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817490" y="6513000"/>
            <a:ext cx="2557145" cy="3048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800" b="0" i="0">
                <a:solidFill>
                  <a:schemeClr val="bg1"/>
                </a:solidFill>
                <a:latin typeface="Trebuchet MS"/>
                <a:cs typeface="Trebuchet MS"/>
              </a:defRPr>
            </a:lvl1pPr>
          </a:lstStyle>
          <a:p>
            <a:pPr marL="12700">
              <a:lnSpc>
                <a:spcPts val="2150"/>
              </a:lnSpc>
            </a:pPr>
            <a:r>
              <a:rPr spc="-30"/>
              <a:t>Prof.ssa</a:t>
            </a:r>
            <a:r>
              <a:rPr spc="-180"/>
              <a:t> </a:t>
            </a:r>
            <a:r>
              <a:rPr spc="-10"/>
              <a:t>Marina</a:t>
            </a:r>
            <a:r>
              <a:rPr spc="-160"/>
              <a:t> </a:t>
            </a:r>
            <a:r>
              <a:rPr spc="-10"/>
              <a:t>Mongiello</a:t>
            </a: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87782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C604295F-58E4-0812-6E92-299E7EE98E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magine 3">
            <a:extLst>
              <a:ext uri="{FF2B5EF4-FFF2-40B4-BE49-F238E27FC236}">
                <a16:creationId xmlns:a16="http://schemas.microsoft.com/office/drawing/2014/main" id="{46A980E5-AA13-5FFD-9054-C9D95612D68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727" b="21155"/>
          <a:stretch>
            <a:fillRect/>
          </a:stretch>
        </p:blipFill>
        <p:spPr>
          <a:xfrm>
            <a:off x="457200" y="376926"/>
            <a:ext cx="6535282" cy="1107996"/>
          </a:xfrm>
          <a:prstGeom prst="rect">
            <a:avLst/>
          </a:prstGeom>
        </p:spPr>
      </p:pic>
      <p:grpSp>
        <p:nvGrpSpPr>
          <p:cNvPr id="9" name="object 9">
            <a:extLst>
              <a:ext uri="{FF2B5EF4-FFF2-40B4-BE49-F238E27FC236}">
                <a16:creationId xmlns:a16="http://schemas.microsoft.com/office/drawing/2014/main" id="{55D19251-AFED-A1A7-3C36-46CA429AA2CA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10" name="object 10">
              <a:extLst>
                <a:ext uri="{FF2B5EF4-FFF2-40B4-BE49-F238E27FC236}">
                  <a16:creationId xmlns:a16="http://schemas.microsoft.com/office/drawing/2014/main" id="{DBD99A0D-FE52-8B89-133B-B7BA269B3E4A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F1DA3B0D-999D-A943-3040-B696143029C2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A36012D0-2B51-9377-95A2-D6926BC7DAE7}"/>
              </a:ext>
            </a:extLst>
          </p:cNvPr>
          <p:cNvSpPr txBox="1"/>
          <p:nvPr/>
        </p:nvSpPr>
        <p:spPr>
          <a:xfrm>
            <a:off x="3402792" y="1776866"/>
            <a:ext cx="53864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sz="2800" dirty="0">
                <a:solidFill>
                  <a:schemeClr val="tx1"/>
                </a:solidFill>
                <a:latin typeface="Aptos" panose="020B0004020202020204" pitchFamily="34" charset="0"/>
              </a:rPr>
              <a:t>Tema d’Anno in Image Processing</a:t>
            </a:r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86280421-BFF3-F590-C790-F842B68259D0}"/>
              </a:ext>
            </a:extLst>
          </p:cNvPr>
          <p:cNvSpPr txBox="1"/>
          <p:nvPr/>
        </p:nvSpPr>
        <p:spPr>
          <a:xfrm>
            <a:off x="10394926" y="6480829"/>
            <a:ext cx="16898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A.A. 2025/2026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AC2602A5-1867-86CD-C745-E827FB4624A9}"/>
              </a:ext>
            </a:extLst>
          </p:cNvPr>
          <p:cNvSpPr txBox="1"/>
          <p:nvPr/>
        </p:nvSpPr>
        <p:spPr>
          <a:xfrm>
            <a:off x="1851659" y="2643809"/>
            <a:ext cx="8488682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4000" b="1" dirty="0">
                <a:latin typeface="Aptos" panose="020B0004020202020204" pitchFamily="34" charset="0"/>
              </a:rPr>
              <a:t>Segmentazione di Tumori Cerebrali in Immagini MRI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A9BB2BC8-9DC2-8DC8-6A5D-C2C9C777B6E6}"/>
              </a:ext>
            </a:extLst>
          </p:cNvPr>
          <p:cNvSpPr txBox="1"/>
          <p:nvPr/>
        </p:nvSpPr>
        <p:spPr>
          <a:xfrm>
            <a:off x="944879" y="3866330"/>
            <a:ext cx="1030224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800" dirty="0">
                <a:latin typeface="Aptos" panose="020B0004020202020204" pitchFamily="34" charset="0"/>
              </a:rPr>
              <a:t>Analisi Comparativa tra Approccio </a:t>
            </a:r>
            <a:r>
              <a:rPr lang="it-IT" sz="2800" dirty="0" err="1">
                <a:latin typeface="Aptos" panose="020B0004020202020204" pitchFamily="34" charset="0"/>
              </a:rPr>
              <a:t>Monomodale</a:t>
            </a:r>
            <a:r>
              <a:rPr lang="it-IT" sz="2800" dirty="0">
                <a:latin typeface="Aptos" panose="020B0004020202020204" pitchFamily="34" charset="0"/>
              </a:rPr>
              <a:t> e Multimodale</a:t>
            </a:r>
            <a:endParaRPr lang="en-US" sz="2800" dirty="0">
              <a:latin typeface="Aptos" panose="020B0004020202020204" pitchFamily="34" charset="0"/>
            </a:endParaRP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0154D679-D22A-5AB2-F951-4013E483763F}"/>
              </a:ext>
            </a:extLst>
          </p:cNvPr>
          <p:cNvSpPr txBox="1"/>
          <p:nvPr/>
        </p:nvSpPr>
        <p:spPr>
          <a:xfrm>
            <a:off x="8473603" y="4950443"/>
            <a:ext cx="2773516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it-IT" sz="2800" b="1" dirty="0">
                <a:latin typeface="Aptos" panose="020B0004020202020204" pitchFamily="34" charset="0"/>
              </a:rPr>
              <a:t>Studente:</a:t>
            </a:r>
          </a:p>
          <a:p>
            <a:pPr algn="l"/>
            <a:r>
              <a:rPr lang="it-IT" sz="2800" dirty="0">
                <a:latin typeface="Aptos" panose="020B0004020202020204" pitchFamily="34" charset="0"/>
              </a:rPr>
              <a:t>Roberto Carriero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D0815B8B-2A81-8CC3-FBB7-F00F7F512C4A}"/>
              </a:ext>
            </a:extLst>
          </p:cNvPr>
          <p:cNvSpPr txBox="1"/>
          <p:nvPr/>
        </p:nvSpPr>
        <p:spPr>
          <a:xfrm>
            <a:off x="1036319" y="4950443"/>
            <a:ext cx="4297971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it-IT" sz="2800" b="1" dirty="0">
                <a:latin typeface="Aptos" panose="020B0004020202020204" pitchFamily="34" charset="0"/>
              </a:rPr>
              <a:t>Docente:</a:t>
            </a:r>
          </a:p>
          <a:p>
            <a:pPr algn="l"/>
            <a:r>
              <a:rPr lang="it-IT" sz="2800" dirty="0">
                <a:latin typeface="Aptos" panose="020B0004020202020204" pitchFamily="34" charset="0"/>
              </a:rPr>
              <a:t>Prof. Ing. Andrea Guerriero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B06B02FA-28BE-5CE9-0BED-211A68181E37}"/>
              </a:ext>
            </a:extLst>
          </p:cNvPr>
          <p:cNvSpPr txBox="1"/>
          <p:nvPr/>
        </p:nvSpPr>
        <p:spPr>
          <a:xfrm>
            <a:off x="84328" y="6465351"/>
            <a:ext cx="9296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Corso di Laurea Magistrale in Ingegneria Informatica – </a:t>
            </a:r>
            <a:r>
              <a:rPr lang="it-IT" dirty="0" err="1">
                <a:solidFill>
                  <a:schemeClr val="bg1"/>
                </a:solidFill>
                <a:latin typeface="Aptos" panose="020B0004020202020204" pitchFamily="34" charset="0"/>
              </a:rPr>
              <a:t>Artificial</a:t>
            </a:r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 Intelligence and Data Science</a:t>
            </a:r>
            <a:endParaRPr lang="en-US" dirty="0">
              <a:solidFill>
                <a:schemeClr val="bg1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6093146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08" name="Picture 12" descr="Brain Tumour Symptoms | Brain Tumour Research">
            <a:extLst>
              <a:ext uri="{FF2B5EF4-FFF2-40B4-BE49-F238E27FC236}">
                <a16:creationId xmlns:a16="http://schemas.microsoft.com/office/drawing/2014/main" id="{2F8D6092-5086-53B5-C71F-035499E860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7950" y="3813779"/>
            <a:ext cx="4171180" cy="2377453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rnd">
            <a:solidFill>
              <a:srgbClr val="FFFFFF"/>
            </a:solidFill>
          </a:ln>
          <a:effectLst>
            <a:outerShdw blurRad="50000" algn="tl" rotWithShape="0">
              <a:srgbClr val="000000">
                <a:alpha val="41000"/>
              </a:srgbClr>
            </a:outerShdw>
          </a:effectLst>
          <a:scene3d>
            <a:camera prst="orthographicFront"/>
            <a:lightRig rig="twoPt" dir="t">
              <a:rot lat="0" lon="0" rev="7800000"/>
            </a:lightRig>
          </a:scene3d>
          <a:sp3d contourW="6350">
            <a:bevelT w="50800" h="16510"/>
            <a:contourClr>
              <a:srgbClr val="C0C0C0"/>
            </a:contourClr>
          </a:sp3d>
        </p:spPr>
      </p:pic>
      <p:grpSp>
        <p:nvGrpSpPr>
          <p:cNvPr id="2" name="object 9">
            <a:extLst>
              <a:ext uri="{FF2B5EF4-FFF2-40B4-BE49-F238E27FC236}">
                <a16:creationId xmlns:a16="http://schemas.microsoft.com/office/drawing/2014/main" id="{6BBE9099-5CDD-3007-1210-B543A3A8E003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3" name="object 10">
              <a:extLst>
                <a:ext uri="{FF2B5EF4-FFF2-40B4-BE49-F238E27FC236}">
                  <a16:creationId xmlns:a16="http://schemas.microsoft.com/office/drawing/2014/main" id="{9BD870F1-AEB6-F68B-D98F-589DE7126AB9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11">
              <a:extLst>
                <a:ext uri="{FF2B5EF4-FFF2-40B4-BE49-F238E27FC236}">
                  <a16:creationId xmlns:a16="http://schemas.microsoft.com/office/drawing/2014/main" id="{DA979EE0-288E-6566-E518-4C99150B0A66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5BA55FC4-151F-27B2-172B-5CD5332FE2A5}"/>
              </a:ext>
            </a:extLst>
          </p:cNvPr>
          <p:cNvSpPr txBox="1"/>
          <p:nvPr/>
        </p:nvSpPr>
        <p:spPr>
          <a:xfrm>
            <a:off x="11733140" y="6480829"/>
            <a:ext cx="3080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1</a:t>
            </a:r>
          </a:p>
        </p:txBody>
      </p:sp>
      <p:sp>
        <p:nvSpPr>
          <p:cNvPr id="19" name="CasellaDiTesto 18">
            <a:extLst>
              <a:ext uri="{FF2B5EF4-FFF2-40B4-BE49-F238E27FC236}">
                <a16:creationId xmlns:a16="http://schemas.microsoft.com/office/drawing/2014/main" id="{89A47F04-4709-7E4F-5150-AC3A593ED5A3}"/>
              </a:ext>
            </a:extLst>
          </p:cNvPr>
          <p:cNvSpPr txBox="1"/>
          <p:nvPr/>
        </p:nvSpPr>
        <p:spPr>
          <a:xfrm>
            <a:off x="609600" y="381000"/>
            <a:ext cx="818846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6000" b="1" dirty="0">
                <a:latin typeface="Aptos" panose="020B0004020202020204" pitchFamily="34" charset="0"/>
              </a:rPr>
              <a:t>Contesto e Motivazioni</a:t>
            </a:r>
          </a:p>
        </p:txBody>
      </p:sp>
      <p:sp>
        <p:nvSpPr>
          <p:cNvPr id="21" name="CasellaDiTesto 20">
            <a:extLst>
              <a:ext uri="{FF2B5EF4-FFF2-40B4-BE49-F238E27FC236}">
                <a16:creationId xmlns:a16="http://schemas.microsoft.com/office/drawing/2014/main" id="{4E877240-2B0A-8841-50EC-13E979DD0AF6}"/>
              </a:ext>
            </a:extLst>
          </p:cNvPr>
          <p:cNvSpPr txBox="1"/>
          <p:nvPr/>
        </p:nvSpPr>
        <p:spPr>
          <a:xfrm>
            <a:off x="689610" y="1397664"/>
            <a:ext cx="8188460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it-IT" sz="2800" b="1" dirty="0">
                <a:latin typeface="Aptos" panose="020B0004020202020204" pitchFamily="34" charset="0"/>
              </a:rPr>
              <a:t>Problema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Segmentazione </a:t>
            </a:r>
            <a:r>
              <a:rPr lang="it-IT" sz="2800" b="1" dirty="0">
                <a:latin typeface="Aptos" panose="020B0004020202020204" pitchFamily="34" charset="0"/>
              </a:rPr>
              <a:t>manuale</a:t>
            </a:r>
            <a:r>
              <a:rPr lang="it-IT" sz="2800" dirty="0">
                <a:latin typeface="Aptos" panose="020B0004020202020204" pitchFamily="34" charset="0"/>
              </a:rPr>
              <a:t> del tumore lenta e soggettiva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Bordi dei gliomi spesso sfumati e con </a:t>
            </a:r>
            <a:r>
              <a:rPr lang="it-IT" sz="2800" b="1" dirty="0">
                <a:latin typeface="Aptos" panose="020B0004020202020204" pitchFamily="34" charset="0"/>
              </a:rPr>
              <a:t>basso contrasto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5B074E69-8CB9-E4C5-E3B9-D414BCAA2028}"/>
              </a:ext>
            </a:extLst>
          </p:cNvPr>
          <p:cNvSpPr txBox="1"/>
          <p:nvPr/>
        </p:nvSpPr>
        <p:spPr>
          <a:xfrm>
            <a:off x="82177" y="6465351"/>
            <a:ext cx="52811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Segmentazione di Tumori Cerebrali in Immagini MRI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8BA71CCA-5E30-017D-2448-08A25D9B6BCE}"/>
              </a:ext>
            </a:extLst>
          </p:cNvPr>
          <p:cNvSpPr txBox="1"/>
          <p:nvPr/>
        </p:nvSpPr>
        <p:spPr>
          <a:xfrm>
            <a:off x="4897028" y="4146951"/>
            <a:ext cx="692844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it-IT" sz="2800" b="1" dirty="0">
                <a:latin typeface="Aptos" panose="020B0004020202020204" pitchFamily="34" charset="0"/>
              </a:rPr>
              <a:t>Soluzione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Pipeline automatica </a:t>
            </a:r>
            <a:r>
              <a:rPr lang="it-IT" sz="2800" dirty="0">
                <a:latin typeface="Aptos" panose="020B0004020202020204" pitchFamily="34" charset="0"/>
              </a:rPr>
              <a:t>che migliora il rilevamento dell’area tumorale e assiste i medici nelle decisioni</a:t>
            </a:r>
          </a:p>
        </p:txBody>
      </p:sp>
      <p:pic>
        <p:nvPicPr>
          <p:cNvPr id="14" name="Immagine 13">
            <a:extLst>
              <a:ext uri="{FF2B5EF4-FFF2-40B4-BE49-F238E27FC236}">
                <a16:creationId xmlns:a16="http://schemas.microsoft.com/office/drawing/2014/main" id="{E08CF0FF-55E8-1161-9C62-9C5AC5AEC05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16377" y="1933672"/>
            <a:ext cx="2377453" cy="237745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B674C1DB-7385-E2A7-7609-0065A8C4FC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asellaDiTesto 20">
            <a:extLst>
              <a:ext uri="{FF2B5EF4-FFF2-40B4-BE49-F238E27FC236}">
                <a16:creationId xmlns:a16="http://schemas.microsoft.com/office/drawing/2014/main" id="{8B248CF0-AFA9-1996-D476-CD38B2F1ACDF}"/>
              </a:ext>
            </a:extLst>
          </p:cNvPr>
          <p:cNvSpPr txBox="1"/>
          <p:nvPr/>
        </p:nvSpPr>
        <p:spPr>
          <a:xfrm>
            <a:off x="609600" y="1588393"/>
            <a:ext cx="10807065" cy="461664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Implementare in MATLAB una pipeline 2D per la </a:t>
            </a:r>
            <a:r>
              <a:rPr lang="it-IT" sz="2800" b="1" dirty="0">
                <a:latin typeface="Aptos" panose="020B0004020202020204" pitchFamily="34" charset="0"/>
              </a:rPr>
              <a:t>segmentazione binaria</a:t>
            </a:r>
            <a:r>
              <a:rPr lang="it-IT" sz="2800" dirty="0">
                <a:latin typeface="Aptos" panose="020B0004020202020204" pitchFamily="34" charset="0"/>
              </a:rPr>
              <a:t> automatica dei tumori cerebrali con </a:t>
            </a:r>
            <a:r>
              <a:rPr lang="it-IT" sz="2800" b="1" dirty="0">
                <a:latin typeface="Aptos" panose="020B0004020202020204" pitchFamily="34" charset="0"/>
              </a:rPr>
              <a:t>tecniche tradizionali di Image Processing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endParaRPr lang="it-IT" sz="2800" b="1" dirty="0">
              <a:latin typeface="Aptos" panose="020B0004020202020204" pitchFamily="34" charset="0"/>
            </a:endParaRPr>
          </a:p>
          <a:p>
            <a:pPr marL="457200" indent="-457200" algn="just">
              <a:buFont typeface="Arial" panose="020B0604020202020204" pitchFamily="34" charset="0"/>
              <a:buChar char="•"/>
            </a:pPr>
            <a:endParaRPr lang="it-IT" sz="1400" b="1" dirty="0">
              <a:latin typeface="Aptos" panose="020B0004020202020204" pitchFamily="34" charset="0"/>
            </a:endParaRPr>
          </a:p>
          <a:p>
            <a:pPr marL="457200" indent="-457200" algn="just">
              <a:buFont typeface="Arial" panose="020B0604020202020204" pitchFamily="34" charset="0"/>
              <a:buChar char="•"/>
            </a:pPr>
            <a:endParaRPr lang="it-IT" sz="2800" dirty="0">
              <a:latin typeface="Aptos" panose="020B0004020202020204" pitchFamily="34" charset="0"/>
            </a:endParaRPr>
          </a:p>
          <a:p>
            <a:pPr marL="457200" indent="-457200" algn="just">
              <a:buFont typeface="Arial" panose="020B0604020202020204" pitchFamily="34" charset="0"/>
              <a:buChar char="•"/>
            </a:pPr>
            <a:endParaRPr lang="it-IT" sz="2800" dirty="0">
              <a:latin typeface="Aptos" panose="020B0004020202020204" pitchFamily="34" charset="0"/>
            </a:endParaRP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Confrontare </a:t>
            </a:r>
            <a:r>
              <a:rPr lang="it-IT" sz="2800" b="1" dirty="0">
                <a:latin typeface="Aptos" panose="020B0004020202020204" pitchFamily="34" charset="0"/>
              </a:rPr>
              <a:t>approcci </a:t>
            </a:r>
            <a:r>
              <a:rPr lang="it-IT" sz="2800" b="1" dirty="0" err="1">
                <a:latin typeface="Aptos" panose="020B0004020202020204" pitchFamily="34" charset="0"/>
              </a:rPr>
              <a:t>monomodali</a:t>
            </a:r>
            <a:r>
              <a:rPr lang="it-IT" sz="2800" b="1" dirty="0">
                <a:latin typeface="Aptos" panose="020B0004020202020204" pitchFamily="34" charset="0"/>
              </a:rPr>
              <a:t> e multimodali </a:t>
            </a:r>
            <a:r>
              <a:rPr lang="it-IT" sz="2800" dirty="0">
                <a:latin typeface="Aptos" panose="020B0004020202020204" pitchFamily="34" charset="0"/>
              </a:rPr>
              <a:t>per le immagini di Risonanza Magnetica (MRI)</a:t>
            </a:r>
            <a:endParaRPr lang="it-IT" sz="2800" b="1" dirty="0">
              <a:latin typeface="Aptos" panose="020B0004020202020204" pitchFamily="34" charset="0"/>
            </a:endParaRP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Valutare </a:t>
            </a:r>
            <a:r>
              <a:rPr lang="it-IT" sz="2800" b="1" dirty="0">
                <a:latin typeface="Aptos" panose="020B0004020202020204" pitchFamily="34" charset="0"/>
              </a:rPr>
              <a:t>l’impatto delle diverse configurazioni di input </a:t>
            </a:r>
            <a:r>
              <a:rPr lang="it-IT" sz="2800" dirty="0">
                <a:latin typeface="Aptos" panose="020B0004020202020204" pitchFamily="34" charset="0"/>
              </a:rPr>
              <a:t>sulle metriche di segmentazione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9BB238DD-29C3-41EF-3505-92631C94ED76}"/>
              </a:ext>
            </a:extLst>
          </p:cNvPr>
          <p:cNvSpPr txBox="1"/>
          <p:nvPr/>
        </p:nvSpPr>
        <p:spPr>
          <a:xfrm>
            <a:off x="609600" y="381000"/>
            <a:ext cx="760015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6000" b="1" dirty="0">
                <a:latin typeface="Aptos" panose="020B0004020202020204" pitchFamily="34" charset="0"/>
              </a:rPr>
              <a:t>Obiettivi del Progetto</a:t>
            </a:r>
          </a:p>
        </p:txBody>
      </p:sp>
      <p:grpSp>
        <p:nvGrpSpPr>
          <p:cNvPr id="4" name="object 9">
            <a:extLst>
              <a:ext uri="{FF2B5EF4-FFF2-40B4-BE49-F238E27FC236}">
                <a16:creationId xmlns:a16="http://schemas.microsoft.com/office/drawing/2014/main" id="{854BB0E6-57D4-1FEC-AA85-BAFD02094B81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6" name="object 10">
              <a:extLst>
                <a:ext uri="{FF2B5EF4-FFF2-40B4-BE49-F238E27FC236}">
                  <a16:creationId xmlns:a16="http://schemas.microsoft.com/office/drawing/2014/main" id="{D7D502EE-DD4F-56EE-8BD6-5A594F2C4DF0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3FEC48FB-D3A4-3344-200A-CA6CA711EBA1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636B3CAD-3F21-FF89-52A5-DED40B895EC7}"/>
              </a:ext>
            </a:extLst>
          </p:cNvPr>
          <p:cNvSpPr txBox="1"/>
          <p:nvPr/>
        </p:nvSpPr>
        <p:spPr>
          <a:xfrm>
            <a:off x="11733139" y="6480829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2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81D8A126-F197-59C5-326C-94E72D001368}"/>
              </a:ext>
            </a:extLst>
          </p:cNvPr>
          <p:cNvSpPr txBox="1"/>
          <p:nvPr/>
        </p:nvSpPr>
        <p:spPr>
          <a:xfrm>
            <a:off x="82177" y="6465351"/>
            <a:ext cx="52811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Segmentazione di Tumori Cerebrali in Immagini MRI</a:t>
            </a:r>
          </a:p>
        </p:txBody>
      </p:sp>
      <p:pic>
        <p:nvPicPr>
          <p:cNvPr id="3074" name="Picture 2" descr="MATLAB Logo and symbol, meaning, history, PNG, brand">
            <a:extLst>
              <a:ext uri="{FF2B5EF4-FFF2-40B4-BE49-F238E27FC236}">
                <a16:creationId xmlns:a16="http://schemas.microsoft.com/office/drawing/2014/main" id="{B802E10D-8939-96A5-C5AB-B8F3DC7D9EE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43134" y="2491427"/>
            <a:ext cx="3739991" cy="21037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601202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16F42BDD-AC35-B9F0-240A-7913C42A9F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asellaDiTesto 20">
            <a:extLst>
              <a:ext uri="{FF2B5EF4-FFF2-40B4-BE49-F238E27FC236}">
                <a16:creationId xmlns:a16="http://schemas.microsoft.com/office/drawing/2014/main" id="{18F9F632-5BD6-F6C5-9529-91A02DB24A3F}"/>
              </a:ext>
            </a:extLst>
          </p:cNvPr>
          <p:cNvSpPr txBox="1">
            <a:spLocks/>
          </p:cNvSpPr>
          <p:nvPr/>
        </p:nvSpPr>
        <p:spPr>
          <a:xfrm>
            <a:off x="666401" y="1509773"/>
            <a:ext cx="5789295" cy="224676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l"/>
            <a:r>
              <a:rPr lang="it-IT" sz="2800" b="1" dirty="0">
                <a:latin typeface="Aptos" panose="020B0004020202020204" pitchFamily="34" charset="0"/>
              </a:rPr>
              <a:t>Caratteristiche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it-IT" sz="2800" dirty="0" err="1">
                <a:latin typeface="Aptos" panose="020B0004020202020204" pitchFamily="34" charset="0"/>
              </a:rPr>
              <a:t>BraTS</a:t>
            </a:r>
            <a:r>
              <a:rPr lang="it-IT" sz="2800" dirty="0">
                <a:latin typeface="Aptos" panose="020B0004020202020204" pitchFamily="34" charset="0"/>
              </a:rPr>
              <a:t>/MSD - Task01_BrainTumor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484 volumi 3D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4 sequenze </a:t>
            </a:r>
            <a:r>
              <a:rPr lang="it-IT" sz="2800" dirty="0">
                <a:latin typeface="Aptos" panose="020B0004020202020204" pitchFamily="34" charset="0"/>
              </a:rPr>
              <a:t>per paziente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Ground truth manuali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EDC0E31A-1AFE-80D7-4A81-A6F16EE85084}"/>
              </a:ext>
            </a:extLst>
          </p:cNvPr>
          <p:cNvSpPr txBox="1"/>
          <p:nvPr/>
        </p:nvSpPr>
        <p:spPr>
          <a:xfrm>
            <a:off x="609600" y="381000"/>
            <a:ext cx="2951449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6000" b="1" dirty="0">
                <a:latin typeface="Aptos" panose="020B0004020202020204" pitchFamily="34" charset="0"/>
              </a:rPr>
              <a:t>Dataset</a:t>
            </a:r>
          </a:p>
        </p:txBody>
      </p:sp>
      <p:grpSp>
        <p:nvGrpSpPr>
          <p:cNvPr id="4" name="object 9">
            <a:extLst>
              <a:ext uri="{FF2B5EF4-FFF2-40B4-BE49-F238E27FC236}">
                <a16:creationId xmlns:a16="http://schemas.microsoft.com/office/drawing/2014/main" id="{512C1904-85B6-2181-6436-132D7977E54E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6" name="object 10">
              <a:extLst>
                <a:ext uri="{FF2B5EF4-FFF2-40B4-BE49-F238E27FC236}">
                  <a16:creationId xmlns:a16="http://schemas.microsoft.com/office/drawing/2014/main" id="{84AE3BCC-B5E9-28F6-20A2-FB3878DFC18B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26917C5F-56B9-79E3-661A-210FDF667233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82614E1E-D962-A36E-3DBB-CB38D30C7051}"/>
              </a:ext>
            </a:extLst>
          </p:cNvPr>
          <p:cNvSpPr txBox="1"/>
          <p:nvPr/>
        </p:nvSpPr>
        <p:spPr>
          <a:xfrm>
            <a:off x="11733139" y="6480829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3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439A6C1C-B193-D207-C8C8-F9F5CD83A76C}"/>
              </a:ext>
            </a:extLst>
          </p:cNvPr>
          <p:cNvSpPr txBox="1"/>
          <p:nvPr/>
        </p:nvSpPr>
        <p:spPr>
          <a:xfrm>
            <a:off x="82177" y="6465351"/>
            <a:ext cx="52811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Segmentazione di Tumori Cerebrali in Immagini MRI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034712A4-735C-F2B6-F736-14A346DD5108}"/>
              </a:ext>
            </a:extLst>
          </p:cNvPr>
          <p:cNvSpPr txBox="1"/>
          <p:nvPr/>
        </p:nvSpPr>
        <p:spPr>
          <a:xfrm>
            <a:off x="609600" y="3895602"/>
            <a:ext cx="4042410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it-IT" sz="2800" b="1" dirty="0">
                <a:latin typeface="Aptos" panose="020B0004020202020204" pitchFamily="34" charset="0"/>
              </a:rPr>
              <a:t>Dettagli dei volumi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Formato .nii.gz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240 x 240 x 155 voxel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volumi registrati e </a:t>
            </a:r>
            <a:r>
              <a:rPr lang="it-IT" sz="2800" dirty="0" err="1">
                <a:latin typeface="Aptos" panose="020B0004020202020204" pitchFamily="34" charset="0"/>
              </a:rPr>
              <a:t>skull-stripped</a:t>
            </a:r>
            <a:endParaRPr lang="it-IT" sz="2800" dirty="0">
              <a:latin typeface="Aptos" panose="020B0004020202020204" pitchFamily="34" charset="0"/>
            </a:endParaRPr>
          </a:p>
        </p:txBody>
      </p:sp>
      <p:pic>
        <p:nvPicPr>
          <p:cNvPr id="1026" name="Picture 2" descr="Understanding and Processing the Brain Tumor Segmentation (BraTS2020)  Dataset | by Farah Abu Hamad | Mar, 2026 | Medium">
            <a:extLst>
              <a:ext uri="{FF2B5EF4-FFF2-40B4-BE49-F238E27FC236}">
                <a16:creationId xmlns:a16="http://schemas.microsoft.com/office/drawing/2014/main" id="{DF729BA9-1AC5-D311-D641-7306464F7C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89270" y="2865333"/>
            <a:ext cx="6143869" cy="31731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Home - Decathlon - Grand Challenge">
            <a:extLst>
              <a:ext uri="{FF2B5EF4-FFF2-40B4-BE49-F238E27FC236}">
                <a16:creationId xmlns:a16="http://schemas.microsoft.com/office/drawing/2014/main" id="{A5640020-10F7-1C9E-476B-6E0FCFB196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93886" y="1509773"/>
            <a:ext cx="4739253" cy="11940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5158514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5A17A6E0-789B-73C3-FD58-055484E140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magine 8">
            <a:extLst>
              <a:ext uri="{FF2B5EF4-FFF2-40B4-BE49-F238E27FC236}">
                <a16:creationId xmlns:a16="http://schemas.microsoft.com/office/drawing/2014/main" id="{68098492-46F2-5C72-32A4-A17F04DCD9D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02" t="8701" r="70923" b="62449"/>
          <a:stretch>
            <a:fillRect/>
          </a:stretch>
        </p:blipFill>
        <p:spPr>
          <a:xfrm>
            <a:off x="7880556" y="1542335"/>
            <a:ext cx="3716977" cy="4166356"/>
          </a:xfrm>
          <a:prstGeom prst="rect">
            <a:avLst/>
          </a:prstGeom>
        </p:spPr>
      </p:pic>
      <p:sp>
        <p:nvSpPr>
          <p:cNvPr id="21" name="CasellaDiTesto 20">
            <a:extLst>
              <a:ext uri="{FF2B5EF4-FFF2-40B4-BE49-F238E27FC236}">
                <a16:creationId xmlns:a16="http://schemas.microsoft.com/office/drawing/2014/main" id="{2DCF8ABE-A7D7-A539-DA05-E372FB4C94B2}"/>
              </a:ext>
            </a:extLst>
          </p:cNvPr>
          <p:cNvSpPr txBox="1">
            <a:spLocks/>
          </p:cNvSpPr>
          <p:nvPr/>
        </p:nvSpPr>
        <p:spPr>
          <a:xfrm>
            <a:off x="612279" y="1738373"/>
            <a:ext cx="6591649" cy="353943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just"/>
            <a:r>
              <a:rPr lang="it-IT" sz="2800" b="1" dirty="0">
                <a:latin typeface="Aptos" panose="020B0004020202020204" pitchFamily="34" charset="0"/>
              </a:rPr>
              <a:t>FLAIR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Sopprime il segnale del </a:t>
            </a:r>
            <a:r>
              <a:rPr lang="it-IT" sz="2800" b="1" dirty="0">
                <a:latin typeface="Aptos" panose="020B0004020202020204" pitchFamily="34" charset="0"/>
              </a:rPr>
              <a:t>liquido cerebrospinale</a:t>
            </a:r>
            <a:r>
              <a:rPr lang="it-IT" sz="2800" dirty="0">
                <a:latin typeface="Aptos" panose="020B0004020202020204" pitchFamily="34" charset="0"/>
              </a:rPr>
              <a:t>, rendendo più visibili le anomalie nel parenchima cerebrale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endParaRPr lang="it-IT" sz="2800" dirty="0">
              <a:latin typeface="Aptos" panose="020B0004020202020204" pitchFamily="34" charset="0"/>
            </a:endParaRP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Sequenza utile per osservare </a:t>
            </a:r>
            <a:r>
              <a:rPr lang="it-IT" sz="2800" b="1" dirty="0">
                <a:latin typeface="Aptos" panose="020B0004020202020204" pitchFamily="34" charset="0"/>
              </a:rPr>
              <a:t>edema </a:t>
            </a:r>
            <a:r>
              <a:rPr lang="it-IT" sz="2800" b="1" dirty="0" err="1">
                <a:latin typeface="Aptos" panose="020B0004020202020204" pitchFamily="34" charset="0"/>
              </a:rPr>
              <a:t>peritumorale</a:t>
            </a:r>
            <a:r>
              <a:rPr lang="it-IT" sz="2800" b="1" dirty="0">
                <a:latin typeface="Aptos" panose="020B0004020202020204" pitchFamily="34" charset="0"/>
              </a:rPr>
              <a:t> </a:t>
            </a:r>
            <a:r>
              <a:rPr lang="it-IT" sz="2800" dirty="0">
                <a:latin typeface="Aptos" panose="020B0004020202020204" pitchFamily="34" charset="0"/>
              </a:rPr>
              <a:t>ed </a:t>
            </a:r>
            <a:r>
              <a:rPr lang="it-IT" sz="2800" b="1" dirty="0">
                <a:latin typeface="Aptos" panose="020B0004020202020204" pitchFamily="34" charset="0"/>
              </a:rPr>
              <a:t>estensione complessiva </a:t>
            </a:r>
            <a:r>
              <a:rPr lang="it-IT" sz="2800" dirty="0">
                <a:latin typeface="Aptos" panose="020B0004020202020204" pitchFamily="34" charset="0"/>
              </a:rPr>
              <a:t>della lesione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C2C79D39-3DE0-E14C-43A2-57FBB97F93B9}"/>
              </a:ext>
            </a:extLst>
          </p:cNvPr>
          <p:cNvSpPr txBox="1"/>
          <p:nvPr/>
        </p:nvSpPr>
        <p:spPr>
          <a:xfrm>
            <a:off x="609600" y="381000"/>
            <a:ext cx="513313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6000" b="1" dirty="0">
                <a:latin typeface="Aptos" panose="020B0004020202020204" pitchFamily="34" charset="0"/>
              </a:rPr>
              <a:t>Sequenze MRI</a:t>
            </a:r>
          </a:p>
        </p:txBody>
      </p:sp>
      <p:grpSp>
        <p:nvGrpSpPr>
          <p:cNvPr id="4" name="object 9">
            <a:extLst>
              <a:ext uri="{FF2B5EF4-FFF2-40B4-BE49-F238E27FC236}">
                <a16:creationId xmlns:a16="http://schemas.microsoft.com/office/drawing/2014/main" id="{EEDAD181-3C42-1B40-F222-A5E56E4FF455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6" name="object 10">
              <a:extLst>
                <a:ext uri="{FF2B5EF4-FFF2-40B4-BE49-F238E27FC236}">
                  <a16:creationId xmlns:a16="http://schemas.microsoft.com/office/drawing/2014/main" id="{46AB843A-A0D8-D7D5-ED86-20386AD41B4F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9C04621E-DCB2-D258-6E83-7D1F97F108EC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0FF714D9-3C94-C69D-9B12-819D42E9059F}"/>
              </a:ext>
            </a:extLst>
          </p:cNvPr>
          <p:cNvSpPr txBox="1"/>
          <p:nvPr/>
        </p:nvSpPr>
        <p:spPr>
          <a:xfrm>
            <a:off x="11733139" y="6480829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4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A8EE2B01-BF10-EEF3-3E71-6797982929BB}"/>
              </a:ext>
            </a:extLst>
          </p:cNvPr>
          <p:cNvSpPr txBox="1"/>
          <p:nvPr/>
        </p:nvSpPr>
        <p:spPr>
          <a:xfrm>
            <a:off x="82177" y="6465351"/>
            <a:ext cx="52811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Segmentazione di Tumori Cerebrali in Immagini MRI</a:t>
            </a:r>
          </a:p>
        </p:txBody>
      </p:sp>
    </p:spTree>
    <p:extLst>
      <p:ext uri="{BB962C8B-B14F-4D97-AF65-F5344CB8AC3E}">
        <p14:creationId xmlns:p14="http://schemas.microsoft.com/office/powerpoint/2010/main" val="305234358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216A490D-237A-C330-0777-8261070271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asellaDiTesto 20">
            <a:extLst>
              <a:ext uri="{FF2B5EF4-FFF2-40B4-BE49-F238E27FC236}">
                <a16:creationId xmlns:a16="http://schemas.microsoft.com/office/drawing/2014/main" id="{43BBCE24-FD55-4AB5-B582-B7F17C6BD461}"/>
              </a:ext>
            </a:extLst>
          </p:cNvPr>
          <p:cNvSpPr txBox="1">
            <a:spLocks/>
          </p:cNvSpPr>
          <p:nvPr/>
        </p:nvSpPr>
        <p:spPr>
          <a:xfrm>
            <a:off x="612279" y="1738373"/>
            <a:ext cx="6591649" cy="397031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just"/>
            <a:r>
              <a:rPr lang="it-IT" sz="2800" b="1" dirty="0">
                <a:latin typeface="Aptos" panose="020B0004020202020204" pitchFamily="34" charset="0"/>
              </a:rPr>
              <a:t>T1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Evidenzia bene </a:t>
            </a:r>
            <a:r>
              <a:rPr lang="it-IT" sz="2800" b="1" dirty="0">
                <a:latin typeface="Aptos" panose="020B0004020202020204" pitchFamily="34" charset="0"/>
              </a:rPr>
              <a:t>l’anatomia cerebrale generale </a:t>
            </a:r>
            <a:r>
              <a:rPr lang="it-IT" sz="2800" dirty="0">
                <a:latin typeface="Aptos" panose="020B0004020202020204" pitchFamily="34" charset="0"/>
              </a:rPr>
              <a:t>e il </a:t>
            </a:r>
            <a:r>
              <a:rPr lang="it-IT" sz="2800" b="1" dirty="0">
                <a:latin typeface="Aptos" panose="020B0004020202020204" pitchFamily="34" charset="0"/>
              </a:rPr>
              <a:t>contrasto</a:t>
            </a:r>
            <a:r>
              <a:rPr lang="it-IT" sz="2800" dirty="0">
                <a:latin typeface="Aptos" panose="020B0004020202020204" pitchFamily="34" charset="0"/>
              </a:rPr>
              <a:t> tra sostanza grigia, sostanza bianca e liquido cerebrospinale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endParaRPr lang="it-IT" sz="2800" dirty="0">
              <a:latin typeface="Aptos" panose="020B0004020202020204" pitchFamily="34" charset="0"/>
            </a:endParaRP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Da sola è </a:t>
            </a:r>
            <a:r>
              <a:rPr lang="it-IT" sz="2800" b="1" dirty="0">
                <a:latin typeface="Aptos" panose="020B0004020202020204" pitchFamily="34" charset="0"/>
              </a:rPr>
              <a:t>poco sensibile al tumore</a:t>
            </a:r>
            <a:r>
              <a:rPr lang="it-IT" sz="2800" dirty="0">
                <a:latin typeface="Aptos" panose="020B0004020202020204" pitchFamily="34" charset="0"/>
              </a:rPr>
              <a:t>, perché le lesioni hanno intensità simili ai </a:t>
            </a:r>
            <a:r>
              <a:rPr lang="it-IT" sz="2800" b="1" dirty="0">
                <a:latin typeface="Aptos" panose="020B0004020202020204" pitchFamily="34" charset="0"/>
              </a:rPr>
              <a:t>tessuti circostanti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66899FE4-25B4-6F11-BB61-0A202058ECE1}"/>
              </a:ext>
            </a:extLst>
          </p:cNvPr>
          <p:cNvSpPr txBox="1"/>
          <p:nvPr/>
        </p:nvSpPr>
        <p:spPr>
          <a:xfrm>
            <a:off x="609600" y="381000"/>
            <a:ext cx="513313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6000" b="1" dirty="0">
                <a:latin typeface="Aptos" panose="020B0004020202020204" pitchFamily="34" charset="0"/>
              </a:rPr>
              <a:t>Sequenze MRI</a:t>
            </a:r>
          </a:p>
        </p:txBody>
      </p:sp>
      <p:grpSp>
        <p:nvGrpSpPr>
          <p:cNvPr id="4" name="object 9">
            <a:extLst>
              <a:ext uri="{FF2B5EF4-FFF2-40B4-BE49-F238E27FC236}">
                <a16:creationId xmlns:a16="http://schemas.microsoft.com/office/drawing/2014/main" id="{240248A5-669C-DF50-2808-E74FF6910EC8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6" name="object 10">
              <a:extLst>
                <a:ext uri="{FF2B5EF4-FFF2-40B4-BE49-F238E27FC236}">
                  <a16:creationId xmlns:a16="http://schemas.microsoft.com/office/drawing/2014/main" id="{743B4F53-17E5-22C9-CA39-173DE86A4457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4331A2E1-2589-AAC8-6850-7D252B83AB74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3205EAD1-19B0-7FC8-001A-4BF86DB04258}"/>
              </a:ext>
            </a:extLst>
          </p:cNvPr>
          <p:cNvSpPr txBox="1"/>
          <p:nvPr/>
        </p:nvSpPr>
        <p:spPr>
          <a:xfrm>
            <a:off x="11733139" y="6480829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5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C6459B41-FF5B-BD2D-D02A-9A12DE56F59C}"/>
              </a:ext>
            </a:extLst>
          </p:cNvPr>
          <p:cNvSpPr txBox="1"/>
          <p:nvPr/>
        </p:nvSpPr>
        <p:spPr>
          <a:xfrm>
            <a:off x="82177" y="6465351"/>
            <a:ext cx="52811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Segmentazione di Tumori Cerebrali in Immagini MRI</a:t>
            </a:r>
          </a:p>
        </p:txBody>
      </p:sp>
      <p:pic>
        <p:nvPicPr>
          <p:cNvPr id="9" name="Immagine 8">
            <a:extLst>
              <a:ext uri="{FF2B5EF4-FFF2-40B4-BE49-F238E27FC236}">
                <a16:creationId xmlns:a16="http://schemas.microsoft.com/office/drawing/2014/main" id="{7CC3C263-F199-9409-A9FB-3AB594BD936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053" t="8701" r="50196" b="62449"/>
          <a:stretch>
            <a:fillRect/>
          </a:stretch>
        </p:blipFill>
        <p:spPr>
          <a:xfrm>
            <a:off x="7796391" y="1542335"/>
            <a:ext cx="3783330" cy="41663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411302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B7AEB564-305E-6BD1-FA93-15508B6AAB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magine 8">
            <a:extLst>
              <a:ext uri="{FF2B5EF4-FFF2-40B4-BE49-F238E27FC236}">
                <a16:creationId xmlns:a16="http://schemas.microsoft.com/office/drawing/2014/main" id="{832C2BC0-7734-C8A5-2E54-BF0EC23A8DA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4793" t="8701" r="29732" b="62449"/>
          <a:stretch>
            <a:fillRect/>
          </a:stretch>
        </p:blipFill>
        <p:spPr>
          <a:xfrm>
            <a:off x="7862744" y="1542335"/>
            <a:ext cx="3716977" cy="4166356"/>
          </a:xfrm>
          <a:prstGeom prst="rect">
            <a:avLst/>
          </a:prstGeom>
        </p:spPr>
      </p:pic>
      <p:sp>
        <p:nvSpPr>
          <p:cNvPr id="21" name="CasellaDiTesto 20">
            <a:extLst>
              <a:ext uri="{FF2B5EF4-FFF2-40B4-BE49-F238E27FC236}">
                <a16:creationId xmlns:a16="http://schemas.microsoft.com/office/drawing/2014/main" id="{75CC1E61-3A74-ABEF-41FB-CC6545711B87}"/>
              </a:ext>
            </a:extLst>
          </p:cNvPr>
          <p:cNvSpPr txBox="1">
            <a:spLocks/>
          </p:cNvSpPr>
          <p:nvPr/>
        </p:nvSpPr>
        <p:spPr>
          <a:xfrm>
            <a:off x="612279" y="1738373"/>
            <a:ext cx="6591649" cy="353943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just"/>
            <a:r>
              <a:rPr lang="it-IT" sz="2800" b="1" dirty="0">
                <a:latin typeface="Aptos" panose="020B0004020202020204" pitchFamily="34" charset="0"/>
              </a:rPr>
              <a:t>T1c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Dopo </a:t>
            </a:r>
            <a:r>
              <a:rPr lang="it-IT" sz="2800" b="1" dirty="0">
                <a:latin typeface="Aptos" panose="020B0004020202020204" pitchFamily="34" charset="0"/>
              </a:rPr>
              <a:t>mezzo di contrasto </a:t>
            </a:r>
            <a:r>
              <a:rPr lang="it-IT" sz="2800" dirty="0">
                <a:latin typeface="Aptos" panose="020B0004020202020204" pitchFamily="34" charset="0"/>
              </a:rPr>
              <a:t>(gadolinio), evidenzia la </a:t>
            </a:r>
            <a:r>
              <a:rPr lang="it-IT" sz="2800" b="1" dirty="0">
                <a:latin typeface="Aptos" panose="020B0004020202020204" pitchFamily="34" charset="0"/>
              </a:rPr>
              <a:t>componente tumorale attiva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endParaRPr lang="it-IT" sz="2800" dirty="0">
              <a:latin typeface="Aptos" panose="020B0004020202020204" pitchFamily="34" charset="0"/>
            </a:endParaRP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Non descrive bene </a:t>
            </a:r>
            <a:r>
              <a:rPr lang="it-IT" sz="2800" b="1" dirty="0">
                <a:latin typeface="Aptos" panose="020B0004020202020204" pitchFamily="34" charset="0"/>
              </a:rPr>
              <a:t>l’estensione complessiva</a:t>
            </a:r>
            <a:r>
              <a:rPr lang="it-IT" sz="2800" dirty="0">
                <a:latin typeface="Aptos" panose="020B0004020202020204" pitchFamily="34" charset="0"/>
              </a:rPr>
              <a:t> della lesione, ma solo la zona centrale più intensa</a:t>
            </a:r>
            <a:endParaRPr lang="it-IT" sz="2800" b="1" dirty="0">
              <a:latin typeface="Aptos" panose="020B0004020202020204" pitchFamily="34" charset="0"/>
            </a:endParaRP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0228A9E3-1C77-9A06-DB97-C20FAA604E4A}"/>
              </a:ext>
            </a:extLst>
          </p:cNvPr>
          <p:cNvSpPr txBox="1"/>
          <p:nvPr/>
        </p:nvSpPr>
        <p:spPr>
          <a:xfrm>
            <a:off x="609600" y="381000"/>
            <a:ext cx="513313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6000" b="1" dirty="0">
                <a:latin typeface="Aptos" panose="020B0004020202020204" pitchFamily="34" charset="0"/>
              </a:rPr>
              <a:t>Sequenze MRI</a:t>
            </a:r>
          </a:p>
        </p:txBody>
      </p:sp>
      <p:grpSp>
        <p:nvGrpSpPr>
          <p:cNvPr id="4" name="object 9">
            <a:extLst>
              <a:ext uri="{FF2B5EF4-FFF2-40B4-BE49-F238E27FC236}">
                <a16:creationId xmlns:a16="http://schemas.microsoft.com/office/drawing/2014/main" id="{BE385E34-B982-B292-EB97-6F07761CED0C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6" name="object 10">
              <a:extLst>
                <a:ext uri="{FF2B5EF4-FFF2-40B4-BE49-F238E27FC236}">
                  <a16:creationId xmlns:a16="http://schemas.microsoft.com/office/drawing/2014/main" id="{95FA5796-F2E1-F2C6-889B-2588762B5985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00D979D6-CDD6-4E5D-4CF8-36EFC5C34C62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573C8B79-F42B-0FC4-F449-4297933388B0}"/>
              </a:ext>
            </a:extLst>
          </p:cNvPr>
          <p:cNvSpPr txBox="1"/>
          <p:nvPr/>
        </p:nvSpPr>
        <p:spPr>
          <a:xfrm>
            <a:off x="11733139" y="6480829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6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2EE99926-C64B-83DD-95FD-10FC3D198768}"/>
              </a:ext>
            </a:extLst>
          </p:cNvPr>
          <p:cNvSpPr txBox="1"/>
          <p:nvPr/>
        </p:nvSpPr>
        <p:spPr>
          <a:xfrm>
            <a:off x="82177" y="6465351"/>
            <a:ext cx="52811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Segmentazione di Tumori Cerebrali in Immagini MRI</a:t>
            </a:r>
          </a:p>
        </p:txBody>
      </p:sp>
    </p:spTree>
    <p:extLst>
      <p:ext uri="{BB962C8B-B14F-4D97-AF65-F5344CB8AC3E}">
        <p14:creationId xmlns:p14="http://schemas.microsoft.com/office/powerpoint/2010/main" val="414041167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89B5715A-78A2-E471-8F63-CF6BDEBF9D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magine 8">
            <a:extLst>
              <a:ext uri="{FF2B5EF4-FFF2-40B4-BE49-F238E27FC236}">
                <a16:creationId xmlns:a16="http://schemas.microsoft.com/office/drawing/2014/main" id="{469B5344-1006-68CB-6552-7E04CEB2BA9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5355" t="8701" r="9021" b="62449"/>
          <a:stretch>
            <a:fillRect/>
          </a:stretch>
        </p:blipFill>
        <p:spPr>
          <a:xfrm>
            <a:off x="7844930" y="1542335"/>
            <a:ext cx="3752603" cy="4166356"/>
          </a:xfrm>
          <a:prstGeom prst="rect">
            <a:avLst/>
          </a:prstGeom>
        </p:spPr>
      </p:pic>
      <p:sp>
        <p:nvSpPr>
          <p:cNvPr id="21" name="CasellaDiTesto 20">
            <a:extLst>
              <a:ext uri="{FF2B5EF4-FFF2-40B4-BE49-F238E27FC236}">
                <a16:creationId xmlns:a16="http://schemas.microsoft.com/office/drawing/2014/main" id="{54887EF8-EC7B-4239-1E35-878AE94B0BE9}"/>
              </a:ext>
            </a:extLst>
          </p:cNvPr>
          <p:cNvSpPr txBox="1">
            <a:spLocks/>
          </p:cNvSpPr>
          <p:nvPr/>
        </p:nvSpPr>
        <p:spPr>
          <a:xfrm>
            <a:off x="612279" y="1738373"/>
            <a:ext cx="6591649" cy="353943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just"/>
            <a:r>
              <a:rPr lang="it-IT" sz="2800" b="1" dirty="0">
                <a:latin typeface="Aptos" panose="020B0004020202020204" pitchFamily="34" charset="0"/>
              </a:rPr>
              <a:t>T2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È </a:t>
            </a:r>
            <a:r>
              <a:rPr lang="it-IT" sz="2800" b="1" dirty="0">
                <a:latin typeface="Aptos" panose="020B0004020202020204" pitchFamily="34" charset="0"/>
              </a:rPr>
              <a:t>sensibile</a:t>
            </a:r>
            <a:r>
              <a:rPr lang="it-IT" sz="2800" dirty="0">
                <a:latin typeface="Aptos" panose="020B0004020202020204" pitchFamily="34" charset="0"/>
              </a:rPr>
              <a:t> </a:t>
            </a:r>
            <a:r>
              <a:rPr lang="it-IT" sz="2800" b="1" dirty="0">
                <a:latin typeface="Aptos" panose="020B0004020202020204" pitchFamily="34" charset="0"/>
              </a:rPr>
              <a:t>al contenuto di acqua</a:t>
            </a:r>
            <a:r>
              <a:rPr lang="it-IT" sz="2800" dirty="0">
                <a:latin typeface="Aptos" panose="020B0004020202020204" pitchFamily="34" charset="0"/>
              </a:rPr>
              <a:t>, quindi mette in evidenza </a:t>
            </a:r>
            <a:r>
              <a:rPr lang="it-IT" sz="2800" b="1" dirty="0">
                <a:latin typeface="Aptos" panose="020B0004020202020204" pitchFamily="34" charset="0"/>
              </a:rPr>
              <a:t>edema</a:t>
            </a:r>
            <a:r>
              <a:rPr lang="it-IT" sz="2800" dirty="0">
                <a:latin typeface="Aptos" panose="020B0004020202020204" pitchFamily="34" charset="0"/>
              </a:rPr>
              <a:t> e regioni </a:t>
            </a:r>
            <a:r>
              <a:rPr lang="it-IT" sz="2800" dirty="0" err="1">
                <a:latin typeface="Aptos" panose="020B0004020202020204" pitchFamily="34" charset="0"/>
              </a:rPr>
              <a:t>iperintense</a:t>
            </a:r>
            <a:endParaRPr lang="it-IT" sz="2800" dirty="0">
              <a:latin typeface="Aptos" panose="020B0004020202020204" pitchFamily="34" charset="0"/>
            </a:endParaRPr>
          </a:p>
          <a:p>
            <a:pPr marL="457200" indent="-457200" algn="just">
              <a:buFont typeface="Arial" panose="020B0604020202020204" pitchFamily="34" charset="0"/>
              <a:buChar char="•"/>
            </a:pPr>
            <a:endParaRPr lang="it-IT" sz="2800" dirty="0">
              <a:latin typeface="Aptos" panose="020B0004020202020204" pitchFamily="34" charset="0"/>
            </a:endParaRP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È utile per descrivere </a:t>
            </a:r>
            <a:r>
              <a:rPr lang="it-IT" sz="2800" b="1" dirty="0">
                <a:latin typeface="Aptos" panose="020B0004020202020204" pitchFamily="34" charset="0"/>
              </a:rPr>
              <a:t>l’area patologica</a:t>
            </a:r>
            <a:r>
              <a:rPr lang="it-IT" sz="2800" dirty="0">
                <a:latin typeface="Aptos" panose="020B0004020202020204" pitchFamily="34" charset="0"/>
              </a:rPr>
              <a:t>, ma è meno specifica delle componenti tumorali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E7BC63E8-4491-3B02-0B54-7AC951F8B52B}"/>
              </a:ext>
            </a:extLst>
          </p:cNvPr>
          <p:cNvSpPr txBox="1"/>
          <p:nvPr/>
        </p:nvSpPr>
        <p:spPr>
          <a:xfrm>
            <a:off x="609600" y="381000"/>
            <a:ext cx="513313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6000" b="1" dirty="0">
                <a:latin typeface="Aptos" panose="020B0004020202020204" pitchFamily="34" charset="0"/>
              </a:rPr>
              <a:t>Sequenze MRI</a:t>
            </a:r>
          </a:p>
        </p:txBody>
      </p:sp>
      <p:grpSp>
        <p:nvGrpSpPr>
          <p:cNvPr id="4" name="object 9">
            <a:extLst>
              <a:ext uri="{FF2B5EF4-FFF2-40B4-BE49-F238E27FC236}">
                <a16:creationId xmlns:a16="http://schemas.microsoft.com/office/drawing/2014/main" id="{A3686917-D040-6E1C-81CA-330EAF412336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6" name="object 10">
              <a:extLst>
                <a:ext uri="{FF2B5EF4-FFF2-40B4-BE49-F238E27FC236}">
                  <a16:creationId xmlns:a16="http://schemas.microsoft.com/office/drawing/2014/main" id="{546CEDE0-BF97-BABA-F5CF-E08F51FBC17C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8A258889-C2B1-ADE4-1D81-6FF712069512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655517B2-D60F-6640-41A0-A6E779D4DD3D}"/>
              </a:ext>
            </a:extLst>
          </p:cNvPr>
          <p:cNvSpPr txBox="1"/>
          <p:nvPr/>
        </p:nvSpPr>
        <p:spPr>
          <a:xfrm>
            <a:off x="11733139" y="6480829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7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C31F9AB6-2BF6-4BD6-F5AC-C229A8860715}"/>
              </a:ext>
            </a:extLst>
          </p:cNvPr>
          <p:cNvSpPr txBox="1"/>
          <p:nvPr/>
        </p:nvSpPr>
        <p:spPr>
          <a:xfrm>
            <a:off x="82177" y="6465351"/>
            <a:ext cx="52811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Segmentazione di Tumori Cerebrali in Immagini MRI</a:t>
            </a:r>
          </a:p>
        </p:txBody>
      </p:sp>
    </p:spTree>
    <p:extLst>
      <p:ext uri="{BB962C8B-B14F-4D97-AF65-F5344CB8AC3E}">
        <p14:creationId xmlns:p14="http://schemas.microsoft.com/office/powerpoint/2010/main" val="281390689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F2FFEF0D-AEA0-6443-807B-1EB48DCDCA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sellaDiTesto 4">
            <a:extLst>
              <a:ext uri="{FF2B5EF4-FFF2-40B4-BE49-F238E27FC236}">
                <a16:creationId xmlns:a16="http://schemas.microsoft.com/office/drawing/2014/main" id="{5EC7F1CB-33E6-61EB-3F5A-9B904A026120}"/>
              </a:ext>
            </a:extLst>
          </p:cNvPr>
          <p:cNvSpPr txBox="1"/>
          <p:nvPr/>
        </p:nvSpPr>
        <p:spPr>
          <a:xfrm>
            <a:off x="609600" y="381000"/>
            <a:ext cx="935865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6000" b="1" dirty="0">
                <a:latin typeface="Aptos" panose="020B0004020202020204" pitchFamily="34" charset="0"/>
              </a:rPr>
              <a:t>Architettura della Pipeline</a:t>
            </a:r>
          </a:p>
        </p:txBody>
      </p:sp>
      <p:grpSp>
        <p:nvGrpSpPr>
          <p:cNvPr id="4" name="object 9">
            <a:extLst>
              <a:ext uri="{FF2B5EF4-FFF2-40B4-BE49-F238E27FC236}">
                <a16:creationId xmlns:a16="http://schemas.microsoft.com/office/drawing/2014/main" id="{6B9398C9-06CA-35A5-27F8-06C5A9A6D6DB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6" name="object 10">
              <a:extLst>
                <a:ext uri="{FF2B5EF4-FFF2-40B4-BE49-F238E27FC236}">
                  <a16:creationId xmlns:a16="http://schemas.microsoft.com/office/drawing/2014/main" id="{5DA48164-D454-04A2-82DE-16B83FE4FB57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E01CA38D-C821-E357-23B8-C89808F1DF3A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1E2AC22A-90BF-3295-AC39-92A2FCB19A55}"/>
              </a:ext>
            </a:extLst>
          </p:cNvPr>
          <p:cNvSpPr txBox="1"/>
          <p:nvPr/>
        </p:nvSpPr>
        <p:spPr>
          <a:xfrm>
            <a:off x="11733139" y="6480829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8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602D3D74-C1F5-06D8-7865-0D0804CDEC93}"/>
              </a:ext>
            </a:extLst>
          </p:cNvPr>
          <p:cNvSpPr txBox="1"/>
          <p:nvPr/>
        </p:nvSpPr>
        <p:spPr>
          <a:xfrm>
            <a:off x="82177" y="6465351"/>
            <a:ext cx="52811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Segmentazione di Tumori Cerebrali in Immagini MRI</a:t>
            </a:r>
          </a:p>
        </p:txBody>
      </p:sp>
      <p:pic>
        <p:nvPicPr>
          <p:cNvPr id="3" name="Elemento grafico 2">
            <a:extLst>
              <a:ext uri="{FF2B5EF4-FFF2-40B4-BE49-F238E27FC236}">
                <a16:creationId xmlns:a16="http://schemas.microsoft.com/office/drawing/2014/main" id="{2B806B9A-38EB-F5F5-3FC6-A07B51C33F4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2708" y="1654802"/>
            <a:ext cx="11377312" cy="1378899"/>
          </a:xfrm>
          <a:prstGeom prst="rect">
            <a:avLst/>
          </a:prstGeom>
        </p:spPr>
      </p:pic>
      <p:sp>
        <p:nvSpPr>
          <p:cNvPr id="8" name="CasellaDiTesto 7">
            <a:extLst>
              <a:ext uri="{FF2B5EF4-FFF2-40B4-BE49-F238E27FC236}">
                <a16:creationId xmlns:a16="http://schemas.microsoft.com/office/drawing/2014/main" id="{95B70821-B36D-D4FD-BFE5-F228AE4EA4E4}"/>
              </a:ext>
            </a:extLst>
          </p:cNvPr>
          <p:cNvSpPr txBox="1">
            <a:spLocks/>
          </p:cNvSpPr>
          <p:nvPr/>
        </p:nvSpPr>
        <p:spPr>
          <a:xfrm>
            <a:off x="407343" y="3284968"/>
            <a:ext cx="11412677" cy="2677656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EDA: </a:t>
            </a:r>
            <a:r>
              <a:rPr lang="it-IT" sz="2800" dirty="0">
                <a:latin typeface="Aptos" panose="020B0004020202020204" pitchFamily="34" charset="0"/>
              </a:rPr>
              <a:t>analisi delle sequenze MRI e delle distribuzioni di intensità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b="1" dirty="0" err="1">
                <a:latin typeface="Aptos" panose="020B0004020202020204" pitchFamily="34" charset="0"/>
              </a:rPr>
              <a:t>Pre</a:t>
            </a:r>
            <a:r>
              <a:rPr lang="it-IT" sz="2800" b="1" dirty="0">
                <a:latin typeface="Aptos" panose="020B0004020202020204" pitchFamily="34" charset="0"/>
              </a:rPr>
              <a:t>-Processing: </a:t>
            </a:r>
            <a:r>
              <a:rPr lang="it-IT" sz="2800" dirty="0">
                <a:latin typeface="Aptos" panose="020B0004020202020204" pitchFamily="34" charset="0"/>
              </a:rPr>
              <a:t>preparazione di tutte le sequenze per segmentazione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Segmentazione: </a:t>
            </a:r>
            <a:r>
              <a:rPr lang="it-IT" sz="2800" dirty="0">
                <a:latin typeface="Aptos" panose="020B0004020202020204" pitchFamily="34" charset="0"/>
              </a:rPr>
              <a:t>applicazione in cascata delle tecniche di Image Processing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Post-Processing: </a:t>
            </a:r>
            <a:r>
              <a:rPr lang="it-IT" sz="2800" dirty="0">
                <a:latin typeface="Aptos" panose="020B0004020202020204" pitchFamily="34" charset="0"/>
              </a:rPr>
              <a:t>rifinitura delle maschere di segmentazione ottenute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Valutazione: </a:t>
            </a:r>
            <a:r>
              <a:rPr lang="it-IT" sz="2800" dirty="0">
                <a:latin typeface="Aptos" panose="020B0004020202020204" pitchFamily="34" charset="0"/>
              </a:rPr>
              <a:t>stima delle prestazioni della pipeline</a:t>
            </a:r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A3AB5983-BF22-E322-80DD-ABBA9AF34DF8}"/>
              </a:ext>
            </a:extLst>
          </p:cNvPr>
          <p:cNvSpPr txBox="1">
            <a:spLocks/>
          </p:cNvSpPr>
          <p:nvPr/>
        </p:nvSpPr>
        <p:spPr>
          <a:xfrm>
            <a:off x="8566518" y="5884355"/>
            <a:ext cx="3474719" cy="40011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it-IT" sz="2000" u="sng" dirty="0">
                <a:latin typeface="Aptos" panose="020B0004020202020204" pitchFamily="34" charset="0"/>
              </a:rPr>
              <a:t>Paziente considerato: ID 218</a:t>
            </a:r>
          </a:p>
        </p:txBody>
      </p:sp>
    </p:spTree>
    <p:extLst>
      <p:ext uri="{BB962C8B-B14F-4D97-AF65-F5344CB8AC3E}">
        <p14:creationId xmlns:p14="http://schemas.microsoft.com/office/powerpoint/2010/main" val="17857718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3AD266CE-A9CC-B491-B1DB-245A880C7A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magine 8">
            <a:extLst>
              <a:ext uri="{FF2B5EF4-FFF2-40B4-BE49-F238E27FC236}">
                <a16:creationId xmlns:a16="http://schemas.microsoft.com/office/drawing/2014/main" id="{4F73355E-A963-6BD7-38EB-D9F188C1538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237" r="8190" b="4662"/>
          <a:stretch>
            <a:fillRect/>
          </a:stretch>
        </p:blipFill>
        <p:spPr>
          <a:xfrm>
            <a:off x="5052047" y="1473905"/>
            <a:ext cx="6846571" cy="4695527"/>
          </a:xfrm>
          <a:prstGeom prst="rect">
            <a:avLst/>
          </a:prstGeom>
        </p:spPr>
      </p:pic>
      <p:sp>
        <p:nvSpPr>
          <p:cNvPr id="5" name="CasellaDiTesto 4">
            <a:extLst>
              <a:ext uri="{FF2B5EF4-FFF2-40B4-BE49-F238E27FC236}">
                <a16:creationId xmlns:a16="http://schemas.microsoft.com/office/drawing/2014/main" id="{18A6B1D4-6BA3-0D92-7158-0BDD53452740}"/>
              </a:ext>
            </a:extLst>
          </p:cNvPr>
          <p:cNvSpPr txBox="1"/>
          <p:nvPr/>
        </p:nvSpPr>
        <p:spPr>
          <a:xfrm>
            <a:off x="609600" y="381000"/>
            <a:ext cx="952857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6000" b="1" dirty="0">
                <a:latin typeface="Aptos" panose="020B0004020202020204" pitchFamily="34" charset="0"/>
              </a:rPr>
              <a:t>Analisi Esplorativa dei Dati</a:t>
            </a:r>
          </a:p>
        </p:txBody>
      </p:sp>
      <p:grpSp>
        <p:nvGrpSpPr>
          <p:cNvPr id="4" name="object 9">
            <a:extLst>
              <a:ext uri="{FF2B5EF4-FFF2-40B4-BE49-F238E27FC236}">
                <a16:creationId xmlns:a16="http://schemas.microsoft.com/office/drawing/2014/main" id="{AA8986B7-A59E-D3C0-1822-AF0E521808C8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6" name="object 10">
              <a:extLst>
                <a:ext uri="{FF2B5EF4-FFF2-40B4-BE49-F238E27FC236}">
                  <a16:creationId xmlns:a16="http://schemas.microsoft.com/office/drawing/2014/main" id="{37462FEF-DE3D-FC22-A4D3-16345F335AA8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F1B2F844-8F43-E631-9C9F-5FC7952649E1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F6685C4F-28A2-1E94-C2B1-905A72175233}"/>
              </a:ext>
            </a:extLst>
          </p:cNvPr>
          <p:cNvSpPr txBox="1"/>
          <p:nvPr/>
        </p:nvSpPr>
        <p:spPr>
          <a:xfrm>
            <a:off x="11733139" y="6480829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9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CEE9196C-C247-6A20-8650-AB4235C165E8}"/>
              </a:ext>
            </a:extLst>
          </p:cNvPr>
          <p:cNvSpPr txBox="1"/>
          <p:nvPr/>
        </p:nvSpPr>
        <p:spPr>
          <a:xfrm>
            <a:off x="82177" y="6465351"/>
            <a:ext cx="52811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Segmentazione di Tumori Cerebrali in Immagini MRI</a:t>
            </a:r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B43499C9-5391-63D2-A554-6CEF72206E91}"/>
              </a:ext>
            </a:extLst>
          </p:cNvPr>
          <p:cNvSpPr txBox="1"/>
          <p:nvPr/>
        </p:nvSpPr>
        <p:spPr>
          <a:xfrm>
            <a:off x="461010" y="1638925"/>
            <a:ext cx="4533887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it-IT" sz="2800" b="1" dirty="0">
                <a:latin typeface="Aptos" panose="020B0004020202020204" pitchFamily="34" charset="0"/>
              </a:rPr>
              <a:t>Sequenze Originali e</a:t>
            </a:r>
          </a:p>
          <a:p>
            <a:pPr algn="l"/>
            <a:r>
              <a:rPr lang="it-IT" sz="2800" b="1" dirty="0">
                <a:latin typeface="Aptos" panose="020B0004020202020204" pitchFamily="34" charset="0"/>
              </a:rPr>
              <a:t>Istogrammi</a:t>
            </a:r>
            <a:endParaRPr lang="it-IT" sz="2800" dirty="0">
              <a:latin typeface="Aptos" panose="020B0004020202020204" pitchFamily="34" charset="0"/>
            </a:endParaRP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Osservazione: </a:t>
            </a:r>
            <a:r>
              <a:rPr lang="it-IT" sz="2800" dirty="0">
                <a:latin typeface="Aptos" panose="020B0004020202020204" pitchFamily="34" charset="0"/>
              </a:rPr>
              <a:t>le</a:t>
            </a:r>
            <a:r>
              <a:rPr lang="it-IT" sz="2800" b="1" dirty="0">
                <a:latin typeface="Aptos" panose="020B0004020202020204" pitchFamily="34" charset="0"/>
              </a:rPr>
              <a:t> </a:t>
            </a:r>
            <a:r>
              <a:rPr lang="it-IT" sz="2800" dirty="0">
                <a:latin typeface="Aptos" panose="020B0004020202020204" pitchFamily="34" charset="0"/>
              </a:rPr>
              <a:t>sequenze presentano distribuzioni di intensità diverse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endParaRPr lang="it-IT" sz="2800" dirty="0">
              <a:latin typeface="Aptos" panose="020B0004020202020204" pitchFamily="34" charset="0"/>
            </a:endParaRP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Obiettivo EDA: </a:t>
            </a:r>
            <a:r>
              <a:rPr lang="it-IT" sz="2800" dirty="0">
                <a:latin typeface="Aptos" panose="020B0004020202020204" pitchFamily="34" charset="0"/>
              </a:rPr>
              <a:t>capire</a:t>
            </a:r>
            <a:r>
              <a:rPr lang="it-IT" sz="2800" b="1" dirty="0">
                <a:latin typeface="Aptos" panose="020B0004020202020204" pitchFamily="34" charset="0"/>
              </a:rPr>
              <a:t> </a:t>
            </a:r>
            <a:r>
              <a:rPr lang="it-IT" sz="2800" dirty="0">
                <a:latin typeface="Aptos" panose="020B0004020202020204" pitchFamily="34" charset="0"/>
              </a:rPr>
              <a:t>quali modalità sono più informative per la lesione</a:t>
            </a:r>
          </a:p>
        </p:txBody>
      </p:sp>
    </p:spTree>
    <p:extLst>
      <p:ext uri="{BB962C8B-B14F-4D97-AF65-F5344CB8AC3E}">
        <p14:creationId xmlns:p14="http://schemas.microsoft.com/office/powerpoint/2010/main" val="34622556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FED44B53-4D71-61F3-43DD-80513EFB5E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Immagine 11">
            <a:extLst>
              <a:ext uri="{FF2B5EF4-FFF2-40B4-BE49-F238E27FC236}">
                <a16:creationId xmlns:a16="http://schemas.microsoft.com/office/drawing/2014/main" id="{EE90C003-AC31-209B-E27B-2EE87342EE8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55" r="8214" b="3408"/>
          <a:stretch>
            <a:fillRect/>
          </a:stretch>
        </p:blipFill>
        <p:spPr>
          <a:xfrm>
            <a:off x="5006326" y="1473905"/>
            <a:ext cx="6892291" cy="4757291"/>
          </a:xfrm>
          <a:prstGeom prst="rect">
            <a:avLst/>
          </a:prstGeom>
        </p:spPr>
      </p:pic>
      <p:sp>
        <p:nvSpPr>
          <p:cNvPr id="5" name="CasellaDiTesto 4">
            <a:extLst>
              <a:ext uri="{FF2B5EF4-FFF2-40B4-BE49-F238E27FC236}">
                <a16:creationId xmlns:a16="http://schemas.microsoft.com/office/drawing/2014/main" id="{C9567C22-E2AA-DBEB-294C-D579260481A7}"/>
              </a:ext>
            </a:extLst>
          </p:cNvPr>
          <p:cNvSpPr txBox="1"/>
          <p:nvPr/>
        </p:nvSpPr>
        <p:spPr>
          <a:xfrm>
            <a:off x="609600" y="381000"/>
            <a:ext cx="952857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6000" b="1" dirty="0">
                <a:latin typeface="Aptos" panose="020B0004020202020204" pitchFamily="34" charset="0"/>
              </a:rPr>
              <a:t>Analisi Esplorativa dei Dati</a:t>
            </a:r>
          </a:p>
        </p:txBody>
      </p:sp>
      <p:grpSp>
        <p:nvGrpSpPr>
          <p:cNvPr id="4" name="object 9">
            <a:extLst>
              <a:ext uri="{FF2B5EF4-FFF2-40B4-BE49-F238E27FC236}">
                <a16:creationId xmlns:a16="http://schemas.microsoft.com/office/drawing/2014/main" id="{9F81983D-BF3D-AA9E-E9AB-AD40A3A254C6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6" name="object 10">
              <a:extLst>
                <a:ext uri="{FF2B5EF4-FFF2-40B4-BE49-F238E27FC236}">
                  <a16:creationId xmlns:a16="http://schemas.microsoft.com/office/drawing/2014/main" id="{19C1AECD-FD01-4ADB-B8DB-89CAC1761A34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763F1DD5-7AFA-F17D-7FDA-6F11384F6678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ACF4135D-29AA-3ABD-F666-6EEEF14C0B33}"/>
              </a:ext>
            </a:extLst>
          </p:cNvPr>
          <p:cNvSpPr txBox="1"/>
          <p:nvPr/>
        </p:nvSpPr>
        <p:spPr>
          <a:xfrm>
            <a:off x="11671425" y="6480829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10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942C5AFF-39ED-B468-D121-3C2F3E343311}"/>
              </a:ext>
            </a:extLst>
          </p:cNvPr>
          <p:cNvSpPr txBox="1"/>
          <p:nvPr/>
        </p:nvSpPr>
        <p:spPr>
          <a:xfrm>
            <a:off x="82177" y="6465351"/>
            <a:ext cx="52811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Segmentazione di Tumori Cerebrali in Immagini MRI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88FCFEB8-8CFE-46B8-FC43-838C3165F0B9}"/>
              </a:ext>
            </a:extLst>
          </p:cNvPr>
          <p:cNvSpPr txBox="1"/>
          <p:nvPr/>
        </p:nvSpPr>
        <p:spPr>
          <a:xfrm>
            <a:off x="461010" y="1638925"/>
            <a:ext cx="4808220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it-IT" sz="2800" b="1" dirty="0">
                <a:latin typeface="Aptos" panose="020B0004020202020204" pitchFamily="34" charset="0"/>
              </a:rPr>
              <a:t>Sequenze CLAHE e</a:t>
            </a:r>
          </a:p>
          <a:p>
            <a:pPr algn="l"/>
            <a:r>
              <a:rPr lang="it-IT" sz="2800" b="1" dirty="0">
                <a:latin typeface="Aptos" panose="020B0004020202020204" pitchFamily="34" charset="0"/>
              </a:rPr>
              <a:t>Istogrammi</a:t>
            </a:r>
            <a:endParaRPr lang="it-IT" sz="2800" dirty="0">
              <a:latin typeface="Aptos" panose="020B0004020202020204" pitchFamily="34" charset="0"/>
            </a:endParaRP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Osservazione: </a:t>
            </a:r>
            <a:r>
              <a:rPr lang="it-IT" sz="2800" dirty="0">
                <a:latin typeface="Aptos" panose="020B0004020202020204" pitchFamily="34" charset="0"/>
              </a:rPr>
              <a:t>CLAHE migliora la visualizzazione ed equalizza gli istogrammi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endParaRPr lang="it-IT" sz="2800" dirty="0">
              <a:latin typeface="Aptos" panose="020B0004020202020204" pitchFamily="34" charset="0"/>
            </a:endParaRP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Risultato: </a:t>
            </a:r>
            <a:r>
              <a:rPr lang="it-IT" sz="2800" dirty="0">
                <a:latin typeface="Aptos" panose="020B0004020202020204" pitchFamily="34" charset="0"/>
              </a:rPr>
              <a:t>non viene utilizzata nella pipeline (artefatti peggiorano la segmentazione)</a:t>
            </a:r>
          </a:p>
        </p:txBody>
      </p:sp>
    </p:spTree>
    <p:extLst>
      <p:ext uri="{BB962C8B-B14F-4D97-AF65-F5344CB8AC3E}">
        <p14:creationId xmlns:p14="http://schemas.microsoft.com/office/powerpoint/2010/main" val="409917125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E88FD657-6335-AD07-9299-BA69965CE7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asellaDiTesto 8">
            <a:extLst>
              <a:ext uri="{FF2B5EF4-FFF2-40B4-BE49-F238E27FC236}">
                <a16:creationId xmlns:a16="http://schemas.microsoft.com/office/drawing/2014/main" id="{41057687-B2DB-4461-265E-C67E1B748B2A}"/>
              </a:ext>
            </a:extLst>
          </p:cNvPr>
          <p:cNvSpPr txBox="1"/>
          <p:nvPr/>
        </p:nvSpPr>
        <p:spPr>
          <a:xfrm>
            <a:off x="686183" y="1966095"/>
            <a:ext cx="5281172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it-IT" sz="2800" b="1" dirty="0">
                <a:latin typeface="Aptos" panose="020B0004020202020204" pitchFamily="34" charset="0"/>
              </a:rPr>
              <a:t>Rendering Volume 3D</a:t>
            </a:r>
            <a:endParaRPr lang="it-IT" sz="2800" dirty="0">
              <a:latin typeface="Aptos" panose="020B0004020202020204" pitchFamily="34" charset="0"/>
            </a:endParaRP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Visualizzazione interattiva e dinamica del volume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endParaRPr lang="it-IT" sz="2800" b="1" dirty="0">
              <a:latin typeface="Aptos" panose="020B0004020202020204" pitchFamily="34" charset="0"/>
            </a:endParaRP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Utile per comprendere la reale estensione e localizzazione della lesione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A6EF4235-38F6-CAA1-946D-A10B026928B8}"/>
              </a:ext>
            </a:extLst>
          </p:cNvPr>
          <p:cNvSpPr txBox="1"/>
          <p:nvPr/>
        </p:nvSpPr>
        <p:spPr>
          <a:xfrm>
            <a:off x="609600" y="381000"/>
            <a:ext cx="952857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6000" b="1" dirty="0">
                <a:latin typeface="Aptos" panose="020B0004020202020204" pitchFamily="34" charset="0"/>
              </a:rPr>
              <a:t>Analisi Esplorativa dei Dati</a:t>
            </a:r>
          </a:p>
        </p:txBody>
      </p:sp>
      <p:grpSp>
        <p:nvGrpSpPr>
          <p:cNvPr id="4" name="object 9">
            <a:extLst>
              <a:ext uri="{FF2B5EF4-FFF2-40B4-BE49-F238E27FC236}">
                <a16:creationId xmlns:a16="http://schemas.microsoft.com/office/drawing/2014/main" id="{FCEF1191-C6D3-0538-E0E8-65F89248ECFD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6" name="object 10">
              <a:extLst>
                <a:ext uri="{FF2B5EF4-FFF2-40B4-BE49-F238E27FC236}">
                  <a16:creationId xmlns:a16="http://schemas.microsoft.com/office/drawing/2014/main" id="{F77C5900-3C19-4BD3-BE74-FA44D20A5304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9D604D60-DF5E-885D-DE53-A6B739BDF605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B996F036-9D67-706B-AE67-6683398AEAC4}"/>
              </a:ext>
            </a:extLst>
          </p:cNvPr>
          <p:cNvSpPr txBox="1"/>
          <p:nvPr/>
        </p:nvSpPr>
        <p:spPr>
          <a:xfrm>
            <a:off x="11671424" y="6480829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11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976E669F-A5AF-A732-93F1-478085C0C23C}"/>
              </a:ext>
            </a:extLst>
          </p:cNvPr>
          <p:cNvSpPr txBox="1"/>
          <p:nvPr/>
        </p:nvSpPr>
        <p:spPr>
          <a:xfrm>
            <a:off x="82177" y="6465351"/>
            <a:ext cx="52811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Segmentazione di Tumori Cerebrali in Immagini MRI</a:t>
            </a:r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F180121C-BA7E-994A-2018-6501C633163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862" r="16958"/>
          <a:stretch>
            <a:fillRect/>
          </a:stretch>
        </p:blipFill>
        <p:spPr>
          <a:xfrm>
            <a:off x="6236076" y="1674205"/>
            <a:ext cx="5281172" cy="41824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611311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8346C524-7E61-2067-B7A3-38242E366A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sellaDiTesto 4">
            <a:extLst>
              <a:ext uri="{FF2B5EF4-FFF2-40B4-BE49-F238E27FC236}">
                <a16:creationId xmlns:a16="http://schemas.microsoft.com/office/drawing/2014/main" id="{F7ADFFBE-FD30-CDDD-2CE0-1558B78A6520}"/>
              </a:ext>
            </a:extLst>
          </p:cNvPr>
          <p:cNvSpPr txBox="1"/>
          <p:nvPr/>
        </p:nvSpPr>
        <p:spPr>
          <a:xfrm>
            <a:off x="609600" y="381000"/>
            <a:ext cx="550503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6000" b="1" dirty="0" err="1">
                <a:latin typeface="Aptos" panose="020B0004020202020204" pitchFamily="34" charset="0"/>
              </a:rPr>
              <a:t>Pre</a:t>
            </a:r>
            <a:r>
              <a:rPr lang="it-IT" sz="6000" b="1" dirty="0">
                <a:latin typeface="Aptos" panose="020B0004020202020204" pitchFamily="34" charset="0"/>
              </a:rPr>
              <a:t>-Processing</a:t>
            </a:r>
          </a:p>
        </p:txBody>
      </p:sp>
      <p:grpSp>
        <p:nvGrpSpPr>
          <p:cNvPr id="4" name="object 9">
            <a:extLst>
              <a:ext uri="{FF2B5EF4-FFF2-40B4-BE49-F238E27FC236}">
                <a16:creationId xmlns:a16="http://schemas.microsoft.com/office/drawing/2014/main" id="{8732636B-EB47-5A93-25F0-2FA4F0D20EEF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6" name="object 10">
              <a:extLst>
                <a:ext uri="{FF2B5EF4-FFF2-40B4-BE49-F238E27FC236}">
                  <a16:creationId xmlns:a16="http://schemas.microsoft.com/office/drawing/2014/main" id="{35E57161-403D-51B4-1E45-DFC17882CEB3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CA1178EB-792D-C196-93C6-294AB16E0C5A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6C70D172-4C17-2491-1E5E-669A4FFB46F6}"/>
              </a:ext>
            </a:extLst>
          </p:cNvPr>
          <p:cNvSpPr txBox="1"/>
          <p:nvPr/>
        </p:nvSpPr>
        <p:spPr>
          <a:xfrm>
            <a:off x="11671424" y="6480829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12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B5953D9E-717C-989A-87D9-AD7AF68693D8}"/>
              </a:ext>
            </a:extLst>
          </p:cNvPr>
          <p:cNvSpPr txBox="1"/>
          <p:nvPr/>
        </p:nvSpPr>
        <p:spPr>
          <a:xfrm>
            <a:off x="82177" y="6465351"/>
            <a:ext cx="52811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Segmentazione di Tumori Cerebrali in Immagini MRI</a:t>
            </a:r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8D9F1C21-ECDA-F713-D836-BB3BFE938C7F}"/>
              </a:ext>
            </a:extLst>
          </p:cNvPr>
          <p:cNvSpPr txBox="1"/>
          <p:nvPr/>
        </p:nvSpPr>
        <p:spPr>
          <a:xfrm>
            <a:off x="639873" y="1980733"/>
            <a:ext cx="6109333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it-IT" sz="2800" b="1" dirty="0">
                <a:latin typeface="Aptos" panose="020B0004020202020204" pitchFamily="34" charset="0"/>
              </a:rPr>
              <a:t>Selezione Slice Significativa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Criterio: </a:t>
            </a:r>
            <a:r>
              <a:rPr lang="it-IT" sz="2800" dirty="0">
                <a:latin typeface="Aptos" panose="020B0004020202020204" pitchFamily="34" charset="0"/>
              </a:rPr>
              <a:t>scelta automatica della slice con massima estensione tumorale nella ground truth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endParaRPr lang="it-IT" sz="2800" dirty="0">
              <a:latin typeface="Aptos" panose="020B0004020202020204" pitchFamily="34" charset="0"/>
            </a:endParaRP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Motivazione: </a:t>
            </a:r>
            <a:r>
              <a:rPr lang="it-IT" sz="2800" dirty="0">
                <a:latin typeface="Aptos" panose="020B0004020202020204" pitchFamily="34" charset="0"/>
              </a:rPr>
              <a:t>ridurre il problema 3D a un’analisi 2D controllabile e confrontabile</a:t>
            </a:r>
          </a:p>
        </p:txBody>
      </p:sp>
      <p:grpSp>
        <p:nvGrpSpPr>
          <p:cNvPr id="22" name="Gruppo 21">
            <a:extLst>
              <a:ext uri="{FF2B5EF4-FFF2-40B4-BE49-F238E27FC236}">
                <a16:creationId xmlns:a16="http://schemas.microsoft.com/office/drawing/2014/main" id="{E09F7895-64AE-21F2-95FE-2888620566C6}"/>
              </a:ext>
            </a:extLst>
          </p:cNvPr>
          <p:cNvGrpSpPr/>
          <p:nvPr/>
        </p:nvGrpSpPr>
        <p:grpSpPr>
          <a:xfrm>
            <a:off x="6167766" y="1337837"/>
            <a:ext cx="6109334" cy="4870174"/>
            <a:chOff x="6167766" y="1337837"/>
            <a:chExt cx="6109334" cy="4870174"/>
          </a:xfrm>
        </p:grpSpPr>
        <p:pic>
          <p:nvPicPr>
            <p:cNvPr id="19" name="Immagine 18">
              <a:extLst>
                <a:ext uri="{FF2B5EF4-FFF2-40B4-BE49-F238E27FC236}">
                  <a16:creationId xmlns:a16="http://schemas.microsoft.com/office/drawing/2014/main" id="{07110EF9-8A37-C713-EE6A-8695781E85A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773" t="7431" r="65449" b="55008"/>
            <a:stretch>
              <a:fillRect/>
            </a:stretch>
          </p:blipFill>
          <p:spPr>
            <a:xfrm>
              <a:off x="7379763" y="1337837"/>
              <a:ext cx="3682671" cy="3824540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CasellaDiTesto 15">
                  <a:extLst>
                    <a:ext uri="{FF2B5EF4-FFF2-40B4-BE49-F238E27FC236}">
                      <a16:creationId xmlns:a16="http://schemas.microsoft.com/office/drawing/2014/main" id="{CCBCA9E0-E379-FE3B-21F1-77A94D7BEB01}"/>
                    </a:ext>
                  </a:extLst>
                </p:cNvPr>
                <p:cNvSpPr txBox="1"/>
                <p:nvPr/>
              </p:nvSpPr>
              <p:spPr>
                <a:xfrm>
                  <a:off x="6167766" y="5048013"/>
                  <a:ext cx="6109334" cy="1159998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it-IT" b="0" i="0" smtClean="0">
                            <a:latin typeface="Cambria Math" panose="02040503050406030204" pitchFamily="18" charset="0"/>
                          </a:rPr>
                          <m:t>s</m:t>
                        </m:r>
                        <m:d>
                          <m:dPr>
                            <m:ctrlPr>
                              <a:rPr lang="it-IT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it-IT" b="0" i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</m:d>
                        <m:r>
                          <a:rPr lang="it-IT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nary>
                          <m:naryPr>
                            <m:chr m:val="∑"/>
                            <m:supHide m:val="on"/>
                            <m:ctrlPr>
                              <a:rPr lang="it-IT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sty m:val="p"/>
                              </m:rPr>
                              <a:rPr lang="it-IT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sub>
                          <m:sup/>
                          <m:e>
                            <m:nary>
                              <m:naryPr>
                                <m:chr m:val="∑"/>
                                <m:supHide m:val="on"/>
                                <m:ctrlPr>
                                  <a:rPr lang="it-IT" i="1" smtClean="0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m:rPr>
                                    <m:sty m:val="p"/>
                                  </m:rPr>
                                  <a:rPr lang="it-IT" b="0" i="0" smtClean="0">
                                    <a:latin typeface="Cambria Math" panose="02040503050406030204" pitchFamily="18" charset="0"/>
                                  </a:rPr>
                                  <m:t>y</m:t>
                                </m:r>
                              </m:sub>
                              <m:sup/>
                              <m:e>
                                <m:r>
                                  <a:rPr lang="it-IT" b="0" i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nary>
                          </m:e>
                        </m:nary>
                        <m:d>
                          <m:dPr>
                            <m:ctrlPr>
                              <a:rPr lang="it-IT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it-IT" b="0" i="0" smtClean="0">
                                <a:latin typeface="Cambria Math" panose="02040503050406030204" pitchFamily="18" charset="0"/>
                              </a:rPr>
                              <m:t>G</m:t>
                            </m:r>
                            <m:d>
                              <m:dPr>
                                <m:ctrlPr>
                                  <a:rPr lang="it-IT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m:rPr>
                                    <m:sty m:val="p"/>
                                  </m:rPr>
                                  <a:rPr lang="it-IT" b="0" i="0" smtClean="0"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  <m:r>
                                  <a:rPr lang="it-IT" b="0" i="0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m:rPr>
                                    <m:sty m:val="p"/>
                                  </m:rPr>
                                  <a:rPr lang="it-IT" b="0" i="0" smtClean="0">
                                    <a:latin typeface="Cambria Math" panose="02040503050406030204" pitchFamily="18" charset="0"/>
                                  </a:rPr>
                                  <m:t>y</m:t>
                                </m:r>
                                <m:r>
                                  <a:rPr lang="it-IT" b="0" i="0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m:rPr>
                                    <m:sty m:val="p"/>
                                  </m:rPr>
                                  <a:rPr lang="it-IT" b="0" i="0" smtClean="0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</m:e>
                            </m:d>
                            <m:r>
                              <a:rPr lang="it-IT" b="0" i="0" smtClean="0">
                                <a:latin typeface="Cambria Math" panose="02040503050406030204" pitchFamily="18" charset="0"/>
                              </a:rPr>
                              <m:t>&gt;0</m:t>
                            </m:r>
                          </m:e>
                        </m:d>
                      </m:oMath>
                    </m:oMathPara>
                  </a14:m>
                  <a:endParaRPr lang="it-IT" dirty="0"/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it-IT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b="0" i="0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it-IT" b="0" i="0" smtClean="0">
                                <a:latin typeface="Cambria Math" panose="02040503050406030204" pitchFamily="18" charset="0"/>
                              </a:rPr>
                              <m:t>best</m:t>
                            </m:r>
                          </m:sub>
                        </m:sSub>
                        <m:r>
                          <a:rPr lang="it-IT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func>
                          <m:funcPr>
                            <m:ctrlPr>
                              <a:rPr lang="it-IT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it-IT" b="0" i="0" smtClean="0">
                                <a:latin typeface="Cambria Math" panose="02040503050406030204" pitchFamily="18" charset="0"/>
                              </a:rPr>
                              <m:t>arg</m:t>
                            </m:r>
                          </m:fName>
                          <m:e>
                            <m:func>
                              <m:funcPr>
                                <m:ctrlPr>
                                  <a:rPr lang="it-IT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limLow>
                                  <m:limLowPr>
                                    <m:ctrlPr>
                                      <a:rPr lang="it-IT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limLow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it-IT" b="0" i="0" smtClean="0">
                                        <a:latin typeface="Cambria Math" panose="02040503050406030204" pitchFamily="18" charset="0"/>
                                      </a:rPr>
                                      <m:t>max</m:t>
                                    </m:r>
                                  </m:e>
                                  <m:lim>
                                    <m:r>
                                      <a:rPr lang="it-IT" b="0" i="0" smtClean="0"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lim>
                                </m:limLow>
                              </m:fName>
                              <m:e>
                                <m:r>
                                  <a:rPr lang="it-IT" b="0" i="0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d>
                                  <m:dPr>
                                    <m:ctrlPr>
                                      <a:rPr lang="it-IT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it-IT" b="0" i="0" smtClean="0"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e>
                                </m:d>
                              </m:e>
                            </m:func>
                          </m:e>
                        </m:func>
                      </m:oMath>
                    </m:oMathPara>
                  </a14:m>
                  <a:endParaRPr lang="it-IT" b="0" dirty="0"/>
                </a:p>
              </p:txBody>
            </p:sp>
          </mc:Choice>
          <mc:Fallback xmlns="">
            <p:sp>
              <p:nvSpPr>
                <p:cNvPr id="16" name="CasellaDiTesto 15">
                  <a:extLst>
                    <a:ext uri="{FF2B5EF4-FFF2-40B4-BE49-F238E27FC236}">
                      <a16:creationId xmlns:a16="http://schemas.microsoft.com/office/drawing/2014/main" id="{CCBCA9E0-E379-FE3B-21F1-77A94D7BEB0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67766" y="5048013"/>
                  <a:ext cx="6109334" cy="1159998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it-IT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0" name="CasellaDiTesto 19">
            <a:extLst>
              <a:ext uri="{FF2B5EF4-FFF2-40B4-BE49-F238E27FC236}">
                <a16:creationId xmlns:a16="http://schemas.microsoft.com/office/drawing/2014/main" id="{E6E32B78-4E24-2F32-47C6-AD0ACD0D2CD0}"/>
              </a:ext>
            </a:extLst>
          </p:cNvPr>
          <p:cNvSpPr txBox="1"/>
          <p:nvPr/>
        </p:nvSpPr>
        <p:spPr>
          <a:xfrm>
            <a:off x="639873" y="1115967"/>
            <a:ext cx="610933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it-IT" sz="2800" b="1" dirty="0">
                <a:latin typeface="Aptos" panose="020B0004020202020204" pitchFamily="34" charset="0"/>
              </a:rPr>
              <a:t>Es. FLAIR</a:t>
            </a:r>
            <a:endParaRPr lang="it-IT" sz="2800" dirty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1849546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3130308C-D749-6495-2863-348B0DF0AD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uppo 14">
            <a:extLst>
              <a:ext uri="{FF2B5EF4-FFF2-40B4-BE49-F238E27FC236}">
                <a16:creationId xmlns:a16="http://schemas.microsoft.com/office/drawing/2014/main" id="{45A1FA5F-6224-CCAB-B689-A1A7C5D28748}"/>
              </a:ext>
            </a:extLst>
          </p:cNvPr>
          <p:cNvGrpSpPr/>
          <p:nvPr/>
        </p:nvGrpSpPr>
        <p:grpSpPr>
          <a:xfrm>
            <a:off x="6122683" y="888831"/>
            <a:ext cx="6109334" cy="5486401"/>
            <a:chOff x="6122683" y="888831"/>
            <a:chExt cx="6109334" cy="5486401"/>
          </a:xfrm>
        </p:grpSpPr>
        <p:pic>
          <p:nvPicPr>
            <p:cNvPr id="10" name="Immagine 9">
              <a:extLst>
                <a:ext uri="{FF2B5EF4-FFF2-40B4-BE49-F238E27FC236}">
                  <a16:creationId xmlns:a16="http://schemas.microsoft.com/office/drawing/2014/main" id="{EC4655CC-745E-B222-1EC6-D297061C87F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411" t="7340" r="36747" b="3631"/>
            <a:stretch>
              <a:fillRect/>
            </a:stretch>
          </p:blipFill>
          <p:spPr>
            <a:xfrm>
              <a:off x="6172188" y="888831"/>
              <a:ext cx="5715000" cy="5486401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CasellaDiTesto 20">
                  <a:extLst>
                    <a:ext uri="{FF2B5EF4-FFF2-40B4-BE49-F238E27FC236}">
                      <a16:creationId xmlns:a16="http://schemas.microsoft.com/office/drawing/2014/main" id="{C8229FAF-F36B-88E8-6C76-B861FDD8FDB2}"/>
                    </a:ext>
                  </a:extLst>
                </p:cNvPr>
                <p:cNvSpPr txBox="1"/>
                <p:nvPr/>
              </p:nvSpPr>
              <p:spPr>
                <a:xfrm>
                  <a:off x="6122683" y="3180940"/>
                  <a:ext cx="6109334" cy="67518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it-IT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b="0" i="0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it-IT" b="0" i="0" smtClean="0">
                                <a:latin typeface="Cambria Math" panose="02040503050406030204" pitchFamily="18" charset="0"/>
                              </a:rPr>
                              <m:t>norm</m:t>
                            </m:r>
                          </m:sub>
                        </m:sSub>
                        <m:d>
                          <m:dPr>
                            <m:ctrlPr>
                              <a:rPr lang="it-IT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it-IT" b="0" i="0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it-IT" b="0" i="0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it-IT" b="0" i="0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d>
                        <m:r>
                          <a:rPr lang="it-IT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it-IT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it-IT" b="0" i="0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  <m:d>
                              <m:dPr>
                                <m:ctrlPr>
                                  <a:rPr lang="it-IT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it-IT" b="0" i="0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it-IT" b="0" i="0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it-IT" b="0" i="0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d>
                            <m:r>
                              <a:rPr lang="it-IT" b="0" i="0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it-IT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b="0" i="0" smtClean="0">
                                    <a:latin typeface="Cambria Math" panose="02040503050406030204" pitchFamily="18" charset="0"/>
                                  </a:rPr>
                                  <m:t>𝜇</m:t>
                                </m:r>
                              </m:e>
                              <m:sub>
                                <m:r>
                                  <a:rPr lang="it-IT" b="0" i="0" smtClean="0">
                                    <a:latin typeface="Cambria Math" panose="02040503050406030204" pitchFamily="18" charset="0"/>
                                  </a:rPr>
                                  <m:t>𝐼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it-IT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b="0" i="0" smtClean="0"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b>
                                <m:r>
                                  <a:rPr lang="it-IT" b="0" i="0" smtClean="0">
                                    <a:latin typeface="Cambria Math" panose="02040503050406030204" pitchFamily="18" charset="0"/>
                                  </a:rPr>
                                  <m:t>𝐼</m:t>
                                </m:r>
                              </m:sub>
                            </m:sSub>
                          </m:den>
                        </m:f>
                      </m:oMath>
                    </m:oMathPara>
                  </a14:m>
                  <a:endParaRPr lang="it-IT" b="0" dirty="0"/>
                </a:p>
              </p:txBody>
            </p:sp>
          </mc:Choice>
          <mc:Fallback xmlns="">
            <p:sp>
              <p:nvSpPr>
                <p:cNvPr id="21" name="CasellaDiTesto 20">
                  <a:extLst>
                    <a:ext uri="{FF2B5EF4-FFF2-40B4-BE49-F238E27FC236}">
                      <a16:creationId xmlns:a16="http://schemas.microsoft.com/office/drawing/2014/main" id="{C8229FAF-F36B-88E8-6C76-B861FDD8FDB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22683" y="3180940"/>
                  <a:ext cx="6109334" cy="675185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it-IT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65B018D0-F83E-CA83-6D06-78F9B5B3319C}"/>
              </a:ext>
            </a:extLst>
          </p:cNvPr>
          <p:cNvSpPr txBox="1"/>
          <p:nvPr/>
        </p:nvSpPr>
        <p:spPr>
          <a:xfrm>
            <a:off x="609600" y="381000"/>
            <a:ext cx="550503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6000" b="1" dirty="0" err="1">
                <a:latin typeface="Aptos" panose="020B0004020202020204" pitchFamily="34" charset="0"/>
              </a:rPr>
              <a:t>Pre</a:t>
            </a:r>
            <a:r>
              <a:rPr lang="it-IT" sz="6000" b="1" dirty="0">
                <a:latin typeface="Aptos" panose="020B0004020202020204" pitchFamily="34" charset="0"/>
              </a:rPr>
              <a:t>-Processing</a:t>
            </a:r>
          </a:p>
        </p:txBody>
      </p:sp>
      <p:grpSp>
        <p:nvGrpSpPr>
          <p:cNvPr id="4" name="object 9">
            <a:extLst>
              <a:ext uri="{FF2B5EF4-FFF2-40B4-BE49-F238E27FC236}">
                <a16:creationId xmlns:a16="http://schemas.microsoft.com/office/drawing/2014/main" id="{F7A3A08E-2854-021F-E0CD-9B879DA6989F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6" name="object 10">
              <a:extLst>
                <a:ext uri="{FF2B5EF4-FFF2-40B4-BE49-F238E27FC236}">
                  <a16:creationId xmlns:a16="http://schemas.microsoft.com/office/drawing/2014/main" id="{FCC2C7E0-CEC9-E0D0-210D-F3132B4CDCAC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9D464FB0-DDD4-8AB1-A9EB-F7EAC76FA278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1D1E9716-A18C-91AC-45CC-D9C8985466C9}"/>
              </a:ext>
            </a:extLst>
          </p:cNvPr>
          <p:cNvSpPr txBox="1"/>
          <p:nvPr/>
        </p:nvSpPr>
        <p:spPr>
          <a:xfrm>
            <a:off x="11671424" y="6480829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13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1BE6A1EF-1287-7A52-5BAD-978DDC4AC65D}"/>
              </a:ext>
            </a:extLst>
          </p:cNvPr>
          <p:cNvSpPr txBox="1"/>
          <p:nvPr/>
        </p:nvSpPr>
        <p:spPr>
          <a:xfrm>
            <a:off x="82177" y="6465351"/>
            <a:ext cx="52811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Segmentazione di Tumori Cerebrali in Immagini MRI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14CC5E38-7385-0DF6-3772-CBF6414674E0}"/>
              </a:ext>
            </a:extLst>
          </p:cNvPr>
          <p:cNvSpPr txBox="1"/>
          <p:nvPr/>
        </p:nvSpPr>
        <p:spPr>
          <a:xfrm>
            <a:off x="552450" y="1974647"/>
            <a:ext cx="5916930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it-IT" sz="2800" b="1" dirty="0">
                <a:latin typeface="Aptos" panose="020B0004020202020204" pitchFamily="34" charset="0"/>
              </a:rPr>
              <a:t>Normalizzazione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Obiettivo: </a:t>
            </a:r>
            <a:r>
              <a:rPr lang="it-IT" sz="2800" dirty="0">
                <a:latin typeface="Aptos" panose="020B0004020202020204" pitchFamily="34" charset="0"/>
              </a:rPr>
              <a:t>rendere confrontabili le intensità tra pazienti e sequenze, facilitando la segmentazione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endParaRPr lang="it-IT" sz="2800" dirty="0">
              <a:latin typeface="Aptos" panose="020B0004020202020204" pitchFamily="34" charset="0"/>
            </a:endParaRPr>
          </a:p>
          <a:p>
            <a:pPr marL="514350" indent="-514350" algn="l">
              <a:buFont typeface="+mj-lt"/>
              <a:buAutoNum type="arabicPeriod"/>
            </a:pPr>
            <a:r>
              <a:rPr lang="it-IT" sz="2800" dirty="0">
                <a:latin typeface="Aptos" panose="020B0004020202020204" pitchFamily="34" charset="0"/>
              </a:rPr>
              <a:t>Z-score all’interno della ROI cerebrale</a:t>
            </a:r>
          </a:p>
          <a:p>
            <a:pPr marL="514350" indent="-514350" algn="l">
              <a:buFont typeface="+mj-lt"/>
              <a:buAutoNum type="arabicPeriod"/>
            </a:pPr>
            <a:r>
              <a:rPr lang="it-IT" sz="2800" dirty="0">
                <a:latin typeface="Aptos" panose="020B0004020202020204" pitchFamily="34" charset="0"/>
              </a:rPr>
              <a:t>Azzeramento del background</a:t>
            </a:r>
          </a:p>
          <a:p>
            <a:pPr marL="514350" indent="-514350" algn="l">
              <a:buFont typeface="+mj-lt"/>
              <a:buAutoNum type="arabicPeriod"/>
            </a:pPr>
            <a:r>
              <a:rPr lang="it-IT" sz="2800" dirty="0" err="1">
                <a:latin typeface="Aptos" panose="020B0004020202020204" pitchFamily="34" charset="0"/>
              </a:rPr>
              <a:t>Remapping</a:t>
            </a:r>
            <a:r>
              <a:rPr lang="it-IT" sz="2800" dirty="0">
                <a:latin typeface="Aptos" panose="020B0004020202020204" pitchFamily="34" charset="0"/>
              </a:rPr>
              <a:t> finale in [0,1]</a:t>
            </a:r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447EBC11-9E88-5B6F-EA5D-E7EE187E363C}"/>
              </a:ext>
            </a:extLst>
          </p:cNvPr>
          <p:cNvSpPr txBox="1"/>
          <p:nvPr/>
        </p:nvSpPr>
        <p:spPr>
          <a:xfrm>
            <a:off x="639873" y="1115967"/>
            <a:ext cx="610933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it-IT" sz="2800" b="1" dirty="0">
                <a:latin typeface="Aptos" panose="020B0004020202020204" pitchFamily="34" charset="0"/>
              </a:rPr>
              <a:t>Es. FLAIR</a:t>
            </a:r>
            <a:endParaRPr lang="it-IT" sz="2800" dirty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8769468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07E0E202-85AC-1AC7-0217-ADD45F11F6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sellaDiTesto 4">
            <a:extLst>
              <a:ext uri="{FF2B5EF4-FFF2-40B4-BE49-F238E27FC236}">
                <a16:creationId xmlns:a16="http://schemas.microsoft.com/office/drawing/2014/main" id="{C431533D-7F47-64FA-D175-4ABA5491DBD8}"/>
              </a:ext>
            </a:extLst>
          </p:cNvPr>
          <p:cNvSpPr txBox="1"/>
          <p:nvPr/>
        </p:nvSpPr>
        <p:spPr>
          <a:xfrm>
            <a:off x="609600" y="381000"/>
            <a:ext cx="550503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6000" b="1" dirty="0" err="1">
                <a:latin typeface="Aptos" panose="020B0004020202020204" pitchFamily="34" charset="0"/>
              </a:rPr>
              <a:t>Pre</a:t>
            </a:r>
            <a:r>
              <a:rPr lang="it-IT" sz="6000" b="1" dirty="0">
                <a:latin typeface="Aptos" panose="020B0004020202020204" pitchFamily="34" charset="0"/>
              </a:rPr>
              <a:t>-Processing</a:t>
            </a:r>
          </a:p>
        </p:txBody>
      </p:sp>
      <p:grpSp>
        <p:nvGrpSpPr>
          <p:cNvPr id="4" name="object 9">
            <a:extLst>
              <a:ext uri="{FF2B5EF4-FFF2-40B4-BE49-F238E27FC236}">
                <a16:creationId xmlns:a16="http://schemas.microsoft.com/office/drawing/2014/main" id="{520FE6E6-0683-91B4-EC05-44C97965C1D7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6" name="object 10">
              <a:extLst>
                <a:ext uri="{FF2B5EF4-FFF2-40B4-BE49-F238E27FC236}">
                  <a16:creationId xmlns:a16="http://schemas.microsoft.com/office/drawing/2014/main" id="{A9003E5E-83C1-A89C-C864-AD89C965ECA7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6F5DF6DE-DC27-C369-531F-E602755A5F83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C463AC43-A696-102C-37C7-6017A571871A}"/>
              </a:ext>
            </a:extLst>
          </p:cNvPr>
          <p:cNvSpPr txBox="1"/>
          <p:nvPr/>
        </p:nvSpPr>
        <p:spPr>
          <a:xfrm>
            <a:off x="11671424" y="6480829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14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33424C19-ECB8-39A3-D6E0-5DC5B3B0F179}"/>
              </a:ext>
            </a:extLst>
          </p:cNvPr>
          <p:cNvSpPr txBox="1"/>
          <p:nvPr/>
        </p:nvSpPr>
        <p:spPr>
          <a:xfrm>
            <a:off x="82177" y="6465351"/>
            <a:ext cx="52811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Segmentazione di Tumori Cerebrali in Immagini MRI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2FC5DB6B-DD9D-3F41-4069-3B890D8227DF}"/>
              </a:ext>
            </a:extLst>
          </p:cNvPr>
          <p:cNvSpPr txBox="1"/>
          <p:nvPr/>
        </p:nvSpPr>
        <p:spPr>
          <a:xfrm>
            <a:off x="639873" y="1115967"/>
            <a:ext cx="610933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it-IT" sz="2800" b="1" dirty="0">
                <a:latin typeface="Aptos" panose="020B0004020202020204" pitchFamily="34" charset="0"/>
              </a:rPr>
              <a:t>Es. FLAIR</a:t>
            </a:r>
            <a:endParaRPr lang="it-IT" sz="2800" dirty="0">
              <a:latin typeface="Aptos" panose="020B0004020202020204" pitchFamily="34" charset="0"/>
            </a:endParaRPr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1DE898A1-7D0F-09B6-F5B4-3F5766FD0867}"/>
              </a:ext>
            </a:extLst>
          </p:cNvPr>
          <p:cNvSpPr txBox="1"/>
          <p:nvPr/>
        </p:nvSpPr>
        <p:spPr>
          <a:xfrm>
            <a:off x="609600" y="1974647"/>
            <a:ext cx="5654040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it-IT" sz="2800" b="1" dirty="0">
                <a:latin typeface="Aptos" panose="020B0004020202020204" pitchFamily="34" charset="0"/>
              </a:rPr>
              <a:t>Filtro Mediano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Obiettivo: </a:t>
            </a:r>
            <a:r>
              <a:rPr lang="it-IT" sz="2800" dirty="0">
                <a:latin typeface="Aptos" panose="020B0004020202020204" pitchFamily="34" charset="0"/>
              </a:rPr>
              <a:t>ridurre il rumore preservando i contorni principali della lesione.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endParaRPr lang="it-IT" sz="2800" dirty="0">
              <a:latin typeface="Aptos" panose="020B0004020202020204" pitchFamily="34" charset="0"/>
            </a:endParaRPr>
          </a:p>
          <a:p>
            <a:pPr marL="514350" indent="-514350" algn="l">
              <a:buFont typeface="+mj-lt"/>
              <a:buAutoNum type="arabicPeriod"/>
            </a:pPr>
            <a:r>
              <a:rPr lang="it-IT" sz="2800" dirty="0">
                <a:latin typeface="Aptos" panose="020B0004020202020204" pitchFamily="34" charset="0"/>
              </a:rPr>
              <a:t>Kernel 3 x 3</a:t>
            </a:r>
          </a:p>
          <a:p>
            <a:pPr marL="514350" indent="-514350" algn="l">
              <a:buFont typeface="+mj-lt"/>
              <a:buAutoNum type="arabicPeriod"/>
            </a:pPr>
            <a:r>
              <a:rPr lang="it-IT" sz="2800" dirty="0">
                <a:latin typeface="Aptos" panose="020B0004020202020204" pitchFamily="34" charset="0"/>
              </a:rPr>
              <a:t>Riduce il rumore impulsivo</a:t>
            </a:r>
          </a:p>
          <a:p>
            <a:pPr marL="514350" indent="-514350" algn="l">
              <a:buFont typeface="+mj-lt"/>
              <a:buAutoNum type="arabicPeriod"/>
            </a:pPr>
            <a:r>
              <a:rPr lang="it-IT" sz="2800" dirty="0">
                <a:latin typeface="Aptos" panose="020B0004020202020204" pitchFamily="34" charset="0"/>
              </a:rPr>
              <a:t>Non sfuma eccessivamente i bordi</a:t>
            </a:r>
          </a:p>
        </p:txBody>
      </p:sp>
      <p:grpSp>
        <p:nvGrpSpPr>
          <p:cNvPr id="16" name="Gruppo 15">
            <a:extLst>
              <a:ext uri="{FF2B5EF4-FFF2-40B4-BE49-F238E27FC236}">
                <a16:creationId xmlns:a16="http://schemas.microsoft.com/office/drawing/2014/main" id="{9DB17546-5121-5DD7-277C-ACCD16BA3FBF}"/>
              </a:ext>
            </a:extLst>
          </p:cNvPr>
          <p:cNvGrpSpPr/>
          <p:nvPr/>
        </p:nvGrpSpPr>
        <p:grpSpPr>
          <a:xfrm>
            <a:off x="6172188" y="888830"/>
            <a:ext cx="6162699" cy="5486402"/>
            <a:chOff x="6172188" y="888830"/>
            <a:chExt cx="6162699" cy="5486402"/>
          </a:xfrm>
        </p:grpSpPr>
        <p:pic>
          <p:nvPicPr>
            <p:cNvPr id="7" name="Immagine 6">
              <a:extLst>
                <a:ext uri="{FF2B5EF4-FFF2-40B4-BE49-F238E27FC236}">
                  <a16:creationId xmlns:a16="http://schemas.microsoft.com/office/drawing/2014/main" id="{36112EE3-83F7-2D20-33DB-FB160C975EC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411" t="7340" r="64333" b="3631"/>
            <a:stretch>
              <a:fillRect/>
            </a:stretch>
          </p:blipFill>
          <p:spPr>
            <a:xfrm>
              <a:off x="6172188" y="888831"/>
              <a:ext cx="2891802" cy="5486401"/>
            </a:xfrm>
            <a:prstGeom prst="rect">
              <a:avLst/>
            </a:prstGeom>
          </p:spPr>
        </p:pic>
        <p:pic>
          <p:nvPicPr>
            <p:cNvPr id="8" name="Immagine 7">
              <a:extLst>
                <a:ext uri="{FF2B5EF4-FFF2-40B4-BE49-F238E27FC236}">
                  <a16:creationId xmlns:a16="http://schemas.microsoft.com/office/drawing/2014/main" id="{A18A07BC-1FE0-C089-AB4F-404AE4ED682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3940" t="7340" r="7969" b="3631"/>
            <a:stretch>
              <a:fillRect/>
            </a:stretch>
          </p:blipFill>
          <p:spPr>
            <a:xfrm>
              <a:off x="9086850" y="888830"/>
              <a:ext cx="2874907" cy="5486401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CasellaDiTesto 11">
                  <a:extLst>
                    <a:ext uri="{FF2B5EF4-FFF2-40B4-BE49-F238E27FC236}">
                      <a16:creationId xmlns:a16="http://schemas.microsoft.com/office/drawing/2014/main" id="{50F404D8-E484-85EC-80A8-968DF814A4E3}"/>
                    </a:ext>
                  </a:extLst>
                </p:cNvPr>
                <p:cNvSpPr txBox="1"/>
                <p:nvPr/>
              </p:nvSpPr>
              <p:spPr>
                <a:xfrm>
                  <a:off x="6225553" y="3297919"/>
                  <a:ext cx="6109334" cy="39126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med</m:t>
                            </m:r>
                          </m:sub>
                        </m:sSub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d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median</m:t>
                            </m:r>
                          </m:fName>
                          <m:e>
                            <m:r>
                              <m:rPr>
                                <m:lit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{</m:t>
                            </m:r>
                          </m:e>
                        </m:func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 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𝐼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∣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∈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 </m:t>
                        </m:r>
                        <m:r>
                          <m:rPr>
                            <m:lit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}</m:t>
                        </m:r>
                      </m:oMath>
                    </m:oMathPara>
                  </a14:m>
                  <a:endParaRPr lang="it-IT" b="0" dirty="0"/>
                </a:p>
              </p:txBody>
            </p:sp>
          </mc:Choice>
          <mc:Fallback xmlns="">
            <p:sp>
              <p:nvSpPr>
                <p:cNvPr id="12" name="CasellaDiTesto 11">
                  <a:extLst>
                    <a:ext uri="{FF2B5EF4-FFF2-40B4-BE49-F238E27FC236}">
                      <a16:creationId xmlns:a16="http://schemas.microsoft.com/office/drawing/2014/main" id="{50F404D8-E484-85EC-80A8-968DF814A4E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25553" y="3297919"/>
                  <a:ext cx="6109334" cy="391261"/>
                </a:xfrm>
                <a:prstGeom prst="rect">
                  <a:avLst/>
                </a:prstGeom>
                <a:blipFill>
                  <a:blip r:embed="rId4"/>
                  <a:stretch>
                    <a:fillRect b="-10938"/>
                  </a:stretch>
                </a:blipFill>
              </p:spPr>
              <p:txBody>
                <a:bodyPr/>
                <a:lstStyle/>
                <a:p>
                  <a:r>
                    <a:rPr lang="it-IT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40618081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52F191E4-EC93-2C16-8968-103AC24881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sellaDiTesto 4">
            <a:extLst>
              <a:ext uri="{FF2B5EF4-FFF2-40B4-BE49-F238E27FC236}">
                <a16:creationId xmlns:a16="http://schemas.microsoft.com/office/drawing/2014/main" id="{E1DA2986-4E00-FBC2-AB21-B97ADDE1BE2B}"/>
              </a:ext>
            </a:extLst>
          </p:cNvPr>
          <p:cNvSpPr txBox="1"/>
          <p:nvPr/>
        </p:nvSpPr>
        <p:spPr>
          <a:xfrm>
            <a:off x="609600" y="381000"/>
            <a:ext cx="550503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6000" b="1" dirty="0" err="1">
                <a:latin typeface="Aptos" panose="020B0004020202020204" pitchFamily="34" charset="0"/>
              </a:rPr>
              <a:t>Pre</a:t>
            </a:r>
            <a:r>
              <a:rPr lang="it-IT" sz="6000" b="1" dirty="0">
                <a:latin typeface="Aptos" panose="020B0004020202020204" pitchFamily="34" charset="0"/>
              </a:rPr>
              <a:t>-Processing</a:t>
            </a:r>
          </a:p>
        </p:txBody>
      </p:sp>
      <p:grpSp>
        <p:nvGrpSpPr>
          <p:cNvPr id="4" name="object 9">
            <a:extLst>
              <a:ext uri="{FF2B5EF4-FFF2-40B4-BE49-F238E27FC236}">
                <a16:creationId xmlns:a16="http://schemas.microsoft.com/office/drawing/2014/main" id="{402FEC26-79CE-622C-385F-DAE03A60F62C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6" name="object 10">
              <a:extLst>
                <a:ext uri="{FF2B5EF4-FFF2-40B4-BE49-F238E27FC236}">
                  <a16:creationId xmlns:a16="http://schemas.microsoft.com/office/drawing/2014/main" id="{03FE72D8-BBAB-38A1-18E5-64707F16FDC2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4B8D1686-CC36-FBCE-C50F-8C585B78A055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9EF54D05-1427-EF9E-EF19-E266F2DF19CE}"/>
              </a:ext>
            </a:extLst>
          </p:cNvPr>
          <p:cNvSpPr txBox="1"/>
          <p:nvPr/>
        </p:nvSpPr>
        <p:spPr>
          <a:xfrm>
            <a:off x="11671424" y="6480829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15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218B251D-761A-9D07-0BCC-C118F5CF54D5}"/>
              </a:ext>
            </a:extLst>
          </p:cNvPr>
          <p:cNvSpPr txBox="1"/>
          <p:nvPr/>
        </p:nvSpPr>
        <p:spPr>
          <a:xfrm>
            <a:off x="82177" y="6465351"/>
            <a:ext cx="52811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Segmentazione di Tumori Cerebrali in Immagini MRI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A24D5CF3-B0D2-4612-84F0-63ECFF2986C9}"/>
              </a:ext>
            </a:extLst>
          </p:cNvPr>
          <p:cNvSpPr txBox="1"/>
          <p:nvPr/>
        </p:nvSpPr>
        <p:spPr>
          <a:xfrm>
            <a:off x="523874" y="1621106"/>
            <a:ext cx="6181726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it-IT" sz="2800" b="1" dirty="0">
                <a:latin typeface="Aptos" panose="020B0004020202020204" pitchFamily="34" charset="0"/>
              </a:rPr>
              <a:t>Fusione Multimodale</a:t>
            </a:r>
          </a:p>
          <a:p>
            <a:pPr algn="l"/>
            <a:r>
              <a:rPr lang="it-IT" sz="2800" b="1" dirty="0">
                <a:latin typeface="Aptos" panose="020B0004020202020204" pitchFamily="34" charset="0"/>
              </a:rPr>
              <a:t>(Fusion2 e Fusion3)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Obiettivo: </a:t>
            </a:r>
            <a:r>
              <a:rPr lang="it-IT" sz="2800" dirty="0">
                <a:latin typeface="Aptos" panose="020B0004020202020204" pitchFamily="34" charset="0"/>
              </a:rPr>
              <a:t>integrare informazioni complementari per migliorare la segmentazione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endParaRPr lang="it-IT" sz="2800" dirty="0">
              <a:latin typeface="Aptos" panose="020B0004020202020204" pitchFamily="34" charset="0"/>
            </a:endParaRPr>
          </a:p>
          <a:p>
            <a:pPr marL="514350" indent="-514350" algn="l">
              <a:buFont typeface="+mj-lt"/>
              <a:buAutoNum type="arabicPeriod"/>
            </a:pPr>
            <a:r>
              <a:rPr lang="it-IT" sz="2800" dirty="0">
                <a:latin typeface="Aptos" panose="020B0004020202020204" pitchFamily="34" charset="0"/>
              </a:rPr>
              <a:t>FLAIR per l’estensione della lesione</a:t>
            </a:r>
          </a:p>
          <a:p>
            <a:pPr marL="514350" indent="-514350" algn="l">
              <a:buFont typeface="+mj-lt"/>
              <a:buAutoNum type="arabicPeriod"/>
            </a:pPr>
            <a:r>
              <a:rPr lang="it-IT" sz="2800" dirty="0">
                <a:latin typeface="Aptos" panose="020B0004020202020204" pitchFamily="34" charset="0"/>
              </a:rPr>
              <a:t>T1c per la componente attiva</a:t>
            </a:r>
          </a:p>
          <a:p>
            <a:pPr marL="514350" indent="-514350" algn="l">
              <a:buFont typeface="+mj-lt"/>
              <a:buAutoNum type="arabicPeriod"/>
            </a:pPr>
            <a:r>
              <a:rPr lang="it-IT" sz="2800" dirty="0">
                <a:latin typeface="Aptos" panose="020B0004020202020204" pitchFamily="34" charset="0"/>
              </a:rPr>
              <a:t>T2 per la localizzazione della regione tumorale</a:t>
            </a:r>
          </a:p>
        </p:txBody>
      </p:sp>
      <p:grpSp>
        <p:nvGrpSpPr>
          <p:cNvPr id="19" name="Gruppo 18">
            <a:extLst>
              <a:ext uri="{FF2B5EF4-FFF2-40B4-BE49-F238E27FC236}">
                <a16:creationId xmlns:a16="http://schemas.microsoft.com/office/drawing/2014/main" id="{E5CE5118-61F3-5CB0-CE7D-10C69978CECB}"/>
              </a:ext>
            </a:extLst>
          </p:cNvPr>
          <p:cNvGrpSpPr/>
          <p:nvPr/>
        </p:nvGrpSpPr>
        <p:grpSpPr>
          <a:xfrm>
            <a:off x="6519875" y="828666"/>
            <a:ext cx="6109334" cy="5486418"/>
            <a:chOff x="6577025" y="609591"/>
            <a:chExt cx="6109334" cy="5486418"/>
          </a:xfrm>
        </p:grpSpPr>
        <p:grpSp>
          <p:nvGrpSpPr>
            <p:cNvPr id="18" name="Gruppo 17">
              <a:extLst>
                <a:ext uri="{FF2B5EF4-FFF2-40B4-BE49-F238E27FC236}">
                  <a16:creationId xmlns:a16="http://schemas.microsoft.com/office/drawing/2014/main" id="{9A2418B7-D0B7-B340-76F6-7314BD4FE0C1}"/>
                </a:ext>
              </a:extLst>
            </p:cNvPr>
            <p:cNvGrpSpPr/>
            <p:nvPr/>
          </p:nvGrpSpPr>
          <p:grpSpPr>
            <a:xfrm>
              <a:off x="6720090" y="609591"/>
              <a:ext cx="5382861" cy="5486418"/>
              <a:chOff x="6720090" y="609591"/>
              <a:chExt cx="5382861" cy="5486418"/>
            </a:xfrm>
          </p:grpSpPr>
          <p:pic>
            <p:nvPicPr>
              <p:cNvPr id="9" name="Immagine 8">
                <a:extLst>
                  <a:ext uri="{FF2B5EF4-FFF2-40B4-BE49-F238E27FC236}">
                    <a16:creationId xmlns:a16="http://schemas.microsoft.com/office/drawing/2014/main" id="{5BB647F9-F1A7-E111-4028-D42AF42B3CA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63187" t="5907" r="8208" b="5064"/>
              <a:stretch>
                <a:fillRect/>
              </a:stretch>
            </p:blipFill>
            <p:spPr>
              <a:xfrm>
                <a:off x="6720090" y="609591"/>
                <a:ext cx="2927474" cy="5486418"/>
              </a:xfrm>
              <a:prstGeom prst="rect">
                <a:avLst/>
              </a:prstGeom>
            </p:spPr>
          </p:pic>
          <p:pic>
            <p:nvPicPr>
              <p:cNvPr id="12" name="Immagine 11">
                <a:extLst>
                  <a:ext uri="{FF2B5EF4-FFF2-40B4-BE49-F238E27FC236}">
                    <a16:creationId xmlns:a16="http://schemas.microsoft.com/office/drawing/2014/main" id="{68A91574-56D0-1707-CF48-407DF2C4611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0475" t="52668" r="8239" b="5242"/>
              <a:stretch>
                <a:fillRect/>
              </a:stretch>
            </p:blipFill>
            <p:spPr>
              <a:xfrm>
                <a:off x="9631692" y="3558723"/>
                <a:ext cx="2471259" cy="2527149"/>
              </a:xfrm>
              <a:prstGeom prst="rect">
                <a:avLst/>
              </a:prstGeom>
            </p:spPr>
          </p:pic>
          <p:pic>
            <p:nvPicPr>
              <p:cNvPr id="15" name="Immagine 14">
                <a:extLst>
                  <a:ext uri="{FF2B5EF4-FFF2-40B4-BE49-F238E27FC236}">
                    <a16:creationId xmlns:a16="http://schemas.microsoft.com/office/drawing/2014/main" id="{AB248CA5-059A-D50A-F34E-4F53BAB519D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4447" t="9301" r="8786" b="60539"/>
              <a:stretch>
                <a:fillRect/>
              </a:stretch>
            </p:blipFill>
            <p:spPr>
              <a:xfrm>
                <a:off x="9647564" y="667354"/>
                <a:ext cx="2239624" cy="2425869"/>
              </a:xfrm>
              <a:prstGeom prst="rect">
                <a:avLst/>
              </a:prstGeom>
            </p:spPr>
          </p:pic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CasellaDiTesto 16">
                  <a:extLst>
                    <a:ext uri="{FF2B5EF4-FFF2-40B4-BE49-F238E27FC236}">
                      <a16:creationId xmlns:a16="http://schemas.microsoft.com/office/drawing/2014/main" id="{6BC348DB-9D0E-C50C-6D56-DD8A2A427DD6}"/>
                    </a:ext>
                  </a:extLst>
                </p:cNvPr>
                <p:cNvSpPr txBox="1"/>
                <p:nvPr/>
              </p:nvSpPr>
              <p:spPr>
                <a:xfrm>
                  <a:off x="6577025" y="2961909"/>
                  <a:ext cx="6109334" cy="67473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Fusion</m:t>
                            </m:r>
                            <m:r>
                              <m:rPr>
                                <m:nor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=0.6 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FLAIR</m:t>
                            </m:r>
                          </m:sub>
                        </m:sSub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+0.4 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  <m:r>
                              <m:rPr>
                                <m:nor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m:rPr>
                                <m:nor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c</m:t>
                            </m:r>
                          </m:sub>
                        </m:sSub>
                      </m:oMath>
                    </m:oMathPara>
                  </a14:m>
                  <a:endParaRPr lang="it-IT" b="0" i="0" dirty="0">
                    <a:latin typeface="Cambria Math" panose="02040503050406030204" pitchFamily="18" charset="0"/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Fusion</m:t>
                            </m:r>
                            <m:r>
                              <m:rPr>
                                <m:nor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=0.5 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FLAIR</m:t>
                            </m:r>
                          </m:sub>
                        </m:sSub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+0.2 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  <m:r>
                              <m:rPr>
                                <m:nor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m:rPr>
                                <m:nor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c</m:t>
                            </m:r>
                          </m:sub>
                        </m:sSub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+0.3 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  <m:r>
                              <m:rPr>
                                <m:nor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it-IT" b="0" dirty="0"/>
                </a:p>
              </p:txBody>
            </p:sp>
          </mc:Choice>
          <mc:Fallback xmlns="">
            <p:sp>
              <p:nvSpPr>
                <p:cNvPr id="17" name="CasellaDiTesto 16">
                  <a:extLst>
                    <a:ext uri="{FF2B5EF4-FFF2-40B4-BE49-F238E27FC236}">
                      <a16:creationId xmlns:a16="http://schemas.microsoft.com/office/drawing/2014/main" id="{6BC348DB-9D0E-C50C-6D56-DD8A2A427DD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77025" y="2961909"/>
                  <a:ext cx="6109334" cy="674736"/>
                </a:xfrm>
                <a:prstGeom prst="rect">
                  <a:avLst/>
                </a:prstGeom>
                <a:blipFill>
                  <a:blip r:embed="rId5"/>
                  <a:stretch>
                    <a:fillRect b="-3604"/>
                  </a:stretch>
                </a:blipFill>
              </p:spPr>
              <p:txBody>
                <a:bodyPr/>
                <a:lstStyle/>
                <a:p>
                  <a:r>
                    <a:rPr lang="it-IT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24051347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4853B916-72F6-BC5A-D6B6-6863E9DBD2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uppo 11">
            <a:extLst>
              <a:ext uri="{FF2B5EF4-FFF2-40B4-BE49-F238E27FC236}">
                <a16:creationId xmlns:a16="http://schemas.microsoft.com/office/drawing/2014/main" id="{B56EC8E4-D42B-6468-9AB9-D43CC3C38B0A}"/>
              </a:ext>
            </a:extLst>
          </p:cNvPr>
          <p:cNvGrpSpPr/>
          <p:nvPr/>
        </p:nvGrpSpPr>
        <p:grpSpPr>
          <a:xfrm>
            <a:off x="5506224" y="1116106"/>
            <a:ext cx="6956641" cy="4759138"/>
            <a:chOff x="5267326" y="1176100"/>
            <a:chExt cx="6956641" cy="4759138"/>
          </a:xfrm>
        </p:grpSpPr>
        <p:pic>
          <p:nvPicPr>
            <p:cNvPr id="10" name="Immagine 9">
              <a:extLst>
                <a:ext uri="{FF2B5EF4-FFF2-40B4-BE49-F238E27FC236}">
                  <a16:creationId xmlns:a16="http://schemas.microsoft.com/office/drawing/2014/main" id="{41E713A5-2106-D1CF-C960-85A77CCF97C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20218"/>
            <a:stretch>
              <a:fillRect/>
            </a:stretch>
          </p:blipFill>
          <p:spPr>
            <a:xfrm>
              <a:off x="5267326" y="1176100"/>
              <a:ext cx="6109334" cy="4610934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CasellaDiTesto 23">
                  <a:extLst>
                    <a:ext uri="{FF2B5EF4-FFF2-40B4-BE49-F238E27FC236}">
                      <a16:creationId xmlns:a16="http://schemas.microsoft.com/office/drawing/2014/main" id="{3848CF27-D90F-D559-013F-416269D53557}"/>
                    </a:ext>
                  </a:extLst>
                </p:cNvPr>
                <p:cNvSpPr txBox="1"/>
                <p:nvPr/>
              </p:nvSpPr>
              <p:spPr>
                <a:xfrm>
                  <a:off x="6114633" y="5428561"/>
                  <a:ext cx="6109334" cy="5066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0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m:rPr>
                                    <m:nor/>
                                  </m:rPr>
                                  <a:rPr lang="en-US" b="0" i="0" smtClean="0">
                                    <a:latin typeface="Cambria Math" panose="02040503050406030204" pitchFamily="18" charset="0"/>
                                  </a:rPr>
                                  <m:t>seed</m:t>
                                </m:r>
                              </m:sub>
                            </m:sSub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0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m:rPr>
                                    <m:nor/>
                                  </m:rPr>
                                  <a:rPr lang="en-US" b="0" i="0" smtClean="0">
                                    <a:latin typeface="Cambria Math" panose="02040503050406030204" pitchFamily="18" charset="0"/>
                                  </a:rPr>
                                  <m:t>seed</m:t>
                                </m:r>
                              </m:sub>
                            </m:sSub>
                          </m:e>
                        </m:d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arg</m:t>
                            </m:r>
                          </m:fName>
                          <m:e>
                            <m:func>
                              <m:func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limLow>
                                  <m:limLow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limLow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b="0" i="0" smtClean="0">
                                        <a:latin typeface="Cambria Math" panose="02040503050406030204" pitchFamily="18" charset="0"/>
                                      </a:rPr>
                                      <m:t>max</m:t>
                                    </m:r>
                                  </m:e>
                                  <m:lim>
                                    <m:d>
                                      <m:d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b="0" i="0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  <m:r>
                                          <a:rPr lang="en-US" b="0" i="0" smtClean="0">
                                            <a:latin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en-US" b="0" i="0" smtClean="0"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</m:d>
                                  </m:lim>
                                </m:limLow>
                              </m:fName>
                              <m:e>
                                <m:r>
                                  <a:rPr lang="en-US" b="0" i="0" smtClean="0">
                                    <a:latin typeface="Cambria Math" panose="02040503050406030204" pitchFamily="18" charset="0"/>
                                  </a:rPr>
                                  <m:t>𝑆𝑒𝑒𝑑𝑀𝑎𝑝</m:t>
                                </m:r>
                                <m:d>
                                  <m:d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b="0" i="0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  <m:r>
                                      <a:rPr lang="en-US" b="0" i="0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b="0" i="0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</m:d>
                              </m:e>
                            </m:func>
                          </m:e>
                        </m:func>
                      </m:oMath>
                    </m:oMathPara>
                  </a14:m>
                  <a:endParaRPr lang="it-IT" b="0" dirty="0"/>
                </a:p>
              </p:txBody>
            </p:sp>
          </mc:Choice>
          <mc:Fallback xmlns="">
            <p:sp>
              <p:nvSpPr>
                <p:cNvPr id="24" name="CasellaDiTesto 23">
                  <a:extLst>
                    <a:ext uri="{FF2B5EF4-FFF2-40B4-BE49-F238E27FC236}">
                      <a16:creationId xmlns:a16="http://schemas.microsoft.com/office/drawing/2014/main" id="{3848CF27-D90F-D559-013F-416269D5355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14633" y="5428561"/>
                  <a:ext cx="6109334" cy="506677"/>
                </a:xfrm>
                <a:prstGeom prst="rect">
                  <a:avLst/>
                </a:prstGeom>
                <a:blipFill>
                  <a:blip r:embed="rId4"/>
                  <a:stretch>
                    <a:fillRect b="-1205"/>
                  </a:stretch>
                </a:blipFill>
              </p:spPr>
              <p:txBody>
                <a:bodyPr/>
                <a:lstStyle/>
                <a:p>
                  <a:r>
                    <a:rPr lang="it-IT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C3F66F9E-0485-8DDB-52C8-7F26DEBA2AA3}"/>
              </a:ext>
            </a:extLst>
          </p:cNvPr>
          <p:cNvSpPr txBox="1"/>
          <p:nvPr/>
        </p:nvSpPr>
        <p:spPr>
          <a:xfrm>
            <a:off x="628650" y="1668731"/>
            <a:ext cx="6286500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it-IT" sz="2800" b="1" dirty="0" err="1">
                <a:latin typeface="Aptos" panose="020B0004020202020204" pitchFamily="34" charset="0"/>
              </a:rPr>
              <a:t>Seed</a:t>
            </a:r>
            <a:r>
              <a:rPr lang="it-IT" sz="2800" b="1" dirty="0">
                <a:latin typeface="Aptos" panose="020B0004020202020204" pitchFamily="34" charset="0"/>
              </a:rPr>
              <a:t> </a:t>
            </a:r>
            <a:r>
              <a:rPr lang="it-IT" sz="2800" b="1" dirty="0" err="1">
                <a:latin typeface="Aptos" panose="020B0004020202020204" pitchFamily="34" charset="0"/>
              </a:rPr>
              <a:t>Map</a:t>
            </a:r>
            <a:endParaRPr lang="it-IT" sz="2800" b="1" dirty="0">
              <a:latin typeface="Aptos" panose="020B0004020202020204" pitchFamily="34" charset="0"/>
            </a:endParaRP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Obiettivo: </a:t>
            </a:r>
            <a:r>
              <a:rPr lang="it-IT" sz="2800" dirty="0">
                <a:latin typeface="Aptos" panose="020B0004020202020204" pitchFamily="34" charset="0"/>
              </a:rPr>
              <a:t>selezionare il seme iniziale per guidare il </a:t>
            </a:r>
            <a:r>
              <a:rPr lang="it-IT" sz="2800" dirty="0" err="1">
                <a:latin typeface="Aptos" panose="020B0004020202020204" pitchFamily="34" charset="0"/>
              </a:rPr>
              <a:t>Region</a:t>
            </a:r>
            <a:r>
              <a:rPr lang="it-IT" sz="2800" dirty="0">
                <a:latin typeface="Aptos" panose="020B0004020202020204" pitchFamily="34" charset="0"/>
              </a:rPr>
              <a:t> </a:t>
            </a:r>
            <a:r>
              <a:rPr lang="it-IT" sz="2800" dirty="0" err="1">
                <a:latin typeface="Aptos" panose="020B0004020202020204" pitchFamily="34" charset="0"/>
              </a:rPr>
              <a:t>Growing</a:t>
            </a:r>
            <a:r>
              <a:rPr lang="it-IT" sz="2800" dirty="0">
                <a:latin typeface="Aptos" panose="020B0004020202020204" pitchFamily="34" charset="0"/>
              </a:rPr>
              <a:t> e ridurre l’influenza del rumore nella scelta del seme con filtro gaussiano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endParaRPr lang="it-IT" sz="2800" dirty="0">
              <a:latin typeface="Aptos" panose="020B0004020202020204" pitchFamily="34" charset="0"/>
            </a:endParaRPr>
          </a:p>
          <a:p>
            <a:pPr marL="514350" indent="-514350" algn="l">
              <a:buFont typeface="+mj-lt"/>
              <a:buAutoNum type="arabicPeriod"/>
            </a:pPr>
            <a:r>
              <a:rPr lang="it-IT" sz="2800" dirty="0">
                <a:latin typeface="Aptos" panose="020B0004020202020204" pitchFamily="34" charset="0"/>
              </a:rPr>
              <a:t>Costruita da Fusion3</a:t>
            </a:r>
          </a:p>
          <a:p>
            <a:pPr marL="514350" indent="-514350" algn="l">
              <a:buFont typeface="+mj-lt"/>
              <a:buAutoNum type="arabicPeriod"/>
            </a:pPr>
            <a:r>
              <a:rPr lang="it-IT" sz="2800" dirty="0">
                <a:latin typeface="Aptos" panose="020B0004020202020204" pitchFamily="34" charset="0"/>
              </a:rPr>
              <a:t>σ = 3 scelto sperimentalmente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E0105719-488A-2A04-DEB5-6C77FC102CEF}"/>
              </a:ext>
            </a:extLst>
          </p:cNvPr>
          <p:cNvSpPr txBox="1"/>
          <p:nvPr/>
        </p:nvSpPr>
        <p:spPr>
          <a:xfrm>
            <a:off x="609600" y="381000"/>
            <a:ext cx="550503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6000" b="1" dirty="0" err="1">
                <a:latin typeface="Aptos" panose="020B0004020202020204" pitchFamily="34" charset="0"/>
              </a:rPr>
              <a:t>Pre</a:t>
            </a:r>
            <a:r>
              <a:rPr lang="it-IT" sz="6000" b="1" dirty="0">
                <a:latin typeface="Aptos" panose="020B0004020202020204" pitchFamily="34" charset="0"/>
              </a:rPr>
              <a:t>-Processing</a:t>
            </a:r>
          </a:p>
        </p:txBody>
      </p:sp>
      <p:grpSp>
        <p:nvGrpSpPr>
          <p:cNvPr id="4" name="object 9">
            <a:extLst>
              <a:ext uri="{FF2B5EF4-FFF2-40B4-BE49-F238E27FC236}">
                <a16:creationId xmlns:a16="http://schemas.microsoft.com/office/drawing/2014/main" id="{73DFBD50-6639-C60B-7C6F-3806591E2F45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6" name="object 10">
              <a:extLst>
                <a:ext uri="{FF2B5EF4-FFF2-40B4-BE49-F238E27FC236}">
                  <a16:creationId xmlns:a16="http://schemas.microsoft.com/office/drawing/2014/main" id="{1C2338EB-A630-1D71-B72D-3CC2EA78DE96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A7F71636-09C9-1795-8DEB-24CA80C6EA7D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2B582BD5-C5DD-1824-8442-2F0990E65C1B}"/>
              </a:ext>
            </a:extLst>
          </p:cNvPr>
          <p:cNvSpPr txBox="1"/>
          <p:nvPr/>
        </p:nvSpPr>
        <p:spPr>
          <a:xfrm>
            <a:off x="11671424" y="6480829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16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690FDC9D-83C2-17D1-0EF2-FCA47711DD82}"/>
              </a:ext>
            </a:extLst>
          </p:cNvPr>
          <p:cNvSpPr txBox="1"/>
          <p:nvPr/>
        </p:nvSpPr>
        <p:spPr>
          <a:xfrm>
            <a:off x="82177" y="6465351"/>
            <a:ext cx="52811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Segmentazione di Tumori Cerebrali in Immagini MRI</a:t>
            </a:r>
          </a:p>
        </p:txBody>
      </p:sp>
    </p:spTree>
    <p:extLst>
      <p:ext uri="{BB962C8B-B14F-4D97-AF65-F5344CB8AC3E}">
        <p14:creationId xmlns:p14="http://schemas.microsoft.com/office/powerpoint/2010/main" val="17179051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877D6B76-9357-BFAD-A8ED-FD5C2EE8EF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sellaDiTesto 4">
            <a:extLst>
              <a:ext uri="{FF2B5EF4-FFF2-40B4-BE49-F238E27FC236}">
                <a16:creationId xmlns:a16="http://schemas.microsoft.com/office/drawing/2014/main" id="{60AAD435-4732-E158-C54B-3302357CA6FA}"/>
              </a:ext>
            </a:extLst>
          </p:cNvPr>
          <p:cNvSpPr txBox="1"/>
          <p:nvPr/>
        </p:nvSpPr>
        <p:spPr>
          <a:xfrm>
            <a:off x="609600" y="381000"/>
            <a:ext cx="560281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6000" b="1" dirty="0">
                <a:latin typeface="Aptos" panose="020B0004020202020204" pitchFamily="34" charset="0"/>
              </a:rPr>
              <a:t>Segmentazione</a:t>
            </a:r>
          </a:p>
        </p:txBody>
      </p:sp>
      <p:grpSp>
        <p:nvGrpSpPr>
          <p:cNvPr id="4" name="object 9">
            <a:extLst>
              <a:ext uri="{FF2B5EF4-FFF2-40B4-BE49-F238E27FC236}">
                <a16:creationId xmlns:a16="http://schemas.microsoft.com/office/drawing/2014/main" id="{17CDA685-3323-C542-1956-D88EA18FE0E6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6" name="object 10">
              <a:extLst>
                <a:ext uri="{FF2B5EF4-FFF2-40B4-BE49-F238E27FC236}">
                  <a16:creationId xmlns:a16="http://schemas.microsoft.com/office/drawing/2014/main" id="{31DDBC3F-79E2-0A07-1EFA-F9BE51D39D8D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2719BDBD-07B2-7411-DA1C-088298ECC344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8E9C002A-11DB-9ECE-1DD0-28866BC40495}"/>
              </a:ext>
            </a:extLst>
          </p:cNvPr>
          <p:cNvSpPr txBox="1"/>
          <p:nvPr/>
        </p:nvSpPr>
        <p:spPr>
          <a:xfrm>
            <a:off x="11671424" y="6480829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17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840662F2-AA4D-711F-AF3B-514027B3D99B}"/>
              </a:ext>
            </a:extLst>
          </p:cNvPr>
          <p:cNvSpPr txBox="1"/>
          <p:nvPr/>
        </p:nvSpPr>
        <p:spPr>
          <a:xfrm>
            <a:off x="82177" y="6465351"/>
            <a:ext cx="52811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Segmentazione di Tumori Cerebrali in Immagini MRI</a:t>
            </a:r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8621C499-771A-1F8D-4F8C-0A969AE31236}"/>
              </a:ext>
            </a:extLst>
          </p:cNvPr>
          <p:cNvSpPr txBox="1"/>
          <p:nvPr/>
        </p:nvSpPr>
        <p:spPr>
          <a:xfrm>
            <a:off x="639873" y="1201692"/>
            <a:ext cx="610933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it-IT" sz="2800" b="1" dirty="0">
                <a:latin typeface="Aptos" panose="020B0004020202020204" pitchFamily="34" charset="0"/>
              </a:rPr>
              <a:t>Es. Fusion3</a:t>
            </a:r>
            <a:endParaRPr lang="it-IT" sz="2800" dirty="0">
              <a:latin typeface="Aptos" panose="020B0004020202020204" pitchFamily="34" charset="0"/>
            </a:endParaRPr>
          </a:p>
        </p:txBody>
      </p:sp>
      <p:grpSp>
        <p:nvGrpSpPr>
          <p:cNvPr id="15" name="Gruppo 14">
            <a:extLst>
              <a:ext uri="{FF2B5EF4-FFF2-40B4-BE49-F238E27FC236}">
                <a16:creationId xmlns:a16="http://schemas.microsoft.com/office/drawing/2014/main" id="{CC148A63-CB7B-8C5B-3167-B6874AA47E89}"/>
              </a:ext>
            </a:extLst>
          </p:cNvPr>
          <p:cNvGrpSpPr/>
          <p:nvPr/>
        </p:nvGrpSpPr>
        <p:grpSpPr>
          <a:xfrm>
            <a:off x="7999303" y="1463302"/>
            <a:ext cx="3552824" cy="4554761"/>
            <a:chOff x="7696201" y="1524061"/>
            <a:chExt cx="3552824" cy="4554761"/>
          </a:xfrm>
        </p:grpSpPr>
        <p:pic>
          <p:nvPicPr>
            <p:cNvPr id="8" name="Immagine 7">
              <a:extLst>
                <a:ext uri="{FF2B5EF4-FFF2-40B4-BE49-F238E27FC236}">
                  <a16:creationId xmlns:a16="http://schemas.microsoft.com/office/drawing/2014/main" id="{CCD08B2A-B9CF-507E-1857-C4A6797A172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008" t="7111" r="59772" b="55948"/>
            <a:stretch>
              <a:fillRect/>
            </a:stretch>
          </p:blipFill>
          <p:spPr>
            <a:xfrm>
              <a:off x="7696201" y="1524061"/>
              <a:ext cx="3552824" cy="3724232"/>
            </a:xfrm>
            <a:prstGeom prst="rect">
              <a:avLst/>
            </a:prstGeom>
          </p:spPr>
        </p:pic>
        <p:pic>
          <p:nvPicPr>
            <p:cNvPr id="17" name="Immagine 16">
              <a:extLst>
                <a:ext uri="{FF2B5EF4-FFF2-40B4-BE49-F238E27FC236}">
                  <a16:creationId xmlns:a16="http://schemas.microsoft.com/office/drawing/2014/main" id="{206DB5D1-3B0C-34FE-ACFD-7E31E8E96A2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734722" y="5248293"/>
              <a:ext cx="3514303" cy="830529"/>
            </a:xfrm>
            <a:prstGeom prst="rect">
              <a:avLst/>
            </a:prstGeom>
          </p:spPr>
        </p:pic>
      </p:grpSp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9B91D577-57D0-F5F8-6E35-192585B1F053}"/>
              </a:ext>
            </a:extLst>
          </p:cNvPr>
          <p:cNvSpPr txBox="1"/>
          <p:nvPr/>
        </p:nvSpPr>
        <p:spPr>
          <a:xfrm>
            <a:off x="609599" y="1945848"/>
            <a:ext cx="7096125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it-IT" sz="2800" b="1" dirty="0">
                <a:latin typeface="Aptos" panose="020B0004020202020204" pitchFamily="34" charset="0"/>
              </a:rPr>
              <a:t>Otsu Multilivello</a:t>
            </a:r>
          </a:p>
          <a:p>
            <a:pPr marL="514350" indent="-514350" algn="just">
              <a:buFont typeface="+mj-lt"/>
              <a:buAutoNum type="arabicPeriod"/>
            </a:pPr>
            <a:r>
              <a:rPr lang="it-IT" sz="2800" dirty="0">
                <a:latin typeface="Aptos" panose="020B0004020202020204" pitchFamily="34" charset="0"/>
              </a:rPr>
              <a:t>Segmentazione iniziale basata su </a:t>
            </a:r>
            <a:r>
              <a:rPr lang="it-IT" sz="2800" dirty="0" err="1">
                <a:latin typeface="Aptos" panose="020B0004020202020204" pitchFamily="34" charset="0"/>
              </a:rPr>
              <a:t>sogliatura</a:t>
            </a:r>
            <a:r>
              <a:rPr lang="it-IT" sz="2800" dirty="0">
                <a:latin typeface="Aptos" panose="020B0004020202020204" pitchFamily="34" charset="0"/>
              </a:rPr>
              <a:t> multilivello</a:t>
            </a:r>
          </a:p>
          <a:p>
            <a:pPr marL="514350" indent="-514350" algn="just">
              <a:buFont typeface="+mj-lt"/>
              <a:buAutoNum type="arabicPeriod"/>
            </a:pPr>
            <a:r>
              <a:rPr lang="it-IT" sz="2800" dirty="0">
                <a:latin typeface="Aptos" panose="020B0004020202020204" pitchFamily="34" charset="0"/>
              </a:rPr>
              <a:t>Separa le classi massimizzando la variabilità inter-classe e minimizzando quella intra-classe</a:t>
            </a:r>
          </a:p>
          <a:p>
            <a:pPr marL="514350" indent="-514350" algn="just">
              <a:buFont typeface="+mj-lt"/>
              <a:buAutoNum type="arabicPeriod"/>
            </a:pPr>
            <a:r>
              <a:rPr lang="it-IT" sz="2800" dirty="0">
                <a:latin typeface="Aptos" panose="020B0004020202020204" pitchFamily="34" charset="0"/>
              </a:rPr>
              <a:t>Selezione della classe con intensità più alta</a:t>
            </a:r>
          </a:p>
          <a:p>
            <a:pPr marL="514350" indent="-514350" algn="just">
              <a:buFont typeface="+mj-lt"/>
              <a:buAutoNum type="arabicPeriod"/>
            </a:pPr>
            <a:r>
              <a:rPr lang="it-IT" sz="2800" dirty="0">
                <a:latin typeface="Aptos" panose="020B0004020202020204" pitchFamily="34" charset="0"/>
              </a:rPr>
              <a:t>Produce la prima maschera</a:t>
            </a:r>
          </a:p>
        </p:txBody>
      </p:sp>
    </p:spTree>
    <p:extLst>
      <p:ext uri="{BB962C8B-B14F-4D97-AF65-F5344CB8AC3E}">
        <p14:creationId xmlns:p14="http://schemas.microsoft.com/office/powerpoint/2010/main" val="20009389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52CDC289-D58A-DC5D-8F09-8EC675E72F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uppo 16">
            <a:extLst>
              <a:ext uri="{FF2B5EF4-FFF2-40B4-BE49-F238E27FC236}">
                <a16:creationId xmlns:a16="http://schemas.microsoft.com/office/drawing/2014/main" id="{A8BB7479-C39A-C27C-4289-083A745CFF75}"/>
              </a:ext>
            </a:extLst>
          </p:cNvPr>
          <p:cNvGrpSpPr/>
          <p:nvPr/>
        </p:nvGrpSpPr>
        <p:grpSpPr>
          <a:xfrm>
            <a:off x="7363094" y="1724912"/>
            <a:ext cx="4590769" cy="4253730"/>
            <a:chOff x="7329838" y="1463302"/>
            <a:chExt cx="4590769" cy="4253730"/>
          </a:xfrm>
        </p:grpSpPr>
        <p:pic>
          <p:nvPicPr>
            <p:cNvPr id="8" name="Immagine 7">
              <a:extLst>
                <a:ext uri="{FF2B5EF4-FFF2-40B4-BE49-F238E27FC236}">
                  <a16:creationId xmlns:a16="http://schemas.microsoft.com/office/drawing/2014/main" id="{CFA2ADC5-2976-C15F-B80E-5E2C6102491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3325" t="7111" r="15854" b="55948"/>
            <a:stretch>
              <a:fillRect/>
            </a:stretch>
          </p:blipFill>
          <p:spPr>
            <a:xfrm>
              <a:off x="7882148" y="1463302"/>
              <a:ext cx="3486150" cy="3724232"/>
            </a:xfrm>
            <a:prstGeom prst="rect">
              <a:avLst/>
            </a:prstGeom>
          </p:spPr>
        </p:pic>
        <p:pic>
          <p:nvPicPr>
            <p:cNvPr id="16" name="Immagine 15">
              <a:extLst>
                <a:ext uri="{FF2B5EF4-FFF2-40B4-BE49-F238E27FC236}">
                  <a16:creationId xmlns:a16="http://schemas.microsoft.com/office/drawing/2014/main" id="{96F8A13B-0CE6-03FA-27D8-706B73DA274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329838" y="5321520"/>
              <a:ext cx="4590769" cy="395512"/>
            </a:xfrm>
            <a:prstGeom prst="rect">
              <a:avLst/>
            </a:prstGeom>
          </p:spPr>
        </p:pic>
      </p:grp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E58577FC-68A9-2DF3-5285-0BBA6159C30B}"/>
              </a:ext>
            </a:extLst>
          </p:cNvPr>
          <p:cNvSpPr txBox="1"/>
          <p:nvPr/>
        </p:nvSpPr>
        <p:spPr>
          <a:xfrm>
            <a:off x="609600" y="381000"/>
            <a:ext cx="560281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6000" b="1" dirty="0">
                <a:latin typeface="Aptos" panose="020B0004020202020204" pitchFamily="34" charset="0"/>
              </a:rPr>
              <a:t>Segmentazione</a:t>
            </a:r>
          </a:p>
        </p:txBody>
      </p:sp>
      <p:grpSp>
        <p:nvGrpSpPr>
          <p:cNvPr id="4" name="object 9">
            <a:extLst>
              <a:ext uri="{FF2B5EF4-FFF2-40B4-BE49-F238E27FC236}">
                <a16:creationId xmlns:a16="http://schemas.microsoft.com/office/drawing/2014/main" id="{7A202E54-63D9-BB3D-733D-1C2FCFC21BC5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6" name="object 10">
              <a:extLst>
                <a:ext uri="{FF2B5EF4-FFF2-40B4-BE49-F238E27FC236}">
                  <a16:creationId xmlns:a16="http://schemas.microsoft.com/office/drawing/2014/main" id="{998DB2DB-DA81-8C98-EF5B-38B1DA5BAC9A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5A13A892-539F-2D83-E989-63C348B0E98A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DB80D98C-15D7-64C1-FE20-EC64DC442902}"/>
              </a:ext>
            </a:extLst>
          </p:cNvPr>
          <p:cNvSpPr txBox="1"/>
          <p:nvPr/>
        </p:nvSpPr>
        <p:spPr>
          <a:xfrm>
            <a:off x="11671424" y="6480829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18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EA790CB0-BF4E-BD81-46A0-13F10E4E80F2}"/>
              </a:ext>
            </a:extLst>
          </p:cNvPr>
          <p:cNvSpPr txBox="1"/>
          <p:nvPr/>
        </p:nvSpPr>
        <p:spPr>
          <a:xfrm>
            <a:off x="82177" y="6465351"/>
            <a:ext cx="52811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Segmentazione di Tumori Cerebrali in Immagini MRI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5A860B97-55F8-5E60-DCAA-CC5490D130DC}"/>
              </a:ext>
            </a:extLst>
          </p:cNvPr>
          <p:cNvSpPr txBox="1"/>
          <p:nvPr/>
        </p:nvSpPr>
        <p:spPr>
          <a:xfrm>
            <a:off x="639873" y="1201692"/>
            <a:ext cx="610933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it-IT" sz="2800" b="1" dirty="0">
                <a:latin typeface="Aptos" panose="020B0004020202020204" pitchFamily="34" charset="0"/>
              </a:rPr>
              <a:t>Es. Fusion3</a:t>
            </a:r>
            <a:endParaRPr lang="it-IT" sz="2800" dirty="0">
              <a:latin typeface="Aptos" panose="020B0004020202020204" pitchFamily="34" charset="0"/>
            </a:endParaRP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5CBE4D87-D7F6-C6EE-A45C-797CCD450F44}"/>
              </a:ext>
            </a:extLst>
          </p:cNvPr>
          <p:cNvSpPr txBox="1"/>
          <p:nvPr/>
        </p:nvSpPr>
        <p:spPr>
          <a:xfrm>
            <a:off x="639873" y="1945848"/>
            <a:ext cx="6799152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it-IT" sz="2800" b="1" dirty="0" err="1">
                <a:latin typeface="Aptos" panose="020B0004020202020204" pitchFamily="34" charset="0"/>
              </a:rPr>
              <a:t>Region</a:t>
            </a:r>
            <a:r>
              <a:rPr lang="it-IT" sz="2800" b="1" dirty="0">
                <a:latin typeface="Aptos" panose="020B0004020202020204" pitchFamily="34" charset="0"/>
              </a:rPr>
              <a:t> </a:t>
            </a:r>
            <a:r>
              <a:rPr lang="it-IT" sz="2800" b="1" dirty="0" err="1">
                <a:latin typeface="Aptos" panose="020B0004020202020204" pitchFamily="34" charset="0"/>
              </a:rPr>
              <a:t>Growing</a:t>
            </a:r>
            <a:r>
              <a:rPr lang="it-IT" sz="2800" b="1" dirty="0">
                <a:latin typeface="Aptos" panose="020B0004020202020204" pitchFamily="34" charset="0"/>
              </a:rPr>
              <a:t> con Seme Automatico</a:t>
            </a:r>
          </a:p>
          <a:p>
            <a:pPr marL="514350" indent="-514350" algn="just">
              <a:buFont typeface="+mj-lt"/>
              <a:buAutoNum type="arabicPeriod"/>
            </a:pPr>
            <a:r>
              <a:rPr lang="it-IT" sz="2800" dirty="0">
                <a:latin typeface="Aptos" panose="020B0004020202020204" pitchFamily="34" charset="0"/>
              </a:rPr>
              <a:t>Segmentazione per crescita della regione dal seme iniziale</a:t>
            </a:r>
          </a:p>
          <a:p>
            <a:pPr marL="514350" indent="-514350" algn="just">
              <a:buFont typeface="+mj-lt"/>
              <a:buAutoNum type="arabicPeriod"/>
            </a:pPr>
            <a:r>
              <a:rPr lang="it-IT" sz="2800" dirty="0">
                <a:latin typeface="Aptos" panose="020B0004020202020204" pitchFamily="34" charset="0"/>
              </a:rPr>
              <a:t>Si espande iterativamente verso i pixel adiacenti con un criterio di omogeneità</a:t>
            </a:r>
          </a:p>
          <a:p>
            <a:pPr marL="514350" indent="-514350" algn="just">
              <a:buFont typeface="+mj-lt"/>
              <a:buAutoNum type="arabicPeriod"/>
            </a:pPr>
            <a:r>
              <a:rPr lang="it-IT" sz="2800" dirty="0">
                <a:latin typeface="Aptos" panose="020B0004020202020204" pitchFamily="34" charset="0"/>
              </a:rPr>
              <a:t>Soglia calcolata come 6° percentile delle intensità nella maschera di Otsu</a:t>
            </a:r>
          </a:p>
          <a:p>
            <a:pPr marL="514350" indent="-514350" algn="just">
              <a:buFont typeface="+mj-lt"/>
              <a:buAutoNum type="arabicPeriod"/>
            </a:pPr>
            <a:r>
              <a:rPr lang="it-IT" sz="2800" dirty="0">
                <a:latin typeface="Aptos" panose="020B0004020202020204" pitchFamily="34" charset="0"/>
              </a:rPr>
              <a:t>Seleziona la componente connessa attorno al seme</a:t>
            </a:r>
          </a:p>
        </p:txBody>
      </p:sp>
    </p:spTree>
    <p:extLst>
      <p:ext uri="{BB962C8B-B14F-4D97-AF65-F5344CB8AC3E}">
        <p14:creationId xmlns:p14="http://schemas.microsoft.com/office/powerpoint/2010/main" val="21675020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EE967594-F0BC-E4CF-842D-02CC6FC920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sellaDiTesto 4">
            <a:extLst>
              <a:ext uri="{FF2B5EF4-FFF2-40B4-BE49-F238E27FC236}">
                <a16:creationId xmlns:a16="http://schemas.microsoft.com/office/drawing/2014/main" id="{20F299A5-1E10-EF9F-0BCA-094EBB9EE2EF}"/>
              </a:ext>
            </a:extLst>
          </p:cNvPr>
          <p:cNvSpPr txBox="1"/>
          <p:nvPr/>
        </p:nvSpPr>
        <p:spPr>
          <a:xfrm>
            <a:off x="609600" y="381000"/>
            <a:ext cx="560281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6000" b="1" dirty="0">
                <a:latin typeface="Aptos" panose="020B0004020202020204" pitchFamily="34" charset="0"/>
              </a:rPr>
              <a:t>Segmentazione</a:t>
            </a:r>
          </a:p>
        </p:txBody>
      </p:sp>
      <p:grpSp>
        <p:nvGrpSpPr>
          <p:cNvPr id="4" name="object 9">
            <a:extLst>
              <a:ext uri="{FF2B5EF4-FFF2-40B4-BE49-F238E27FC236}">
                <a16:creationId xmlns:a16="http://schemas.microsoft.com/office/drawing/2014/main" id="{D23658B8-A86D-F5D6-D8FD-CD304A8906EC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6" name="object 10">
              <a:extLst>
                <a:ext uri="{FF2B5EF4-FFF2-40B4-BE49-F238E27FC236}">
                  <a16:creationId xmlns:a16="http://schemas.microsoft.com/office/drawing/2014/main" id="{BB2CC926-EB27-9334-762C-951C322A6511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D54BCE5D-1019-71B8-66F5-1BD0F9D98825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5DB7162A-B334-26F2-4FD6-E5009BCCE622}"/>
              </a:ext>
            </a:extLst>
          </p:cNvPr>
          <p:cNvSpPr txBox="1"/>
          <p:nvPr/>
        </p:nvSpPr>
        <p:spPr>
          <a:xfrm>
            <a:off x="11671424" y="6480829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19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EC5E8BD7-39C7-66EE-B505-9EF009111BB3}"/>
              </a:ext>
            </a:extLst>
          </p:cNvPr>
          <p:cNvSpPr txBox="1"/>
          <p:nvPr/>
        </p:nvSpPr>
        <p:spPr>
          <a:xfrm>
            <a:off x="82177" y="6465351"/>
            <a:ext cx="52811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Segmentazione di Tumori Cerebrali in Immagini MRI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46D525A0-0F46-B489-1CF0-76B6E08553C3}"/>
              </a:ext>
            </a:extLst>
          </p:cNvPr>
          <p:cNvSpPr txBox="1"/>
          <p:nvPr/>
        </p:nvSpPr>
        <p:spPr>
          <a:xfrm>
            <a:off x="639873" y="1201692"/>
            <a:ext cx="610933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it-IT" sz="2800" b="1" dirty="0">
                <a:latin typeface="Aptos" panose="020B0004020202020204" pitchFamily="34" charset="0"/>
              </a:rPr>
              <a:t>Es. Fusion3</a:t>
            </a:r>
            <a:endParaRPr lang="it-IT" sz="2800" dirty="0">
              <a:latin typeface="Aptos" panose="020B0004020202020204" pitchFamily="34" charset="0"/>
            </a:endParaRPr>
          </a:p>
        </p:txBody>
      </p:sp>
      <p:sp>
        <p:nvSpPr>
          <p:cNvPr id="19" name="CasellaDiTesto 18">
            <a:extLst>
              <a:ext uri="{FF2B5EF4-FFF2-40B4-BE49-F238E27FC236}">
                <a16:creationId xmlns:a16="http://schemas.microsoft.com/office/drawing/2014/main" id="{2D489704-A057-DDD9-B1F7-971CE80FEAE4}"/>
              </a:ext>
            </a:extLst>
          </p:cNvPr>
          <p:cNvSpPr txBox="1"/>
          <p:nvPr/>
        </p:nvSpPr>
        <p:spPr>
          <a:xfrm>
            <a:off x="639873" y="1872892"/>
            <a:ext cx="7103952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it-IT" sz="2800" b="1" dirty="0" err="1">
                <a:latin typeface="Aptos" panose="020B0004020202020204" pitchFamily="34" charset="0"/>
              </a:rPr>
              <a:t>Watershed</a:t>
            </a:r>
            <a:r>
              <a:rPr lang="it-IT" sz="2800" b="1" dirty="0">
                <a:latin typeface="Aptos" panose="020B0004020202020204" pitchFamily="34" charset="0"/>
              </a:rPr>
              <a:t> con Marcatori</a:t>
            </a:r>
          </a:p>
          <a:p>
            <a:pPr marL="514350" indent="-514350" algn="just">
              <a:buFont typeface="+mj-lt"/>
              <a:buAutoNum type="arabicPeriod"/>
            </a:pPr>
            <a:r>
              <a:rPr lang="it-IT" sz="2800" dirty="0">
                <a:latin typeface="Aptos" panose="020B0004020202020204" pitchFamily="34" charset="0"/>
              </a:rPr>
              <a:t>Segmentazione finale basata sulla morfologia della superficie dell’immagine</a:t>
            </a:r>
          </a:p>
          <a:p>
            <a:pPr marL="514350" indent="-514350" algn="just">
              <a:buFont typeface="+mj-lt"/>
              <a:buAutoNum type="arabicPeriod"/>
            </a:pPr>
            <a:r>
              <a:rPr lang="it-IT" sz="2800" dirty="0">
                <a:latin typeface="Aptos" panose="020B0004020202020204" pitchFamily="34" charset="0"/>
              </a:rPr>
              <a:t>Separa le regioni a partire dai minimi locali della trasformata di distanza</a:t>
            </a:r>
          </a:p>
          <a:p>
            <a:pPr marL="514350" indent="-514350" algn="just">
              <a:buFont typeface="+mj-lt"/>
              <a:buAutoNum type="arabicPeriod"/>
            </a:pPr>
            <a:r>
              <a:rPr lang="it-IT" sz="2800" dirty="0">
                <a:latin typeface="Aptos" panose="020B0004020202020204" pitchFamily="34" charset="0"/>
              </a:rPr>
              <a:t>Utilizza marcatori espliciti derivati dal </a:t>
            </a:r>
            <a:r>
              <a:rPr lang="it-IT" sz="2800" dirty="0" err="1">
                <a:latin typeface="Aptos" panose="020B0004020202020204" pitchFamily="34" charset="0"/>
              </a:rPr>
              <a:t>Region</a:t>
            </a:r>
            <a:r>
              <a:rPr lang="it-IT" sz="2800" dirty="0">
                <a:latin typeface="Aptos" panose="020B0004020202020204" pitchFamily="34" charset="0"/>
              </a:rPr>
              <a:t> </a:t>
            </a:r>
            <a:r>
              <a:rPr lang="it-IT" sz="2800" dirty="0" err="1">
                <a:latin typeface="Aptos" panose="020B0004020202020204" pitchFamily="34" charset="0"/>
              </a:rPr>
              <a:t>Growing</a:t>
            </a:r>
            <a:endParaRPr lang="it-IT" sz="2800" dirty="0">
              <a:latin typeface="Aptos" panose="020B0004020202020204" pitchFamily="34" charset="0"/>
            </a:endParaRPr>
          </a:p>
          <a:p>
            <a:pPr marL="514350" indent="-514350" algn="just">
              <a:buFont typeface="+mj-lt"/>
              <a:buAutoNum type="arabicPeriod"/>
            </a:pPr>
            <a:r>
              <a:rPr lang="it-IT" sz="2800" dirty="0">
                <a:latin typeface="Aptos" panose="020B0004020202020204" pitchFamily="34" charset="0"/>
              </a:rPr>
              <a:t>Produce una maschera finale più precisa e meno frammentata</a:t>
            </a:r>
          </a:p>
        </p:txBody>
      </p:sp>
      <p:grpSp>
        <p:nvGrpSpPr>
          <p:cNvPr id="22" name="Gruppo 21">
            <a:extLst>
              <a:ext uri="{FF2B5EF4-FFF2-40B4-BE49-F238E27FC236}">
                <a16:creationId xmlns:a16="http://schemas.microsoft.com/office/drawing/2014/main" id="{B8CDAF70-E3EA-B9F0-5DE3-3A6A03C13FCA}"/>
              </a:ext>
            </a:extLst>
          </p:cNvPr>
          <p:cNvGrpSpPr/>
          <p:nvPr/>
        </p:nvGrpSpPr>
        <p:grpSpPr>
          <a:xfrm>
            <a:off x="8132561" y="1677287"/>
            <a:ext cx="3600578" cy="4515780"/>
            <a:chOff x="7839203" y="1724912"/>
            <a:chExt cx="3600578" cy="4515780"/>
          </a:xfrm>
        </p:grpSpPr>
        <p:pic>
          <p:nvPicPr>
            <p:cNvPr id="8" name="Immagine 7">
              <a:extLst>
                <a:ext uri="{FF2B5EF4-FFF2-40B4-BE49-F238E27FC236}">
                  <a16:creationId xmlns:a16="http://schemas.microsoft.com/office/drawing/2014/main" id="{DBC3EB1A-1C14-D6AA-1C67-094B6B51FFC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236" t="53020" r="59829" b="10038"/>
            <a:stretch>
              <a:fillRect/>
            </a:stretch>
          </p:blipFill>
          <p:spPr>
            <a:xfrm>
              <a:off x="7839203" y="1724912"/>
              <a:ext cx="3505200" cy="3724275"/>
            </a:xfrm>
            <a:prstGeom prst="rect">
              <a:avLst/>
            </a:prstGeom>
          </p:spPr>
        </p:pic>
        <p:grpSp>
          <p:nvGrpSpPr>
            <p:cNvPr id="21" name="Gruppo 20">
              <a:extLst>
                <a:ext uri="{FF2B5EF4-FFF2-40B4-BE49-F238E27FC236}">
                  <a16:creationId xmlns:a16="http://schemas.microsoft.com/office/drawing/2014/main" id="{6106C42C-6376-7C2A-E923-D74FB33D5EBC}"/>
                </a:ext>
              </a:extLst>
            </p:cNvPr>
            <p:cNvGrpSpPr/>
            <p:nvPr/>
          </p:nvGrpSpPr>
          <p:grpSpPr>
            <a:xfrm>
              <a:off x="7934580" y="5449187"/>
              <a:ext cx="3505201" cy="791505"/>
              <a:chOff x="8029389" y="5543751"/>
              <a:chExt cx="3505201" cy="791505"/>
            </a:xfrm>
          </p:grpSpPr>
          <p:pic>
            <p:nvPicPr>
              <p:cNvPr id="20" name="Immagine 19">
                <a:extLst>
                  <a:ext uri="{FF2B5EF4-FFF2-40B4-BE49-F238E27FC236}">
                    <a16:creationId xmlns:a16="http://schemas.microsoft.com/office/drawing/2014/main" id="{36C47B99-A44B-0EC6-EA6F-BEB981160C8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8029389" y="5897106"/>
                <a:ext cx="3505201" cy="438150"/>
              </a:xfrm>
              <a:prstGeom prst="rect">
                <a:avLst/>
              </a:prstGeom>
            </p:spPr>
          </p:pic>
          <p:pic>
            <p:nvPicPr>
              <p:cNvPr id="17" name="Immagine 16">
                <a:extLst>
                  <a:ext uri="{FF2B5EF4-FFF2-40B4-BE49-F238E27FC236}">
                    <a16:creationId xmlns:a16="http://schemas.microsoft.com/office/drawing/2014/main" id="{E19DF399-A1E8-DD2F-69C4-4788FDABF79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8477024" y="5543751"/>
                <a:ext cx="2613522" cy="438150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330748532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sellaDiTesto 3">
            <a:extLst>
              <a:ext uri="{FF2B5EF4-FFF2-40B4-BE49-F238E27FC236}">
                <a16:creationId xmlns:a16="http://schemas.microsoft.com/office/drawing/2014/main" id="{84F68DB0-B4C8-E170-7495-E166674B7D7F}"/>
              </a:ext>
            </a:extLst>
          </p:cNvPr>
          <p:cNvSpPr txBox="1"/>
          <p:nvPr/>
        </p:nvSpPr>
        <p:spPr>
          <a:xfrm>
            <a:off x="609600" y="381000"/>
            <a:ext cx="590578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6000" b="1" dirty="0">
                <a:latin typeface="Aptos" panose="020B0004020202020204" pitchFamily="34" charset="0"/>
              </a:rPr>
              <a:t>Post-Processing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77133A27-DBCD-5648-E637-26E9C1C57317}"/>
              </a:ext>
            </a:extLst>
          </p:cNvPr>
          <p:cNvSpPr txBox="1"/>
          <p:nvPr/>
        </p:nvSpPr>
        <p:spPr>
          <a:xfrm>
            <a:off x="639873" y="1201692"/>
            <a:ext cx="610933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it-IT" sz="2800" b="1" dirty="0">
                <a:latin typeface="Aptos" panose="020B0004020202020204" pitchFamily="34" charset="0"/>
              </a:rPr>
              <a:t>Es. Fusion3</a:t>
            </a:r>
            <a:endParaRPr lang="it-IT" sz="2800" dirty="0">
              <a:latin typeface="Aptos" panose="020B0004020202020204" pitchFamily="34" charset="0"/>
            </a:endParaRPr>
          </a:p>
        </p:txBody>
      </p:sp>
      <p:grpSp>
        <p:nvGrpSpPr>
          <p:cNvPr id="6" name="object 9">
            <a:extLst>
              <a:ext uri="{FF2B5EF4-FFF2-40B4-BE49-F238E27FC236}">
                <a16:creationId xmlns:a16="http://schemas.microsoft.com/office/drawing/2014/main" id="{95955274-8E1B-5361-5229-F20368C88938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7" name="object 10">
              <a:extLst>
                <a:ext uri="{FF2B5EF4-FFF2-40B4-BE49-F238E27FC236}">
                  <a16:creationId xmlns:a16="http://schemas.microsoft.com/office/drawing/2014/main" id="{F8D935B3-449B-0F5C-018B-1794D4406072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11">
              <a:extLst>
                <a:ext uri="{FF2B5EF4-FFF2-40B4-BE49-F238E27FC236}">
                  <a16:creationId xmlns:a16="http://schemas.microsoft.com/office/drawing/2014/main" id="{5ABCC1E9-5E2B-848B-C553-3AFF95D1C1CB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75EABA1C-862A-D10F-BA1F-CD8B3E922085}"/>
              </a:ext>
            </a:extLst>
          </p:cNvPr>
          <p:cNvSpPr txBox="1"/>
          <p:nvPr/>
        </p:nvSpPr>
        <p:spPr>
          <a:xfrm>
            <a:off x="11671423" y="6480829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20</a:t>
            </a:r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6FC604BD-67DF-4850-ED49-8374DF86A008}"/>
              </a:ext>
            </a:extLst>
          </p:cNvPr>
          <p:cNvSpPr txBox="1"/>
          <p:nvPr/>
        </p:nvSpPr>
        <p:spPr>
          <a:xfrm>
            <a:off x="82177" y="6465351"/>
            <a:ext cx="52811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Segmentazione di Tumori Cerebrali in Immagini MRI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7EE2229B-012F-844D-6E60-CC686B1BC6E7}"/>
              </a:ext>
            </a:extLst>
          </p:cNvPr>
          <p:cNvSpPr txBox="1"/>
          <p:nvPr/>
        </p:nvSpPr>
        <p:spPr>
          <a:xfrm>
            <a:off x="572276" y="1997167"/>
            <a:ext cx="7424057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it-IT" sz="2800" b="1" dirty="0">
                <a:latin typeface="Aptos" panose="020B0004020202020204" pitchFamily="34" charset="0"/>
              </a:rPr>
              <a:t>Obiettivo: </a:t>
            </a:r>
            <a:r>
              <a:rPr lang="it-IT" sz="2800" dirty="0">
                <a:latin typeface="Aptos" panose="020B0004020202020204" pitchFamily="34" charset="0"/>
              </a:rPr>
              <a:t>rifinire la maschera ottenuta e rimuovere regioni spurie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endParaRPr lang="it-IT" sz="2800" dirty="0">
              <a:latin typeface="Aptos" panose="020B0004020202020204" pitchFamily="34" charset="0"/>
            </a:endParaRPr>
          </a:p>
          <a:p>
            <a:pPr marL="514350" indent="-514350" algn="just">
              <a:buFont typeface="+mj-lt"/>
              <a:buAutoNum type="arabicPeriod"/>
            </a:pPr>
            <a:r>
              <a:rPr lang="it-IT" sz="2800" dirty="0">
                <a:latin typeface="Aptos" panose="020B0004020202020204" pitchFamily="34" charset="0"/>
              </a:rPr>
              <a:t>Chiusura morfologica e riempimento dei vuoti</a:t>
            </a:r>
          </a:p>
          <a:p>
            <a:pPr marL="514350" indent="-514350" algn="just">
              <a:buFont typeface="+mj-lt"/>
              <a:buAutoNum type="arabicPeriod"/>
            </a:pPr>
            <a:r>
              <a:rPr lang="it-IT" sz="2800" dirty="0">
                <a:latin typeface="Aptos" panose="020B0004020202020204" pitchFamily="34" charset="0"/>
              </a:rPr>
              <a:t>Eliminazione di piccole regioni non significative</a:t>
            </a:r>
          </a:p>
          <a:p>
            <a:pPr marL="514350" indent="-514350" algn="just">
              <a:buFont typeface="+mj-lt"/>
              <a:buAutoNum type="arabicPeriod"/>
            </a:pPr>
            <a:r>
              <a:rPr lang="it-IT" sz="2800" dirty="0">
                <a:latin typeface="Aptos" panose="020B0004020202020204" pitchFamily="34" charset="0"/>
              </a:rPr>
              <a:t>Selezione della componente connessa principale</a:t>
            </a:r>
          </a:p>
        </p:txBody>
      </p:sp>
      <p:grpSp>
        <p:nvGrpSpPr>
          <p:cNvPr id="13" name="Gruppo 12">
            <a:extLst>
              <a:ext uri="{FF2B5EF4-FFF2-40B4-BE49-F238E27FC236}">
                <a16:creationId xmlns:a16="http://schemas.microsoft.com/office/drawing/2014/main" id="{DDAA66E1-B956-CF89-83F9-382CEC999077}"/>
              </a:ext>
            </a:extLst>
          </p:cNvPr>
          <p:cNvGrpSpPr/>
          <p:nvPr/>
        </p:nvGrpSpPr>
        <p:grpSpPr>
          <a:xfrm>
            <a:off x="8565487" y="334345"/>
            <a:ext cx="3036938" cy="6062806"/>
            <a:chOff x="8369545" y="238401"/>
            <a:chExt cx="3036938" cy="6062806"/>
          </a:xfrm>
        </p:grpSpPr>
        <p:pic>
          <p:nvPicPr>
            <p:cNvPr id="3" name="Immagine 2">
              <a:extLst>
                <a:ext uri="{FF2B5EF4-FFF2-40B4-BE49-F238E27FC236}">
                  <a16:creationId xmlns:a16="http://schemas.microsoft.com/office/drawing/2014/main" id="{6E04F957-8994-B0DD-790E-E15D377FC22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1223" t="17021" r="52202" b="22348"/>
            <a:stretch>
              <a:fillRect/>
            </a:stretch>
          </p:blipFill>
          <p:spPr>
            <a:xfrm>
              <a:off x="8369545" y="238401"/>
              <a:ext cx="3036937" cy="3031403"/>
            </a:xfrm>
            <a:prstGeom prst="rect">
              <a:avLst/>
            </a:prstGeom>
          </p:spPr>
        </p:pic>
        <p:pic>
          <p:nvPicPr>
            <p:cNvPr id="12" name="Immagine 11">
              <a:extLst>
                <a:ext uri="{FF2B5EF4-FFF2-40B4-BE49-F238E27FC236}">
                  <a16:creationId xmlns:a16="http://schemas.microsoft.com/office/drawing/2014/main" id="{CA2BACFE-7D70-2DC9-F789-AC2FD6021A7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5332" t="17021" r="8092" b="22348"/>
            <a:stretch>
              <a:fillRect/>
            </a:stretch>
          </p:blipFill>
          <p:spPr>
            <a:xfrm>
              <a:off x="8369546" y="3269804"/>
              <a:ext cx="3036937" cy="303140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06484981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18063A84-A79C-DFF6-DE6B-D59EA582B8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sellaDiTesto 4">
            <a:extLst>
              <a:ext uri="{FF2B5EF4-FFF2-40B4-BE49-F238E27FC236}">
                <a16:creationId xmlns:a16="http://schemas.microsoft.com/office/drawing/2014/main" id="{65C01E97-E63C-E1EF-EDA3-54F542AE7309}"/>
              </a:ext>
            </a:extLst>
          </p:cNvPr>
          <p:cNvSpPr txBox="1"/>
          <p:nvPr/>
        </p:nvSpPr>
        <p:spPr>
          <a:xfrm>
            <a:off x="609600" y="381000"/>
            <a:ext cx="313098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6000" b="1" dirty="0">
                <a:latin typeface="Aptos" panose="020B0004020202020204" pitchFamily="34" charset="0"/>
              </a:rPr>
              <a:t>Risultati</a:t>
            </a:r>
          </a:p>
        </p:txBody>
      </p:sp>
      <p:grpSp>
        <p:nvGrpSpPr>
          <p:cNvPr id="4" name="object 9">
            <a:extLst>
              <a:ext uri="{FF2B5EF4-FFF2-40B4-BE49-F238E27FC236}">
                <a16:creationId xmlns:a16="http://schemas.microsoft.com/office/drawing/2014/main" id="{BB649D98-B8AE-E041-3CDC-684FBCE0968C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6" name="object 10">
              <a:extLst>
                <a:ext uri="{FF2B5EF4-FFF2-40B4-BE49-F238E27FC236}">
                  <a16:creationId xmlns:a16="http://schemas.microsoft.com/office/drawing/2014/main" id="{6CFB9A1E-3273-859E-A1F5-68F97DF81949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7D17E7DC-CA6B-ED93-11A9-96A0396C9B7B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C3F6FD0B-E5CE-2E0A-E828-5B3AAC5E54B0}"/>
              </a:ext>
            </a:extLst>
          </p:cNvPr>
          <p:cNvSpPr txBox="1"/>
          <p:nvPr/>
        </p:nvSpPr>
        <p:spPr>
          <a:xfrm>
            <a:off x="11671424" y="6480829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21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517CF2E1-408B-4283-A62B-E8031EB2AB6E}"/>
              </a:ext>
            </a:extLst>
          </p:cNvPr>
          <p:cNvSpPr txBox="1"/>
          <p:nvPr/>
        </p:nvSpPr>
        <p:spPr>
          <a:xfrm>
            <a:off x="82177" y="6465351"/>
            <a:ext cx="52811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Segmentazione di Tumori Cerebrali in Immagini MRI</a:t>
            </a:r>
          </a:p>
        </p:txBody>
      </p:sp>
      <p:graphicFrame>
        <p:nvGraphicFramePr>
          <p:cNvPr id="3" name="Tabella 2">
            <a:extLst>
              <a:ext uri="{FF2B5EF4-FFF2-40B4-BE49-F238E27FC236}">
                <a16:creationId xmlns:a16="http://schemas.microsoft.com/office/drawing/2014/main" id="{06EA26A7-EAE8-D9F3-EABB-B3DD9D6B105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25662229"/>
              </p:ext>
            </p:extLst>
          </p:nvPr>
        </p:nvGraphicFramePr>
        <p:xfrm>
          <a:off x="746125" y="3646662"/>
          <a:ext cx="8128000" cy="2306577"/>
        </p:xfrm>
        <a:graphic>
          <a:graphicData uri="http://schemas.openxmlformats.org/drawingml/2006/table">
            <a:tbl>
              <a:tblPr firstRow="1" bandRow="1">
                <a:tableStyleId>{8EC20E35-A176-4012-BC5E-935CFFF8708E}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38147791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953155594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9363676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382885218"/>
                    </a:ext>
                  </a:extLst>
                </a:gridCol>
              </a:tblGrid>
              <a:tr h="45237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dirty="0">
                          <a:latin typeface="Aptos" panose="020B0004020202020204" pitchFamily="34" charset="0"/>
                        </a:rPr>
                        <a:t>Configurazione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dirty="0">
                          <a:latin typeface="Aptos" panose="020B0004020202020204" pitchFamily="34" charset="0"/>
                        </a:rPr>
                        <a:t>Dice Score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>
                          <a:latin typeface="Aptos" panose="020B0004020202020204" pitchFamily="34" charset="0"/>
                        </a:rPr>
                        <a:t>Sensitivity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dirty="0">
                          <a:latin typeface="Aptos" panose="020B0004020202020204" pitchFamily="34" charset="0"/>
                        </a:rPr>
                        <a:t>Precision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563283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>
                          <a:latin typeface="Aptos" panose="020B0004020202020204" pitchFamily="34" charset="0"/>
                        </a:rPr>
                        <a:t>FLAIR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dirty="0">
                          <a:latin typeface="Aptos" panose="020B0004020202020204" pitchFamily="34" charset="0"/>
                        </a:rPr>
                        <a:t>0.795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>
                          <a:latin typeface="Aptos" panose="020B0004020202020204" pitchFamily="34" charset="0"/>
                        </a:rPr>
                        <a:t>0.765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>
                          <a:latin typeface="Aptos" panose="020B0004020202020204" pitchFamily="34" charset="0"/>
                        </a:rPr>
                        <a:t>0.900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295539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dirty="0">
                          <a:latin typeface="Aptos" panose="020B0004020202020204" pitchFamily="34" charset="0"/>
                        </a:rPr>
                        <a:t>T1c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>
                          <a:latin typeface="Aptos" panose="020B0004020202020204" pitchFamily="34" charset="0"/>
                        </a:rPr>
                        <a:t>0.195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>
                          <a:latin typeface="Aptos" panose="020B0004020202020204" pitchFamily="34" charset="0"/>
                        </a:rPr>
                        <a:t>0.178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>
                          <a:latin typeface="Aptos" panose="020B0004020202020204" pitchFamily="34" charset="0"/>
                        </a:rPr>
                        <a:t>0.886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900327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>
                          <a:latin typeface="Aptos" panose="020B0004020202020204" pitchFamily="34" charset="0"/>
                        </a:rPr>
                        <a:t>T2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dirty="0">
                          <a:latin typeface="Aptos" panose="020B0004020202020204" pitchFamily="34" charset="0"/>
                        </a:rPr>
                        <a:t>0.520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dirty="0">
                          <a:latin typeface="Aptos" panose="020B0004020202020204" pitchFamily="34" charset="0"/>
                        </a:rPr>
                        <a:t>0.428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>
                          <a:latin typeface="Aptos" panose="020B0004020202020204" pitchFamily="34" charset="0"/>
                        </a:rPr>
                        <a:t>0.893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818513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>
                          <a:latin typeface="Aptos" panose="020B0004020202020204" pitchFamily="34" charset="0"/>
                        </a:rPr>
                        <a:t>Fusion2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>
                          <a:latin typeface="Aptos" panose="020B0004020202020204" pitchFamily="34" charset="0"/>
                        </a:rPr>
                        <a:t>0.755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>
                          <a:latin typeface="Aptos" panose="020B0004020202020204" pitchFamily="34" charset="0"/>
                        </a:rPr>
                        <a:t>0.767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dirty="0">
                          <a:latin typeface="Aptos" panose="020B0004020202020204" pitchFamily="34" charset="0"/>
                        </a:rPr>
                        <a:t>0.842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71335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b="1" dirty="0">
                          <a:latin typeface="Aptos" panose="020B0004020202020204" pitchFamily="34" charset="0"/>
                        </a:rPr>
                        <a:t>Fusion3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b="1" dirty="0">
                          <a:latin typeface="Aptos" panose="020B0004020202020204" pitchFamily="34" charset="0"/>
                        </a:rPr>
                        <a:t>0.806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b="1" dirty="0">
                          <a:latin typeface="Aptos" panose="020B0004020202020204" pitchFamily="34" charset="0"/>
                        </a:rPr>
                        <a:t>0.744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b="1" dirty="0">
                          <a:latin typeface="Aptos" panose="020B0004020202020204" pitchFamily="34" charset="0"/>
                        </a:rPr>
                        <a:t>0.935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90209419"/>
                  </a:ext>
                </a:extLst>
              </a:tr>
            </a:tbl>
          </a:graphicData>
        </a:graphic>
      </p:graphicFrame>
      <p:sp>
        <p:nvSpPr>
          <p:cNvPr id="23" name="CasellaDiTesto 22">
            <a:extLst>
              <a:ext uri="{FF2B5EF4-FFF2-40B4-BE49-F238E27FC236}">
                <a16:creationId xmlns:a16="http://schemas.microsoft.com/office/drawing/2014/main" id="{B33A6F0E-F6FD-E55C-F706-CEF8BE619147}"/>
              </a:ext>
            </a:extLst>
          </p:cNvPr>
          <p:cNvSpPr txBox="1"/>
          <p:nvPr/>
        </p:nvSpPr>
        <p:spPr>
          <a:xfrm>
            <a:off x="657225" y="1488756"/>
            <a:ext cx="8305800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it-IT" sz="2800" b="1" dirty="0">
                <a:latin typeface="Aptos" panose="020B0004020202020204" pitchFamily="34" charset="0"/>
              </a:rPr>
              <a:t>Metriche Numeriche Aggregate</a:t>
            </a:r>
          </a:p>
          <a:p>
            <a:pPr marL="514350" indent="-514350" algn="just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Fusion3 migliore in media su tutto il dataset</a:t>
            </a:r>
          </a:p>
          <a:p>
            <a:pPr marL="514350" indent="-514350" algn="just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FLAIR buona singolarmente</a:t>
            </a:r>
          </a:p>
          <a:p>
            <a:pPr marL="514350" indent="-514350" algn="just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T1c precisa ma spesso incompleta</a:t>
            </a:r>
          </a:p>
        </p:txBody>
      </p:sp>
      <p:pic>
        <p:nvPicPr>
          <p:cNvPr id="9" name="Immagine 8">
            <a:extLst>
              <a:ext uri="{FF2B5EF4-FFF2-40B4-BE49-F238E27FC236}">
                <a16:creationId xmlns:a16="http://schemas.microsoft.com/office/drawing/2014/main" id="{FAEB2E43-7EA2-9759-6545-E08D0EF430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05850" y="1772927"/>
            <a:ext cx="3181338" cy="1245705"/>
          </a:xfrm>
          <a:prstGeom prst="rect">
            <a:avLst/>
          </a:prstGeom>
        </p:spPr>
      </p:pic>
      <p:grpSp>
        <p:nvGrpSpPr>
          <p:cNvPr id="19" name="Gruppo 18">
            <a:extLst>
              <a:ext uri="{FF2B5EF4-FFF2-40B4-BE49-F238E27FC236}">
                <a16:creationId xmlns:a16="http://schemas.microsoft.com/office/drawing/2014/main" id="{51E0F49B-30E2-9BFB-5EE6-2FBD6B20B75A}"/>
              </a:ext>
            </a:extLst>
          </p:cNvPr>
          <p:cNvGrpSpPr/>
          <p:nvPr/>
        </p:nvGrpSpPr>
        <p:grpSpPr>
          <a:xfrm>
            <a:off x="9048766" y="3749934"/>
            <a:ext cx="2762222" cy="2100033"/>
            <a:chOff x="9124966" y="3731590"/>
            <a:chExt cx="2762222" cy="2100033"/>
          </a:xfrm>
        </p:grpSpPr>
        <p:pic>
          <p:nvPicPr>
            <p:cNvPr id="12" name="Immagine 11">
              <a:extLst>
                <a:ext uri="{FF2B5EF4-FFF2-40B4-BE49-F238E27FC236}">
                  <a16:creationId xmlns:a16="http://schemas.microsoft.com/office/drawing/2014/main" id="{6DEF68A5-76FE-8795-124A-8D4A0B76311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124966" y="3731590"/>
              <a:ext cx="2762222" cy="647069"/>
            </a:xfrm>
            <a:prstGeom prst="rect">
              <a:avLst/>
            </a:prstGeom>
          </p:spPr>
        </p:pic>
        <p:pic>
          <p:nvPicPr>
            <p:cNvPr id="16" name="Immagine 15">
              <a:extLst>
                <a:ext uri="{FF2B5EF4-FFF2-40B4-BE49-F238E27FC236}">
                  <a16:creationId xmlns:a16="http://schemas.microsoft.com/office/drawing/2014/main" id="{EBFC6D92-A27B-3CE1-82B3-C2D49576D32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124966" y="4465385"/>
              <a:ext cx="2762222" cy="627468"/>
            </a:xfrm>
            <a:prstGeom prst="rect">
              <a:avLst/>
            </a:prstGeom>
          </p:spPr>
        </p:pic>
        <p:pic>
          <p:nvPicPr>
            <p:cNvPr id="18" name="Immagine 17">
              <a:extLst>
                <a:ext uri="{FF2B5EF4-FFF2-40B4-BE49-F238E27FC236}">
                  <a16:creationId xmlns:a16="http://schemas.microsoft.com/office/drawing/2014/main" id="{F833A282-90A9-D70E-FD66-DFA4D000DD4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9167279" y="5266304"/>
              <a:ext cx="2395876" cy="56531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15118169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A6782DC5-51BF-6707-4E0B-14D46471BF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sellaDiTesto 4">
            <a:extLst>
              <a:ext uri="{FF2B5EF4-FFF2-40B4-BE49-F238E27FC236}">
                <a16:creationId xmlns:a16="http://schemas.microsoft.com/office/drawing/2014/main" id="{F0B9BBB0-58BA-9815-1881-886BE346560C}"/>
              </a:ext>
            </a:extLst>
          </p:cNvPr>
          <p:cNvSpPr txBox="1"/>
          <p:nvPr/>
        </p:nvSpPr>
        <p:spPr>
          <a:xfrm>
            <a:off x="609600" y="381000"/>
            <a:ext cx="313098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6000" b="1" dirty="0">
                <a:latin typeface="Aptos" panose="020B0004020202020204" pitchFamily="34" charset="0"/>
              </a:rPr>
              <a:t>Risultati</a:t>
            </a:r>
          </a:p>
        </p:txBody>
      </p:sp>
      <p:grpSp>
        <p:nvGrpSpPr>
          <p:cNvPr id="4" name="object 9">
            <a:extLst>
              <a:ext uri="{FF2B5EF4-FFF2-40B4-BE49-F238E27FC236}">
                <a16:creationId xmlns:a16="http://schemas.microsoft.com/office/drawing/2014/main" id="{7F8ECB76-3F82-D3DF-5380-6E007B733AC8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6" name="object 10">
              <a:extLst>
                <a:ext uri="{FF2B5EF4-FFF2-40B4-BE49-F238E27FC236}">
                  <a16:creationId xmlns:a16="http://schemas.microsoft.com/office/drawing/2014/main" id="{C52FD1FE-86F2-3F20-10BA-64DD9974532A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D4A0F0F2-86CF-A348-CC38-BDBE51D9FED6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FF71D956-FAC1-D417-16AC-E521D3C6204F}"/>
              </a:ext>
            </a:extLst>
          </p:cNvPr>
          <p:cNvSpPr txBox="1"/>
          <p:nvPr/>
        </p:nvSpPr>
        <p:spPr>
          <a:xfrm>
            <a:off x="11671424" y="6480829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22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14D67425-C849-DA65-B5A8-4D99FB068AB9}"/>
              </a:ext>
            </a:extLst>
          </p:cNvPr>
          <p:cNvSpPr txBox="1"/>
          <p:nvPr/>
        </p:nvSpPr>
        <p:spPr>
          <a:xfrm>
            <a:off x="82177" y="6465351"/>
            <a:ext cx="52811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Segmentazione di Tumori Cerebrali in Immagini MRI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2396C5E0-D0D1-9CA4-C36C-3209EBAF0BAC}"/>
              </a:ext>
            </a:extLst>
          </p:cNvPr>
          <p:cNvSpPr txBox="1"/>
          <p:nvPr/>
        </p:nvSpPr>
        <p:spPr>
          <a:xfrm>
            <a:off x="657225" y="1488756"/>
            <a:ext cx="9810750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it-IT" sz="2800" b="1" dirty="0">
                <a:latin typeface="Aptos" panose="020B0004020202020204" pitchFamily="34" charset="0"/>
              </a:rPr>
              <a:t>Casi Rappresentativi</a:t>
            </a:r>
          </a:p>
          <a:p>
            <a:pPr marL="514350" indent="-514350" algn="just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La multimodalità non migliora sempre</a:t>
            </a:r>
          </a:p>
          <a:p>
            <a:pPr marL="514350" indent="-514350" algn="just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Fusion3 è spesso la migliore, ma non in tutti i casi</a:t>
            </a:r>
          </a:p>
          <a:p>
            <a:pPr marL="514350" indent="-514350" algn="just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Esistono casi in cui la pipeline fallisce completamente</a:t>
            </a:r>
          </a:p>
        </p:txBody>
      </p:sp>
      <p:graphicFrame>
        <p:nvGraphicFramePr>
          <p:cNvPr id="7" name="Tabella 6">
            <a:extLst>
              <a:ext uri="{FF2B5EF4-FFF2-40B4-BE49-F238E27FC236}">
                <a16:creationId xmlns:a16="http://schemas.microsoft.com/office/drawing/2014/main" id="{E4DDC3C4-7C3B-170E-E847-DE3128DF8C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04731957"/>
              </p:ext>
            </p:extLst>
          </p:nvPr>
        </p:nvGraphicFramePr>
        <p:xfrm>
          <a:off x="657225" y="3913923"/>
          <a:ext cx="7797800" cy="1942143"/>
        </p:xfrm>
        <a:graphic>
          <a:graphicData uri="http://schemas.openxmlformats.org/drawingml/2006/table">
            <a:tbl>
              <a:tblPr firstRow="1" bandRow="1">
                <a:tableStyleId>{8EC20E35-A176-4012-BC5E-935CFFF8708E}</a:tableStyleId>
              </a:tblPr>
              <a:tblGrid>
                <a:gridCol w="1651318">
                  <a:extLst>
                    <a:ext uri="{9D8B030D-6E8A-4147-A177-3AD203B41FA5}">
                      <a16:colId xmlns:a16="http://schemas.microsoft.com/office/drawing/2014/main" val="1381477919"/>
                    </a:ext>
                  </a:extLst>
                </a:gridCol>
                <a:gridCol w="1211580">
                  <a:extLst>
                    <a:ext uri="{9D8B030D-6E8A-4147-A177-3AD203B41FA5}">
                      <a16:colId xmlns:a16="http://schemas.microsoft.com/office/drawing/2014/main" val="1953155594"/>
                    </a:ext>
                  </a:extLst>
                </a:gridCol>
                <a:gridCol w="1205230">
                  <a:extLst>
                    <a:ext uri="{9D8B030D-6E8A-4147-A177-3AD203B41FA5}">
                      <a16:colId xmlns:a16="http://schemas.microsoft.com/office/drawing/2014/main" val="193636761"/>
                    </a:ext>
                  </a:extLst>
                </a:gridCol>
                <a:gridCol w="1087755">
                  <a:extLst>
                    <a:ext uri="{9D8B030D-6E8A-4147-A177-3AD203B41FA5}">
                      <a16:colId xmlns:a16="http://schemas.microsoft.com/office/drawing/2014/main" val="2382885218"/>
                    </a:ext>
                  </a:extLst>
                </a:gridCol>
                <a:gridCol w="1346517">
                  <a:extLst>
                    <a:ext uri="{9D8B030D-6E8A-4147-A177-3AD203B41FA5}">
                      <a16:colId xmlns:a16="http://schemas.microsoft.com/office/drawing/2014/main" val="1584489291"/>
                    </a:ext>
                  </a:extLst>
                </a:gridCol>
                <a:gridCol w="1295400">
                  <a:extLst>
                    <a:ext uri="{9D8B030D-6E8A-4147-A177-3AD203B41FA5}">
                      <a16:colId xmlns:a16="http://schemas.microsoft.com/office/drawing/2014/main" val="3143600087"/>
                    </a:ext>
                  </a:extLst>
                </a:gridCol>
              </a:tblGrid>
              <a:tr h="45878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b="1">
                          <a:latin typeface="Aptos" panose="020B0004020202020204" pitchFamily="34" charset="0"/>
                        </a:rPr>
                        <a:t>Paziente</a:t>
                      </a:r>
                      <a:endParaRPr lang="it-IT">
                        <a:latin typeface="Aptos" panose="020B00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b="1" dirty="0">
                          <a:latin typeface="Aptos" panose="020B0004020202020204" pitchFamily="34" charset="0"/>
                        </a:rPr>
                        <a:t>FLAIR</a:t>
                      </a:r>
                      <a:endParaRPr lang="it-IT" dirty="0">
                        <a:latin typeface="Aptos" panose="020B00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b="1">
                          <a:latin typeface="Aptos" panose="020B0004020202020204" pitchFamily="34" charset="0"/>
                        </a:rPr>
                        <a:t>T1c</a:t>
                      </a:r>
                      <a:endParaRPr lang="it-IT">
                        <a:latin typeface="Aptos" panose="020B00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b="1">
                          <a:latin typeface="Aptos" panose="020B0004020202020204" pitchFamily="34" charset="0"/>
                        </a:rPr>
                        <a:t>T2</a:t>
                      </a:r>
                      <a:endParaRPr lang="it-IT">
                        <a:latin typeface="Aptos" panose="020B00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b="1">
                          <a:latin typeface="Aptos" panose="020B0004020202020204" pitchFamily="34" charset="0"/>
                        </a:rPr>
                        <a:t>Fusion2</a:t>
                      </a:r>
                      <a:endParaRPr lang="it-IT">
                        <a:latin typeface="Aptos" panose="020B00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b="1" dirty="0">
                          <a:latin typeface="Aptos" panose="020B0004020202020204" pitchFamily="34" charset="0"/>
                        </a:rPr>
                        <a:t>Fusion3</a:t>
                      </a:r>
                      <a:endParaRPr lang="it-IT" dirty="0">
                        <a:latin typeface="Aptos" panose="020B00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563283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b="1">
                          <a:latin typeface="Aptos" panose="020B0004020202020204" pitchFamily="34" charset="0"/>
                        </a:rPr>
                        <a:t>BRATS_128</a:t>
                      </a:r>
                      <a:endParaRPr lang="it-IT">
                        <a:latin typeface="Aptos" panose="020B00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>
                          <a:latin typeface="Aptos" panose="020B0004020202020204" pitchFamily="34" charset="0"/>
                        </a:rPr>
                        <a:t>0.879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>
                          <a:latin typeface="Aptos" panose="020B0004020202020204" pitchFamily="34" charset="0"/>
                        </a:rPr>
                        <a:t>0.048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>
                          <a:latin typeface="Aptos" panose="020B0004020202020204" pitchFamily="34" charset="0"/>
                        </a:rPr>
                        <a:t>0.645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>
                          <a:latin typeface="Aptos" panose="020B0004020202020204" pitchFamily="34" charset="0"/>
                        </a:rPr>
                        <a:t>0.318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b="1">
                          <a:latin typeface="Aptos" panose="020B0004020202020204" pitchFamily="34" charset="0"/>
                        </a:rPr>
                        <a:t>0.963</a:t>
                      </a:r>
                      <a:endParaRPr lang="it-IT">
                        <a:latin typeface="Aptos" panose="020B00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295539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b="1" dirty="0">
                          <a:latin typeface="Aptos" panose="020B0004020202020204" pitchFamily="34" charset="0"/>
                        </a:rPr>
                        <a:t>BRATS_248</a:t>
                      </a:r>
                      <a:endParaRPr lang="it-IT" dirty="0">
                        <a:latin typeface="Aptos" panose="020B00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b="1">
                          <a:latin typeface="Aptos" panose="020B0004020202020204" pitchFamily="34" charset="0"/>
                        </a:rPr>
                        <a:t>0.974</a:t>
                      </a:r>
                      <a:endParaRPr lang="it-IT">
                        <a:latin typeface="Aptos" panose="020B00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>
                          <a:latin typeface="Aptos" panose="020B0004020202020204" pitchFamily="34" charset="0"/>
                        </a:rPr>
                        <a:t>0.534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>
                          <a:latin typeface="Aptos" panose="020B0004020202020204" pitchFamily="34" charset="0"/>
                        </a:rPr>
                        <a:t>0.396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>
                          <a:latin typeface="Aptos" panose="020B0004020202020204" pitchFamily="34" charset="0"/>
                        </a:rPr>
                        <a:t>0.967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>
                          <a:latin typeface="Aptos" panose="020B0004020202020204" pitchFamily="34" charset="0"/>
                        </a:rPr>
                        <a:t>0.963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900327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b="1">
                          <a:latin typeface="Aptos" panose="020B0004020202020204" pitchFamily="34" charset="0"/>
                        </a:rPr>
                        <a:t>BRATS_140</a:t>
                      </a:r>
                      <a:endParaRPr lang="it-IT">
                        <a:latin typeface="Aptos" panose="020B00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dirty="0">
                          <a:latin typeface="Aptos" panose="020B0004020202020204" pitchFamily="34" charset="0"/>
                        </a:rPr>
                        <a:t>0.271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>
                          <a:latin typeface="Aptos" panose="020B0004020202020204" pitchFamily="34" charset="0"/>
                        </a:rPr>
                        <a:t>0.000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>
                          <a:latin typeface="Aptos" panose="020B0004020202020204" pitchFamily="34" charset="0"/>
                        </a:rPr>
                        <a:t>0.002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b="1">
                          <a:latin typeface="Aptos" panose="020B0004020202020204" pitchFamily="34" charset="0"/>
                        </a:rPr>
                        <a:t>0.680</a:t>
                      </a:r>
                      <a:endParaRPr lang="it-IT">
                        <a:latin typeface="Aptos" panose="020B00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>
                          <a:latin typeface="Aptos" panose="020B0004020202020204" pitchFamily="34" charset="0"/>
                        </a:rPr>
                        <a:t>0.000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818513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b="1">
                          <a:latin typeface="Aptos" panose="020B0004020202020204" pitchFamily="34" charset="0"/>
                        </a:rPr>
                        <a:t>BRATS_380</a:t>
                      </a:r>
                      <a:endParaRPr lang="it-IT">
                        <a:latin typeface="Aptos" panose="020B00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>
                          <a:latin typeface="Aptos" panose="020B0004020202020204" pitchFamily="34" charset="0"/>
                        </a:rPr>
                        <a:t>0.000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dirty="0">
                          <a:latin typeface="Aptos" panose="020B0004020202020204" pitchFamily="34" charset="0"/>
                        </a:rPr>
                        <a:t>0.000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>
                          <a:latin typeface="Aptos" panose="020B0004020202020204" pitchFamily="34" charset="0"/>
                        </a:rPr>
                        <a:t>0.000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dirty="0">
                          <a:latin typeface="Aptos" panose="020B0004020202020204" pitchFamily="34" charset="0"/>
                        </a:rPr>
                        <a:t>0.000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dirty="0">
                          <a:latin typeface="Aptos" panose="020B0004020202020204" pitchFamily="34" charset="0"/>
                        </a:rPr>
                        <a:t>0.000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7133538"/>
                  </a:ext>
                </a:extLst>
              </a:tr>
            </a:tbl>
          </a:graphicData>
        </a:graphic>
      </p:graphicFrame>
      <p:sp>
        <p:nvSpPr>
          <p:cNvPr id="8" name="CasellaDiTesto 7">
            <a:extLst>
              <a:ext uri="{FF2B5EF4-FFF2-40B4-BE49-F238E27FC236}">
                <a16:creationId xmlns:a16="http://schemas.microsoft.com/office/drawing/2014/main" id="{B10E620F-3D13-1C6B-DA4B-FBA91D19DD2B}"/>
              </a:ext>
            </a:extLst>
          </p:cNvPr>
          <p:cNvSpPr txBox="1"/>
          <p:nvPr/>
        </p:nvSpPr>
        <p:spPr>
          <a:xfrm>
            <a:off x="9109187" y="3453833"/>
            <a:ext cx="2562237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it-IT" sz="2800" b="1" dirty="0">
                <a:latin typeface="Aptos" panose="020B0004020202020204" pitchFamily="34" charset="0"/>
              </a:rPr>
              <a:t>Casi Migliori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BRATS_128</a:t>
            </a:r>
          </a:p>
          <a:p>
            <a:pPr marL="457200" lvl="1" indent="-457200" algn="just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BRATS_248</a:t>
            </a:r>
          </a:p>
          <a:p>
            <a:pPr marL="457200" lvl="1" indent="-457200" algn="just">
              <a:buFont typeface="Arial" panose="020B0604020202020204" pitchFamily="34" charset="0"/>
              <a:buChar char="•"/>
            </a:pPr>
            <a:endParaRPr lang="it-IT" sz="1050" b="1" dirty="0">
              <a:latin typeface="Aptos" panose="020B0004020202020204" pitchFamily="34" charset="0"/>
            </a:endParaRPr>
          </a:p>
          <a:p>
            <a:pPr lvl="1" algn="just"/>
            <a:r>
              <a:rPr lang="it-IT" sz="2800" b="1" dirty="0">
                <a:latin typeface="Aptos" panose="020B0004020202020204" pitchFamily="34" charset="0"/>
              </a:rPr>
              <a:t>Casi Peggiori</a:t>
            </a:r>
          </a:p>
          <a:p>
            <a:pPr marL="457200" lvl="1" indent="-457200" algn="just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BRATS_140</a:t>
            </a:r>
          </a:p>
          <a:p>
            <a:pPr marL="457200" lvl="1" indent="-457200" algn="just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BRATS_380</a:t>
            </a:r>
          </a:p>
        </p:txBody>
      </p:sp>
    </p:spTree>
    <p:extLst>
      <p:ext uri="{BB962C8B-B14F-4D97-AF65-F5344CB8AC3E}">
        <p14:creationId xmlns:p14="http://schemas.microsoft.com/office/powerpoint/2010/main" val="403534937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1C1AB884-08F0-3827-B2D8-CC5974EF1D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uppo 16">
            <a:extLst>
              <a:ext uri="{FF2B5EF4-FFF2-40B4-BE49-F238E27FC236}">
                <a16:creationId xmlns:a16="http://schemas.microsoft.com/office/drawing/2014/main" id="{1C6CA79E-E915-1857-F4D0-E8C834C47307}"/>
              </a:ext>
            </a:extLst>
          </p:cNvPr>
          <p:cNvGrpSpPr/>
          <p:nvPr/>
        </p:nvGrpSpPr>
        <p:grpSpPr>
          <a:xfrm>
            <a:off x="263598" y="1581873"/>
            <a:ext cx="11855303" cy="4346242"/>
            <a:chOff x="247649" y="1625013"/>
            <a:chExt cx="11855303" cy="4346242"/>
          </a:xfrm>
        </p:grpSpPr>
        <p:pic>
          <p:nvPicPr>
            <p:cNvPr id="7" name="Immagine 6">
              <a:extLst>
                <a:ext uri="{FF2B5EF4-FFF2-40B4-BE49-F238E27FC236}">
                  <a16:creationId xmlns:a16="http://schemas.microsoft.com/office/drawing/2014/main" id="{173BF9D1-737B-2457-5AA5-03B79130423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650" r="6833" b="1963"/>
            <a:stretch>
              <a:fillRect/>
            </a:stretch>
          </p:blipFill>
          <p:spPr>
            <a:xfrm>
              <a:off x="6169928" y="1625013"/>
              <a:ext cx="5933024" cy="4346242"/>
            </a:xfrm>
            <a:prstGeom prst="rect">
              <a:avLst/>
            </a:prstGeom>
          </p:spPr>
        </p:pic>
        <p:pic>
          <p:nvPicPr>
            <p:cNvPr id="12" name="Immagine 11">
              <a:extLst>
                <a:ext uri="{FF2B5EF4-FFF2-40B4-BE49-F238E27FC236}">
                  <a16:creationId xmlns:a16="http://schemas.microsoft.com/office/drawing/2014/main" id="{F23085E3-132A-436E-1023-E5A8517BC39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534" r="6949" b="9367"/>
            <a:stretch>
              <a:fillRect/>
            </a:stretch>
          </p:blipFill>
          <p:spPr>
            <a:xfrm>
              <a:off x="247649" y="1625013"/>
              <a:ext cx="5933024" cy="4017993"/>
            </a:xfrm>
            <a:prstGeom prst="rect">
              <a:avLst/>
            </a:prstGeom>
          </p:spPr>
        </p:pic>
      </p:grpSp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2E20B981-42A8-892C-5B8A-6A3D5B51463D}"/>
              </a:ext>
            </a:extLst>
          </p:cNvPr>
          <p:cNvSpPr txBox="1"/>
          <p:nvPr/>
        </p:nvSpPr>
        <p:spPr>
          <a:xfrm>
            <a:off x="639873" y="1127044"/>
            <a:ext cx="687535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it-IT" sz="2800" b="1" dirty="0">
                <a:latin typeface="Aptos" panose="020B0004020202020204" pitchFamily="34" charset="0"/>
              </a:rPr>
              <a:t>Casi Migliori BRATS_128 e BRATS_248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C9F3F82C-91DC-80E9-1E75-7B40894ECA34}"/>
              </a:ext>
            </a:extLst>
          </p:cNvPr>
          <p:cNvSpPr txBox="1"/>
          <p:nvPr/>
        </p:nvSpPr>
        <p:spPr>
          <a:xfrm>
            <a:off x="609600" y="381000"/>
            <a:ext cx="313098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6000" b="1" dirty="0">
                <a:latin typeface="Aptos" panose="020B0004020202020204" pitchFamily="34" charset="0"/>
              </a:rPr>
              <a:t>Risultati</a:t>
            </a:r>
          </a:p>
        </p:txBody>
      </p:sp>
      <p:grpSp>
        <p:nvGrpSpPr>
          <p:cNvPr id="4" name="object 9">
            <a:extLst>
              <a:ext uri="{FF2B5EF4-FFF2-40B4-BE49-F238E27FC236}">
                <a16:creationId xmlns:a16="http://schemas.microsoft.com/office/drawing/2014/main" id="{B4E66E4D-C36C-C2FA-3859-62B2AFCA1C71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6" name="object 10">
              <a:extLst>
                <a:ext uri="{FF2B5EF4-FFF2-40B4-BE49-F238E27FC236}">
                  <a16:creationId xmlns:a16="http://schemas.microsoft.com/office/drawing/2014/main" id="{9DCDA070-549D-5F0B-2171-DE3E34E7ECCD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C1EDD2E7-5B52-57C8-C635-DAEA4A2890E5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2710A6EB-AE84-6EFE-BB57-3DE17C9795CE}"/>
              </a:ext>
            </a:extLst>
          </p:cNvPr>
          <p:cNvSpPr txBox="1"/>
          <p:nvPr/>
        </p:nvSpPr>
        <p:spPr>
          <a:xfrm>
            <a:off x="11671424" y="6480829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23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CBBC1B96-A6FA-3EC4-E11F-2A85E2D047AF}"/>
              </a:ext>
            </a:extLst>
          </p:cNvPr>
          <p:cNvSpPr txBox="1"/>
          <p:nvPr/>
        </p:nvSpPr>
        <p:spPr>
          <a:xfrm>
            <a:off x="82177" y="6465351"/>
            <a:ext cx="52811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Segmentazione di Tumori Cerebrali in Immagini MRI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85F8B297-C28C-515E-38BC-1CF06861BAED}"/>
              </a:ext>
            </a:extLst>
          </p:cNvPr>
          <p:cNvSpPr txBox="1"/>
          <p:nvPr/>
        </p:nvSpPr>
        <p:spPr>
          <a:xfrm>
            <a:off x="263598" y="5662302"/>
            <a:ext cx="11751499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000" dirty="0">
                <a:latin typeface="Aptos" panose="020B0004020202020204" pitchFamily="34" charset="0"/>
              </a:rPr>
              <a:t>BRATS_128: </a:t>
            </a:r>
            <a:r>
              <a:rPr lang="it-IT" sz="2000" dirty="0"/>
              <a:t>Fusion3 beneficia delle informazioni multimodali e ottiene il Dice migliore</a:t>
            </a:r>
            <a:endParaRPr lang="it-IT" sz="2000" dirty="0">
              <a:latin typeface="Aptos" panose="020B0004020202020204" pitchFamily="34" charset="0"/>
            </a:endParaRP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000" dirty="0">
                <a:latin typeface="Aptos" panose="020B0004020202020204" pitchFamily="34" charset="0"/>
              </a:rPr>
              <a:t>BRATS_248: FLAIR già sufficiente e </a:t>
            </a:r>
            <a:r>
              <a:rPr lang="it-IT" sz="2000" dirty="0"/>
              <a:t>la fusione mantiene il risultato elevato</a:t>
            </a:r>
            <a:endParaRPr lang="it-IT" sz="2000" dirty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6432306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43E90F1E-EF6F-FB8A-44E2-84FA290132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uppo 11">
            <a:extLst>
              <a:ext uri="{FF2B5EF4-FFF2-40B4-BE49-F238E27FC236}">
                <a16:creationId xmlns:a16="http://schemas.microsoft.com/office/drawing/2014/main" id="{4F66BCB3-E432-5B6F-B3AE-BC943090DFCF}"/>
              </a:ext>
            </a:extLst>
          </p:cNvPr>
          <p:cNvGrpSpPr/>
          <p:nvPr/>
        </p:nvGrpSpPr>
        <p:grpSpPr>
          <a:xfrm>
            <a:off x="206448" y="1603320"/>
            <a:ext cx="11928402" cy="4385262"/>
            <a:chOff x="206448" y="1751840"/>
            <a:chExt cx="11928402" cy="4385262"/>
          </a:xfrm>
        </p:grpSpPr>
        <p:pic>
          <p:nvPicPr>
            <p:cNvPr id="19" name="Immagine 18">
              <a:extLst>
                <a:ext uri="{FF2B5EF4-FFF2-40B4-BE49-F238E27FC236}">
                  <a16:creationId xmlns:a16="http://schemas.microsoft.com/office/drawing/2014/main" id="{0086903E-EE52-8883-C566-EFC67F6ED62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653" r="5876" b="9517"/>
            <a:stretch>
              <a:fillRect/>
            </a:stretch>
          </p:blipFill>
          <p:spPr>
            <a:xfrm>
              <a:off x="206448" y="1751841"/>
              <a:ext cx="6051477" cy="4043504"/>
            </a:xfrm>
            <a:prstGeom prst="rect">
              <a:avLst/>
            </a:prstGeom>
          </p:spPr>
        </p:pic>
        <p:pic>
          <p:nvPicPr>
            <p:cNvPr id="9" name="Immagine 8">
              <a:extLst>
                <a:ext uri="{FF2B5EF4-FFF2-40B4-BE49-F238E27FC236}">
                  <a16:creationId xmlns:a16="http://schemas.microsoft.com/office/drawing/2014/main" id="{7D476E0B-4772-CCD0-9C4F-DCA28F86FD4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694" r="6789" b="1731"/>
            <a:stretch>
              <a:fillRect/>
            </a:stretch>
          </p:blipFill>
          <p:spPr>
            <a:xfrm>
              <a:off x="6162675" y="1751840"/>
              <a:ext cx="5972175" cy="4385262"/>
            </a:xfrm>
            <a:prstGeom prst="rect">
              <a:avLst/>
            </a:prstGeom>
          </p:spPr>
        </p:pic>
      </p:grp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7CB911BE-F9CC-019E-B7CE-16ECBB830C57}"/>
              </a:ext>
            </a:extLst>
          </p:cNvPr>
          <p:cNvSpPr txBox="1"/>
          <p:nvPr/>
        </p:nvSpPr>
        <p:spPr>
          <a:xfrm>
            <a:off x="609600" y="381000"/>
            <a:ext cx="313098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6000" b="1" dirty="0">
                <a:latin typeface="Aptos" panose="020B0004020202020204" pitchFamily="34" charset="0"/>
              </a:rPr>
              <a:t>Risultati</a:t>
            </a:r>
          </a:p>
        </p:txBody>
      </p:sp>
      <p:grpSp>
        <p:nvGrpSpPr>
          <p:cNvPr id="4" name="object 9">
            <a:extLst>
              <a:ext uri="{FF2B5EF4-FFF2-40B4-BE49-F238E27FC236}">
                <a16:creationId xmlns:a16="http://schemas.microsoft.com/office/drawing/2014/main" id="{805A1717-47F7-050B-E17E-70944FA2346B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6" name="object 10">
              <a:extLst>
                <a:ext uri="{FF2B5EF4-FFF2-40B4-BE49-F238E27FC236}">
                  <a16:creationId xmlns:a16="http://schemas.microsoft.com/office/drawing/2014/main" id="{112DA18E-8723-8ED5-E28D-B498CBAB68EC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23111E87-A9AF-466B-B5D5-F8856BEBD65D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84B30B5F-E434-FE7D-B111-211714CD6680}"/>
              </a:ext>
            </a:extLst>
          </p:cNvPr>
          <p:cNvSpPr txBox="1"/>
          <p:nvPr/>
        </p:nvSpPr>
        <p:spPr>
          <a:xfrm>
            <a:off x="11671424" y="6480829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24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CD0DBB36-B449-31AD-653E-D360AE4A8931}"/>
              </a:ext>
            </a:extLst>
          </p:cNvPr>
          <p:cNvSpPr txBox="1"/>
          <p:nvPr/>
        </p:nvSpPr>
        <p:spPr>
          <a:xfrm>
            <a:off x="82177" y="6465351"/>
            <a:ext cx="52811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Segmentazione di Tumori Cerebrali in Immagini MRI</a:t>
            </a:r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885AC3B4-CF79-A7A1-9190-632B24F61C19}"/>
              </a:ext>
            </a:extLst>
          </p:cNvPr>
          <p:cNvSpPr txBox="1"/>
          <p:nvPr/>
        </p:nvSpPr>
        <p:spPr>
          <a:xfrm>
            <a:off x="639873" y="1127044"/>
            <a:ext cx="687535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it-IT" sz="2800" b="1" dirty="0">
                <a:latin typeface="Aptos" panose="020B0004020202020204" pitchFamily="34" charset="0"/>
              </a:rPr>
              <a:t>Casi Peggiori BRATS_140 e BRATS_380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EE4AD14C-F261-EDA1-9A01-C8BADE8E7F08}"/>
              </a:ext>
            </a:extLst>
          </p:cNvPr>
          <p:cNvSpPr txBox="1"/>
          <p:nvPr/>
        </p:nvSpPr>
        <p:spPr>
          <a:xfrm>
            <a:off x="263598" y="5690295"/>
            <a:ext cx="11751499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000" dirty="0">
                <a:latin typeface="Aptos" panose="020B0004020202020204" pitchFamily="34" charset="0"/>
              </a:rPr>
              <a:t>BRATS_140: </a:t>
            </a:r>
            <a:r>
              <a:rPr lang="it-IT" sz="2000" dirty="0"/>
              <a:t>Fusion2 fornisce un risultato discretamente utile, mentre Fusion3 fallisce</a:t>
            </a:r>
            <a:endParaRPr lang="it-IT" sz="2000" dirty="0">
              <a:latin typeface="Aptos" panose="020B0004020202020204" pitchFamily="34" charset="0"/>
            </a:endParaRP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000" dirty="0">
                <a:latin typeface="Aptos" panose="020B0004020202020204" pitchFamily="34" charset="0"/>
              </a:rPr>
              <a:t>BRATS_380: </a:t>
            </a:r>
            <a:r>
              <a:rPr lang="it-IT" sz="2000" dirty="0"/>
              <a:t>fallimento completo della pipeline in tutte le configurazioni</a:t>
            </a:r>
            <a:endParaRPr lang="it-IT" sz="2000" dirty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183627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0317CD18-628C-26ED-8BE4-B954D1A1C5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sellaDiTesto 4">
            <a:extLst>
              <a:ext uri="{FF2B5EF4-FFF2-40B4-BE49-F238E27FC236}">
                <a16:creationId xmlns:a16="http://schemas.microsoft.com/office/drawing/2014/main" id="{02698373-EC99-3EFA-15CA-9130EA138072}"/>
              </a:ext>
            </a:extLst>
          </p:cNvPr>
          <p:cNvSpPr txBox="1"/>
          <p:nvPr/>
        </p:nvSpPr>
        <p:spPr>
          <a:xfrm>
            <a:off x="609600" y="381000"/>
            <a:ext cx="4408579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6000" b="1" dirty="0">
                <a:latin typeface="Aptos" panose="020B0004020202020204" pitchFamily="34" charset="0"/>
              </a:rPr>
              <a:t>Conclusioni</a:t>
            </a:r>
          </a:p>
        </p:txBody>
      </p:sp>
      <p:grpSp>
        <p:nvGrpSpPr>
          <p:cNvPr id="4" name="object 9">
            <a:extLst>
              <a:ext uri="{FF2B5EF4-FFF2-40B4-BE49-F238E27FC236}">
                <a16:creationId xmlns:a16="http://schemas.microsoft.com/office/drawing/2014/main" id="{DBB74026-5829-4FEE-0A68-2BC1B0499304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6" name="object 10">
              <a:extLst>
                <a:ext uri="{FF2B5EF4-FFF2-40B4-BE49-F238E27FC236}">
                  <a16:creationId xmlns:a16="http://schemas.microsoft.com/office/drawing/2014/main" id="{A4BD403F-A04F-37D7-1005-8AF922EA758F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500CB054-1E4B-78D9-A7B3-C8719DEF4888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192016FD-9BD7-E286-8CC6-5D45EC575B04}"/>
              </a:ext>
            </a:extLst>
          </p:cNvPr>
          <p:cNvSpPr txBox="1"/>
          <p:nvPr/>
        </p:nvSpPr>
        <p:spPr>
          <a:xfrm>
            <a:off x="11671424" y="6480829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25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A92B2A07-88CB-EAC9-92B2-2156D11A7EC0}"/>
              </a:ext>
            </a:extLst>
          </p:cNvPr>
          <p:cNvSpPr txBox="1"/>
          <p:nvPr/>
        </p:nvSpPr>
        <p:spPr>
          <a:xfrm>
            <a:off x="82177" y="6465351"/>
            <a:ext cx="52811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Segmentazione di Tumori Cerebrali in Immagini MRI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C6217CB6-5094-5287-40C9-08BF17F5CB12}"/>
              </a:ext>
            </a:extLst>
          </p:cNvPr>
          <p:cNvSpPr txBox="1"/>
          <p:nvPr/>
        </p:nvSpPr>
        <p:spPr>
          <a:xfrm>
            <a:off x="590938" y="1533277"/>
            <a:ext cx="10913706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 algn="just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Sviluppata pipeline funzionante per segmentazione binaria del tumore cerebrale</a:t>
            </a:r>
          </a:p>
          <a:p>
            <a:pPr marL="514350" indent="-514350" algn="just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Fusion3 è la configurazione con le migliori prestazioni medie</a:t>
            </a:r>
          </a:p>
          <a:p>
            <a:pPr marL="514350" indent="-514350" algn="just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FLAIR risulta la sequenza singola più informativa</a:t>
            </a:r>
          </a:p>
          <a:p>
            <a:pPr marL="514350" indent="-514350" algn="just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La multimodalità migliora la segmentazione, ma non garantisce robustezza in tutti i casi</a:t>
            </a:r>
          </a:p>
          <a:p>
            <a:pPr marL="514350" indent="-514350" algn="just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Persistono casi critici che evidenziano i limiti dell’approccio 2D e delle tecniche tradizionali di Image Processing</a:t>
            </a:r>
          </a:p>
        </p:txBody>
      </p:sp>
    </p:spTree>
    <p:extLst>
      <p:ext uri="{BB962C8B-B14F-4D97-AF65-F5344CB8AC3E}">
        <p14:creationId xmlns:p14="http://schemas.microsoft.com/office/powerpoint/2010/main" val="265147007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768CB775-834E-60A7-C320-FF525B4107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sellaDiTesto 4">
            <a:extLst>
              <a:ext uri="{FF2B5EF4-FFF2-40B4-BE49-F238E27FC236}">
                <a16:creationId xmlns:a16="http://schemas.microsoft.com/office/drawing/2014/main" id="{F8EC67D6-EB8F-C03A-CFDF-FEC75D783CB9}"/>
              </a:ext>
            </a:extLst>
          </p:cNvPr>
          <p:cNvSpPr txBox="1"/>
          <p:nvPr/>
        </p:nvSpPr>
        <p:spPr>
          <a:xfrm>
            <a:off x="609600" y="381000"/>
            <a:ext cx="4408579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6000" b="1" dirty="0">
                <a:latin typeface="Aptos" panose="020B0004020202020204" pitchFamily="34" charset="0"/>
              </a:rPr>
              <a:t>Conclusioni</a:t>
            </a:r>
          </a:p>
        </p:txBody>
      </p:sp>
      <p:grpSp>
        <p:nvGrpSpPr>
          <p:cNvPr id="4" name="object 9">
            <a:extLst>
              <a:ext uri="{FF2B5EF4-FFF2-40B4-BE49-F238E27FC236}">
                <a16:creationId xmlns:a16="http://schemas.microsoft.com/office/drawing/2014/main" id="{02B97403-A6B1-3ED6-C111-AC72F36F73A2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6" name="object 10">
              <a:extLst>
                <a:ext uri="{FF2B5EF4-FFF2-40B4-BE49-F238E27FC236}">
                  <a16:creationId xmlns:a16="http://schemas.microsoft.com/office/drawing/2014/main" id="{FB71A86D-FCA4-3A19-F364-8E96BCA752CB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A5982600-7A61-6783-C74B-A8FC1CFB4E18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FA810969-27C2-6535-3260-9A55AF4B3B67}"/>
              </a:ext>
            </a:extLst>
          </p:cNvPr>
          <p:cNvSpPr txBox="1"/>
          <p:nvPr/>
        </p:nvSpPr>
        <p:spPr>
          <a:xfrm>
            <a:off x="11671424" y="6480829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26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345D0531-EB45-A81F-D00E-93E969CE74E7}"/>
              </a:ext>
            </a:extLst>
          </p:cNvPr>
          <p:cNvSpPr txBox="1"/>
          <p:nvPr/>
        </p:nvSpPr>
        <p:spPr>
          <a:xfrm>
            <a:off x="82177" y="6465351"/>
            <a:ext cx="52811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Segmentazione di Tumori Cerebrali in Immagini MRI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05B3D4CC-C410-6E15-E474-F32F10B7AFF1}"/>
              </a:ext>
            </a:extLst>
          </p:cNvPr>
          <p:cNvSpPr txBox="1"/>
          <p:nvPr/>
        </p:nvSpPr>
        <p:spPr>
          <a:xfrm>
            <a:off x="609600" y="1586450"/>
            <a:ext cx="10876384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it-IT" sz="2800" b="1" dirty="0">
                <a:latin typeface="Aptos" panose="020B0004020202020204" pitchFamily="34" charset="0"/>
              </a:rPr>
              <a:t>Sviluppi Futuri</a:t>
            </a:r>
            <a:endParaRPr lang="it-IT" sz="2800" dirty="0">
              <a:latin typeface="Aptos" panose="020B0004020202020204" pitchFamily="34" charset="0"/>
            </a:endParaRPr>
          </a:p>
          <a:p>
            <a:pPr marL="514350" indent="-514350" algn="just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Estensione della pipeline da 2D a 3D</a:t>
            </a:r>
          </a:p>
          <a:p>
            <a:pPr marL="514350" indent="-514350" algn="just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Strategie di fusione multimodale più avanzate</a:t>
            </a:r>
          </a:p>
          <a:p>
            <a:pPr marL="514350" indent="-514350" algn="just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Confronto con altri approcci classici, ad esempio K-Means e metodi Edge-</a:t>
            </a:r>
            <a:r>
              <a:rPr lang="it-IT" sz="2800" dirty="0" err="1">
                <a:latin typeface="Aptos" panose="020B0004020202020204" pitchFamily="34" charset="0"/>
              </a:rPr>
              <a:t>Based</a:t>
            </a:r>
            <a:endParaRPr lang="it-IT" sz="2800" dirty="0">
              <a:latin typeface="Aptos" panose="020B0004020202020204" pitchFamily="34" charset="0"/>
            </a:endParaRPr>
          </a:p>
          <a:p>
            <a:pPr marL="514350" indent="-514350" algn="just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Integrazione e confronto con tecniche di Machine Learning/Deep Learning</a:t>
            </a:r>
          </a:p>
        </p:txBody>
      </p:sp>
    </p:spTree>
    <p:extLst>
      <p:ext uri="{BB962C8B-B14F-4D97-AF65-F5344CB8AC3E}">
        <p14:creationId xmlns:p14="http://schemas.microsoft.com/office/powerpoint/2010/main" val="34599713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AF7311FD-176A-901D-861C-EC4DC40D75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magine 3">
            <a:extLst>
              <a:ext uri="{FF2B5EF4-FFF2-40B4-BE49-F238E27FC236}">
                <a16:creationId xmlns:a16="http://schemas.microsoft.com/office/drawing/2014/main" id="{30F8B961-C8D8-E606-8AA3-29F063CC304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727" b="21155"/>
          <a:stretch>
            <a:fillRect/>
          </a:stretch>
        </p:blipFill>
        <p:spPr>
          <a:xfrm>
            <a:off x="457200" y="376926"/>
            <a:ext cx="6535282" cy="1107996"/>
          </a:xfrm>
          <a:prstGeom prst="rect">
            <a:avLst/>
          </a:prstGeom>
        </p:spPr>
      </p:pic>
      <p:sp>
        <p:nvSpPr>
          <p:cNvPr id="2" name="CasellaDiTesto 1">
            <a:extLst>
              <a:ext uri="{FF2B5EF4-FFF2-40B4-BE49-F238E27FC236}">
                <a16:creationId xmlns:a16="http://schemas.microsoft.com/office/drawing/2014/main" id="{173C139E-A6CB-B15A-5287-7279220B73A3}"/>
              </a:ext>
            </a:extLst>
          </p:cNvPr>
          <p:cNvSpPr txBox="1"/>
          <p:nvPr/>
        </p:nvSpPr>
        <p:spPr>
          <a:xfrm>
            <a:off x="1932847" y="2921168"/>
            <a:ext cx="832631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6000" b="1" dirty="0">
                <a:latin typeface="Aptos" panose="020B0004020202020204" pitchFamily="34" charset="0"/>
              </a:rPr>
              <a:t>Grazie per </a:t>
            </a:r>
            <a:r>
              <a:rPr lang="en-US" sz="6000" b="1" dirty="0" err="1">
                <a:latin typeface="Aptos" panose="020B0004020202020204" pitchFamily="34" charset="0"/>
              </a:rPr>
              <a:t>l’attenzione</a:t>
            </a:r>
            <a:endParaRPr lang="it-IT" sz="6000" b="1" dirty="0">
              <a:latin typeface="Aptos" panose="020B0004020202020204" pitchFamily="34" charset="0"/>
            </a:endParaRPr>
          </a:p>
        </p:txBody>
      </p:sp>
      <p:grpSp>
        <p:nvGrpSpPr>
          <p:cNvPr id="9" name="object 9">
            <a:extLst>
              <a:ext uri="{FF2B5EF4-FFF2-40B4-BE49-F238E27FC236}">
                <a16:creationId xmlns:a16="http://schemas.microsoft.com/office/drawing/2014/main" id="{F3E93331-21CA-ED97-54E2-CF7DC551C843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10" name="object 10">
              <a:extLst>
                <a:ext uri="{FF2B5EF4-FFF2-40B4-BE49-F238E27FC236}">
                  <a16:creationId xmlns:a16="http://schemas.microsoft.com/office/drawing/2014/main" id="{057F53A2-C3F6-9230-A130-9FABE4AABB22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657A6F2C-3CD5-EFE7-DBC2-461ACAD3297B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861F47A1-B298-647D-D4E2-0A57CBC3A14B}"/>
              </a:ext>
            </a:extLst>
          </p:cNvPr>
          <p:cNvSpPr txBox="1"/>
          <p:nvPr/>
        </p:nvSpPr>
        <p:spPr>
          <a:xfrm>
            <a:off x="10394926" y="6480829"/>
            <a:ext cx="16898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A.A. 2025/2026</a:t>
            </a:r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2BD3CCFD-59A5-77A9-0B2E-E61FDF5C2448}"/>
              </a:ext>
            </a:extLst>
          </p:cNvPr>
          <p:cNvSpPr txBox="1"/>
          <p:nvPr/>
        </p:nvSpPr>
        <p:spPr>
          <a:xfrm>
            <a:off x="84328" y="6465351"/>
            <a:ext cx="9296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Image Processing</a:t>
            </a:r>
            <a:endParaRPr lang="en-US" dirty="0">
              <a:solidFill>
                <a:schemeClr val="bg1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8493625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467885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525</TotalTime>
  <Words>1337</Words>
  <Application>Microsoft Office PowerPoint</Application>
  <PresentationFormat>Widescreen</PresentationFormat>
  <Paragraphs>321</Paragraphs>
  <Slides>28</Slides>
  <Notes>27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4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28</vt:i4>
      </vt:variant>
    </vt:vector>
  </HeadingPairs>
  <TitlesOfParts>
    <vt:vector size="33" baseType="lpstr">
      <vt:lpstr>Aptos</vt:lpstr>
      <vt:lpstr>Arial</vt:lpstr>
      <vt:lpstr>Cambria Math</vt:lpstr>
      <vt:lpstr>Trebuchet MS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Giovanni Mignogna</dc:creator>
  <cp:lastModifiedBy>CARRIERO ROBERTO</cp:lastModifiedBy>
  <cp:revision>31</cp:revision>
  <dcterms:created xsi:type="dcterms:W3CDTF">2025-10-25T17:39:58Z</dcterms:created>
  <dcterms:modified xsi:type="dcterms:W3CDTF">2026-04-08T13:47:30Z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2025-10-06T00:00:00Z</vt:filetime>
  </property>
  <property fmtid="{D5CDD505-2E9C-101B-9397-08002B2CF9AE}" pid="3" name="Creator">
    <vt:lpwstr>Microsoft® PowerPoint® per Microsoft 365</vt:lpwstr>
  </property>
  <property fmtid="{D5CDD505-2E9C-101B-9397-08002B2CF9AE}" pid="4" name="LastSaved">
    <vt:filetime>2025-10-25T00:00:00Z</vt:filetime>
  </property>
  <property fmtid="{D5CDD505-2E9C-101B-9397-08002B2CF9AE}" pid="5" name="Producer">
    <vt:lpwstr>Microsoft® PowerPoint® per Microsoft 365</vt:lpwstr>
  </property>
</Properties>
</file>